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is yours — the slide says the title. One sentence on what the project is and move.
TIMING: 20 minutes. Protect the results, slides 20 to 25, above everything else. If you are past 5 minutes when you leave the pipeline overview, speed up — the node slides are built to run at about 30 seconds each and they are deliberately uniform so the audience learns the layout once.
The three chips on the slide are there so the scale lands before you say anything: 280 runs, 215 injected faults, 4 sweeps.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worth saying: Verilog does not execute line by line like a normal programme. Everything happens at once, because it describes physical hardware. That is the single biggest source of confusion for a software audience.
DUT is the jargon they will hear for the rest of the talk — say it once here so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 the 60%: Foster 2022, the Wilson Research industry survey.
PAUSE after the box. That one sentence is the reason the whole project exists, and the rest of the talk only makes sense if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Plant them, do not answer them — the answers get their own slide at the end, and the payoff depends on them not being spoiled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build on AutoBench: it is the closest prior work on this exact task and it uses the standard benchmark, so our numbers sit on the same ground as theirs.
NOT ON SLIDE: they ran 156 circuits with GPT-4-turbo. We run a 20-circuit subset of the same benchmark, chosen as the hardest fifth, plus 12 of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boxes out. Point at the four blue ones and move. Leave by 5:00.
NOT ON SLIDE — mention it, it shows you read the paper properly: they have one thing we do not. They check that every scenario they planned actually made it into the generated testbench, retrying up to three times. We have no equivalent, and it is in our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Cheap model — a yes/no question from a paragraph does not need the expensive one.
NOT ON SLIDE: AutoBench does this differently — they have the AI write a sample of the circuit, then text-search it for a clock. We just ask the model.
IF ASKED how often it is wrong: we never traced a failure back to a wrong answer here. It is the easy part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it is not on the slide: for most of the pipeline we work with the AI's own version of the circuit, and only swap in the real one at marking. Two versions in play. We measured how far apart they get.
IF PUSHED: the 273/280 is the pin interface only — no equivalence check was run, so it bounds the structural side and says nothing about behaviour. The seven exceptions are all Prob150, under both models and all five settings, so it is that problem's description and not sampling noise. All seven fail Eval1 anyway.
IF ASKED why AutoBench does not do this: they argue mixing the two makes it impossible to tell a bad test from a bad design. Fair — our answer is the golden circuit at 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out of AutoBench — their Stage 1. Nothing interesting happened here, and saying that plainly is better than padding it.
Thirty seconds. Move.
IF ASKED why not just re-read the description each time: the AI answers slightly differently each time it reads prose. Pinning it down once means every later step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eight is our own instruction, not a model limit. The prompt says “generate between 5 and 10 scenarios” and the distribution peaks at 8 and 9.
IF ASKED whether eight is enough: on a circuit with ten input bits there are 1,024 input combinations, so eight is under one percent of them. That is the honest reason our broken-copy detection falls from 95% on our small circuits to about half on the big benchmark ones — the bug lives in a case the eight never visit. Raising the count is in the report as future work.
IF ASKED about AutoBench: they check that every scenario they planned actually made it into the testbench, with up to three retries. We have no equivalent. Also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model — writing correct hardware code is genuinely hard.
NOT ON SLIDE: 92.5% compile but only 31% pass. That gap is where this project lives.
IF ASKED what the failures look like: almost all are wrong expected values rather than broken structure. 87%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Nothing here produced a finding.
NOT ON SLIDE — how this differs from AutoBench, worth one sentence: theirs is a bigger split. Their Verilog only drives the circuit and dumps what it sees to a text file, and Python does the judging. Ours is self-checking — the Verilog prints PASS or FAIL itself.
Ours is simpler and closer to what engineers actually write. Theirs separates the stimulus from the checking, which in principle allows more thorough checking. We did not test which is better and I would not guess.
IF ASKED why the two run in parallel: both read the same inputs and neither needs the other's output. Nothing is executing at this point — both steps are writing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It is on its own slide for completeness, not because it is interesting.
IF ASKED why it exists at all: the two previous steps run in parallel to save wall-clock time, and something has to wait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and it is only half on the slide: AutoBench has the same idea and for them it was the single biggest improvement in the paper — sequential compile rate 55% to 97%. Forty-two points. Ours fired six times in 188 runs.
That is not because ours is worse. The mistake it fixes has stopped happening. I show the number that proves it in the results.
IF ASKED for the proof now: the 182 runs where our script never fired still compile at 90.7%, against AutoBench's 55.5% without theirs.
IF ASKED why Python rather than a model: one correct answer, so a script is faster, free, and does the same thing every time. It also marks its own work so a second pass cannot double-insert.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give the performance number here — the results slide has it. Set it up and move.
IF ASKED about coverage: the parser could only read 262 of 434 files. The rest use newer SystemVerilog syntax it does not support and fall back to a second parser that only checks validity. Real limitation, in the report. Worse, those unreadable files are not a random sample — they fail Eval1 far more often, so our result is measured on the healthier half.
IF ASKED whether we tuned the checks to flatter ourselves: we built seven and deleted one. It caught none of the five faults it was built for and raised the only false alarm on a correct testbench, so we removed it rather than patch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 ON SLIDE: because our reports were almost always clean, skipping the call made the static-only setting cheaper to run than doing nothing at all — 2% fewer tokens than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two safeguards. If the same error comes back twice we stop, because a fourth identical attempt will not work. And we keep the best version rather than the last, because repair rewrites the whole file and attempt three can be worse than attempt one. Without that a setting that repairs more could score worse, which an experiment cannot allow.
IF ASKED why three quarters fail: two patterns. Some regenerate a testbench failing the exact same scenarios — the diagnosis was not acted on. Others produce a different error every iteration until the budget runs out. Across fourteen multi-attempt runs, no error signature ever repeated. Prior work does not report this.
IF ASKED about the example: the repair worked at attempt 2 and the loop then undid it. Cause is on the gen_dut slide — our checker reads the generated circuit, marking uses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POINT. Spend your time here, not on the mechanics.
NOT ON SLIDE: AutoBench has no arm like this, so their reported gains cannot separate “the feedback worked” from “the model got another go”.
IF ASKED whose idea it was: ours, and it came from catching our own mistake. We re-audited the earlier results before building on them and found an apparent win was fake — all five of its static-triggered repairs traced to a single false positive. So that setting was really just one extra attempt, and nothing could tell the two apart. The control was built to expose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Eval2's 95% on our own circuits is a ceiling, not a result, and I would say so before being asked. Our circuits are too small for a bug to hide in. We tested that rather than assuming — regenerating the broken copies with a better model moved the score one point; swapping in bigger circuits moved it forty-four.
IF ASKED how 31% compares: AutoBench report 37% on clocked circuits, and ours are mostly clocked and the hardest fifth of their benchmark. Same range.
IF ASKED whether our 95 beats their 44.8: it does not — they measure agreement with a reference testbench at an 80% threshold. Under their rule we get 20% against their 26%. Next section has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215 faults, eight kinds, injected into testbenches that already passed. The checker localises to the right signal as well as the right class, not just “something is wrong”.
IF ASKED how we know the injected faults were legal Verilog: an injector that produced a syntax error would score as the compiler catching a fault the injector itself created. Mutations must produce legal code, and injectors that cannot mutate cleanly decline — those cases are excluded from the denominator.
This is the strongest slide in the talk. Take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pilot behind the Eval2 claim was pre-registered: we wrote down the criteria before generating anything. Better broken copies moved the score one point; different circuits moved it forty-four.
IF ASKED about sample size: 20 circuits, so the interval on that 20% runs roughly 8 to 42 percent. Their 26 sits inside it. No ranking is established in either direction, and I would not claim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44 is 12 of our circuits on the strong model, the same 12 on the weak one, and 20 benchmark circuits — so 44 runs per setting, 220 in these three sweeps.
The statistics: ours versus the control is McNemar p = 0.372. The control versus plain is p = 1.000, which is the useful one — a blind extra attempt is worth nothing, so any real gain has to sit on the diagnosis.
IF ASKED about the noise floor: those two settings ran identical logic because our checker never fired, and still landed three circuits apart. That is the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DISCLOSE THIS BEFORE THEY FIND IT: our full version is also the only setting that can act on simulation feedback, which drove 79 of the 90 informed repairs. So its lead cannot be credited to our checker, and there is no simulation-only arm to separate them. That is a gap in our design and it is in the report. Volunteering it reads as confidence; being caught on it does not.
NOT ON SLIDE: 102 runs attempted a repair and 26 succeeded, about one in four.
Do not apologise here. It is a discovery,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THE BOUNDARY: the measurements are solid — 87% of failures are semantic, the checker fired once. The explanation on the left and right is a reasonable reading of that, not something we ran an experiment on. Say so if pushed; it costs nothing and being caught overclaiming costs a lot.
IF ASKED what would bring structural faults back: larger designs, or smaller and older models. Both are untested and both are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per run at the strong tier it is about 7 cents for plain, 10 for ours, 11 for the control.
THE NUANCE WORTH SAYING: our layer is nearly free and nearly useless against current models. Those are not in tension — free means there is little reason to remove it, in case a weaker or older model is the one generating.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 they have seen all four answers already. The line that matters is the last one: a negative answer with a validated instrument behind it is worth more than a positive one without.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project succeeded, the precise answer: we set out to find whether you can localise testbench errors before simulation. You can — completely, for the faults it targets, including ones nothing else sees. But against current models there is little left to find. We can say that with confidence rather than as a guess, because we validated the tool separately and ran a control group.
IF ASKED what you would do differently: run a simulation-only arm to separate the two feedback sources, and use bigger circuits so the broken-copy score discriminates.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published results page — point at it if someone asks whether the numbers are reproducible.
QUESTIONS YOU ARE LIKELY TO GET, and where the answer lives:
· “Did you beat AutoBench?” — no, and we do not claim to. Different model, different sample, and their Eval2 measures something else. See the evaluate slide.
· “Is static analysis useless then?” — not in general. It costs almost nothing, both findings we did get were real, and smaller or older models are untested. What we rule out is treating it as the primary defence against current frontier models.
· “Why is your sample so small?” — budget. 280 runs at about sixteen dollars. We chose the hardest fifth of the benchmark deliberately so the checks could fire.
· “What would you do next?” — three things: enforce that every planned scenario reaches the testbench, which AutoBench does and we do not; bigger circuits so the mutant score discriminates; and a fuller Verilog parser so the checker can read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057400"/>
            <a:ext cx="10908792"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LLM-Driven Verilog Testbench Generation</a:t>
            </a:r>
            <a:endParaRPr lang="en-US" sz="4000" dirty="0"/>
          </a:p>
        </p:txBody>
      </p:sp>
      <p:sp>
        <p:nvSpPr>
          <p:cNvPr id="3" name="Text 1"/>
          <p:cNvSpPr txBox="1"/>
          <p:nvPr/>
        </p:nvSpPr>
        <p:spPr>
          <a:xfrm>
            <a:off x="640080" y="2788920"/>
            <a:ext cx="10908792" cy="548640"/>
          </a:xfrm>
          <a:prstGeom prst="rect">
            <a:avLst/>
          </a:prstGeom>
          <a:noFill/>
          <a:ln/>
        </p:spPr>
        <p:txBody>
          <a:bodyPr wrap="square" lIns="0" tIns="0" rIns="0" bIns="0" rtlCol="0" anchor="ctr"/>
          <a:lstStyle/>
          <a:p>
            <a:pPr indent="0" marL="0">
              <a:buNone/>
            </a:pPr>
            <a:r>
              <a:rPr lang="en-US" sz="2700" dirty="0">
                <a:solidFill>
                  <a:srgbClr val="8FB4E8"/>
                </a:solidFill>
                <a:latin typeface="Cambria" pitchFamily="34" charset="0"/>
                <a:ea typeface="Cambria" pitchFamily="34" charset="-122"/>
                <a:cs typeface="Cambria" pitchFamily="34" charset="-120"/>
              </a:rPr>
              <a:t>with Pyverilog-Based Early Error Localization</a:t>
            </a:r>
            <a:endParaRPr lang="en-US" sz="2700" dirty="0"/>
          </a:p>
        </p:txBody>
      </p:sp>
      <p:sp>
        <p:nvSpPr>
          <p:cNvPr id="4" name="Text 2"/>
          <p:cNvSpPr txBox="1"/>
          <p:nvPr/>
        </p:nvSpPr>
        <p:spPr>
          <a:xfrm>
            <a:off x="640080" y="4114800"/>
            <a:ext cx="640080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Muhammad Sawaiz Naveed</a:t>
            </a:r>
            <a:endParaRPr lang="en-US" sz="1700" dirty="0"/>
          </a:p>
        </p:txBody>
      </p:sp>
      <p:sp>
        <p:nvSpPr>
          <p:cNvPr id="5" name="Text 3"/>
          <p:cNvSpPr txBox="1"/>
          <p:nvPr/>
        </p:nvSpPr>
        <p:spPr>
          <a:xfrm>
            <a:off x="640080" y="4443984"/>
            <a:ext cx="7315200" cy="310896"/>
          </a:xfrm>
          <a:prstGeom prst="rect">
            <a:avLst/>
          </a:prstGeom>
          <a:noFill/>
          <a:ln/>
        </p:spPr>
        <p:txBody>
          <a:bodyPr wrap="square" lIns="0" tIns="0" rIns="0" bIns="0" rtlCol="0" anchor="ctr"/>
          <a:lstStyle/>
          <a:p>
            <a:pPr indent="0" marL="0">
              <a:buNone/>
            </a:pPr>
            <a:r>
              <a:rPr lang="en-US" sz="1400" dirty="0">
                <a:solidFill>
                  <a:srgbClr val="A8B6CE"/>
                </a:solidFill>
                <a:latin typeface="Calibri" pitchFamily="34" charset="0"/>
                <a:ea typeface="Calibri" pitchFamily="34" charset="-122"/>
                <a:cs typeface="Calibri" pitchFamily="34" charset="-120"/>
              </a:rPr>
              <a:t>Supervisor: Bing Wen  ·  TU Ilmenau  ·  Research Project S6.ReKI.1</a:t>
            </a:r>
            <a:endParaRPr lang="en-US" sz="1400" dirty="0"/>
          </a:p>
        </p:txBody>
      </p:sp>
      <p:sp>
        <p:nvSpPr>
          <p:cNvPr id="6" name="Shape 4"/>
          <p:cNvSpPr/>
          <p:nvPr/>
        </p:nvSpPr>
        <p:spPr>
          <a:xfrm>
            <a:off x="7863840" y="4133088"/>
            <a:ext cx="1371600" cy="457200"/>
          </a:xfrm>
          <a:prstGeom prst="roundRect">
            <a:avLst>
              <a:gd name="adj" fmla="val 12000"/>
            </a:avLst>
          </a:prstGeom>
          <a:solidFill>
            <a:srgbClr val="1D3055"/>
          </a:solidFill>
          <a:ln w="12700">
            <a:solidFill>
              <a:srgbClr val="2B4470"/>
            </a:solidFill>
            <a:prstDash val="solid"/>
          </a:ln>
        </p:spPr>
      </p:sp>
      <p:sp>
        <p:nvSpPr>
          <p:cNvPr id="7" name="Text 5"/>
          <p:cNvSpPr txBox="1"/>
          <p:nvPr/>
        </p:nvSpPr>
        <p:spPr>
          <a:xfrm>
            <a:off x="786384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280 runs</a:t>
            </a:r>
            <a:endParaRPr lang="en-US" sz="1200" dirty="0"/>
          </a:p>
        </p:txBody>
      </p:sp>
      <p:sp>
        <p:nvSpPr>
          <p:cNvPr id="8" name="Shape 6"/>
          <p:cNvSpPr/>
          <p:nvPr/>
        </p:nvSpPr>
        <p:spPr>
          <a:xfrm>
            <a:off x="9326880" y="4133088"/>
            <a:ext cx="1371600" cy="457200"/>
          </a:xfrm>
          <a:prstGeom prst="roundRect">
            <a:avLst>
              <a:gd name="adj" fmla="val 12000"/>
            </a:avLst>
          </a:prstGeom>
          <a:solidFill>
            <a:srgbClr val="1D3055"/>
          </a:solidFill>
          <a:ln w="12700">
            <a:solidFill>
              <a:srgbClr val="2B4470"/>
            </a:solidFill>
            <a:prstDash val="solid"/>
          </a:ln>
        </p:spPr>
      </p:sp>
      <p:sp>
        <p:nvSpPr>
          <p:cNvPr id="9" name="Text 7"/>
          <p:cNvSpPr txBox="1"/>
          <p:nvPr/>
        </p:nvSpPr>
        <p:spPr>
          <a:xfrm>
            <a:off x="932688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215 injected faults</a:t>
            </a:r>
            <a:endParaRPr lang="en-US" sz="1200" dirty="0"/>
          </a:p>
        </p:txBody>
      </p:sp>
      <p:sp>
        <p:nvSpPr>
          <p:cNvPr id="10" name="Shape 8"/>
          <p:cNvSpPr/>
          <p:nvPr/>
        </p:nvSpPr>
        <p:spPr>
          <a:xfrm>
            <a:off x="10789920" y="4133088"/>
            <a:ext cx="1371600" cy="457200"/>
          </a:xfrm>
          <a:prstGeom prst="roundRect">
            <a:avLst>
              <a:gd name="adj" fmla="val 12000"/>
            </a:avLst>
          </a:prstGeom>
          <a:solidFill>
            <a:srgbClr val="1D3055"/>
          </a:solidFill>
          <a:ln w="12700">
            <a:solidFill>
              <a:srgbClr val="2B4470"/>
            </a:solidFill>
            <a:prstDash val="solid"/>
          </a:ln>
        </p:spPr>
      </p:sp>
      <p:sp>
        <p:nvSpPr>
          <p:cNvPr id="11" name="Text 9"/>
          <p:cNvSpPr txBox="1"/>
          <p:nvPr/>
        </p:nvSpPr>
        <p:spPr>
          <a:xfrm>
            <a:off x="1078992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4 sweeps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BACKGROUND</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is a testbench?</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The thing this project gets an AI to write</a:t>
            </a:r>
            <a:endParaRPr lang="en-US" sz="1500" dirty="0"/>
          </a:p>
        </p:txBody>
      </p:sp>
      <p:sp>
        <p:nvSpPr>
          <p:cNvPr id="5" name="Shape 3"/>
          <p:cNvSpPr/>
          <p:nvPr/>
        </p:nvSpPr>
        <p:spPr>
          <a:xfrm>
            <a:off x="640080"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29184"/>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The circuit  —  the DUT</a:t>
            </a:r>
            <a:endParaRPr lang="en-US" sz="1900" dirty="0"/>
          </a:p>
        </p:txBody>
      </p:sp>
      <p:sp>
        <p:nvSpPr>
          <p:cNvPr id="7" name="Text 5"/>
          <p:cNvSpPr txBox="1"/>
          <p:nvPr/>
        </p:nvSpPr>
        <p:spPr>
          <a:xfrm>
            <a:off x="877824"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design written in Verilog, a hardware description language. Not a programme that runs line by line: a description of wires and gates that all operate at once, and eventually becomes silicon.</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Engineers call it the DUT — the device under test.</a:t>
            </a:r>
            <a:endParaRPr lang="en-US" sz="1500" dirty="0"/>
          </a:p>
        </p:txBody>
      </p:sp>
      <p:sp>
        <p:nvSpPr>
          <p:cNvPr id="8" name="Shape 6"/>
          <p:cNvSpPr/>
          <p:nvPr/>
        </p:nvSpPr>
        <p:spPr>
          <a:xfrm>
            <a:off x="6323076"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29184"/>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The testbench</a:t>
            </a:r>
            <a:endParaRPr lang="en-US" sz="1900" dirty="0"/>
          </a:p>
        </p:txBody>
      </p:sp>
      <p:sp>
        <p:nvSpPr>
          <p:cNvPr id="10" name="Text 8"/>
          <p:cNvSpPr txBox="1"/>
          <p:nvPr/>
        </p:nvSpPr>
        <p:spPr>
          <a:xfrm>
            <a:off x="6560820"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second piece of Verilog whose only job is to test the first. It feeds inputs in, watches what comes out, compares that against what should have come out, and prints PASS or FAIL.</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Writing these by hand is most of the work in verification — which is why people want an AI to do it.</a:t>
            </a:r>
            <a:endParaRPr lang="en-US" sz="1500" dirty="0"/>
          </a:p>
        </p:txBody>
      </p:sp>
      <p:sp>
        <p:nvSpPr>
          <p:cNvPr id="11" name="Shape 9"/>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2" name="Text 10"/>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A testbench is itself a test — and a test can be written badly. It can run, report success, and have checked almost nothing.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Most of the effort is testing — and the loop is slow</a:t>
            </a:r>
            <a:endParaRPr lang="en-US" sz="3000" dirty="0"/>
          </a:p>
        </p:txBody>
      </p:sp>
      <p:sp>
        <p:nvSpPr>
          <p:cNvPr id="4" name="Shape 2"/>
          <p:cNvSpPr/>
          <p:nvPr/>
        </p:nvSpPr>
        <p:spPr>
          <a:xfrm>
            <a:off x="640080"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59536" y="1417320"/>
            <a:ext cx="3014472" cy="585216"/>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~60%</a:t>
            </a:r>
            <a:endParaRPr lang="en-US" sz="3400" dirty="0"/>
          </a:p>
        </p:txBody>
      </p:sp>
      <p:sp>
        <p:nvSpPr>
          <p:cNvPr id="6" name="Text 4"/>
          <p:cNvSpPr txBox="1"/>
          <p:nvPr/>
        </p:nvSpPr>
        <p:spPr>
          <a:xfrm>
            <a:off x="859536"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of chip design effort goes into verification, not design</a:t>
            </a:r>
            <a:endParaRPr lang="en-US" sz="1500" dirty="0"/>
          </a:p>
        </p:txBody>
      </p:sp>
      <p:sp>
        <p:nvSpPr>
          <p:cNvPr id="7" name="Text 5"/>
          <p:cNvSpPr txBox="1"/>
          <p:nvPr/>
        </p:nvSpPr>
        <p:spPr>
          <a:xfrm>
            <a:off x="859536"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Foster 2022, industry survey</a:t>
            </a:r>
            <a:endParaRPr lang="en-US" sz="1100" dirty="0"/>
          </a:p>
        </p:txBody>
      </p:sp>
      <p:sp>
        <p:nvSpPr>
          <p:cNvPr id="8" name="Shape 6"/>
          <p:cNvSpPr/>
          <p:nvPr/>
        </p:nvSpPr>
        <p:spPr>
          <a:xfrm>
            <a:off x="4367784"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4587240"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valid</a:t>
            </a:r>
            <a:endParaRPr lang="en-US" sz="3400" dirty="0"/>
          </a:p>
        </p:txBody>
      </p:sp>
      <p:sp>
        <p:nvSpPr>
          <p:cNvPr id="10" name="Text 8"/>
          <p:cNvSpPr txBox="1"/>
          <p:nvPr/>
        </p:nvSpPr>
        <p:spPr>
          <a:xfrm>
            <a:off x="4587240"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AI testbenches compile cleanly and still test the wrong thing</a:t>
            </a:r>
            <a:endParaRPr lang="en-US" sz="1500" dirty="0"/>
          </a:p>
        </p:txBody>
      </p:sp>
      <p:sp>
        <p:nvSpPr>
          <p:cNvPr id="11" name="Text 9"/>
          <p:cNvSpPr txBox="1"/>
          <p:nvPr/>
        </p:nvSpPr>
        <p:spPr>
          <a:xfrm>
            <a:off x="4587240"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syntactically right, functionally wrong</a:t>
            </a:r>
            <a:endParaRPr lang="en-US" sz="1100" dirty="0"/>
          </a:p>
        </p:txBody>
      </p:sp>
      <p:sp>
        <p:nvSpPr>
          <p:cNvPr id="12" name="Shape 10"/>
          <p:cNvSpPr/>
          <p:nvPr/>
        </p:nvSpPr>
        <p:spPr>
          <a:xfrm>
            <a:off x="8095488"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314944"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slow</a:t>
            </a:r>
            <a:endParaRPr lang="en-US" sz="3400" dirty="0"/>
          </a:p>
        </p:txBody>
      </p:sp>
      <p:sp>
        <p:nvSpPr>
          <p:cNvPr id="14" name="Text 12"/>
          <p:cNvSpPr txBox="1"/>
          <p:nvPr/>
        </p:nvSpPr>
        <p:spPr>
          <a:xfrm>
            <a:off x="8314944"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only way to find out is to run a full simulation</a:t>
            </a:r>
            <a:endParaRPr lang="en-US" sz="1500" dirty="0"/>
          </a:p>
        </p:txBody>
      </p:sp>
      <p:sp>
        <p:nvSpPr>
          <p:cNvPr id="15" name="Text 13"/>
          <p:cNvSpPr txBox="1"/>
          <p:nvPr/>
        </p:nvSpPr>
        <p:spPr>
          <a:xfrm>
            <a:off x="8314944"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minutes per attempt, every attempt</a:t>
            </a:r>
            <a:endParaRPr lang="en-US" sz="1100" dirty="0"/>
          </a:p>
        </p:txBody>
      </p:sp>
      <p:sp>
        <p:nvSpPr>
          <p:cNvPr id="16" name="Shape 1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7" name="Text 1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testbench that stops checking an output PASSES — because it is no longer looking. Running it can never find that.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WHAT WE SET OUT TO ANSWER</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Four questions</a:t>
            </a:r>
            <a:endParaRPr lang="en-US" sz="3000" dirty="0"/>
          </a:p>
        </p:txBody>
      </p:sp>
      <p:sp>
        <p:nvSpPr>
          <p:cNvPr id="4" name="Shape 2"/>
          <p:cNvSpPr/>
          <p:nvPr/>
        </p:nvSpPr>
        <p:spPr>
          <a:xfrm>
            <a:off x="640080" y="1234440"/>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914400" y="1508760"/>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RQ1</a:t>
            </a:r>
            <a:endParaRPr lang="en-US" sz="2400" dirty="0"/>
          </a:p>
        </p:txBody>
      </p:sp>
      <p:sp>
        <p:nvSpPr>
          <p:cNvPr id="6" name="Text 4"/>
          <p:cNvSpPr txBox="1"/>
          <p:nvPr/>
        </p:nvSpPr>
        <p:spPr>
          <a:xfrm>
            <a:off x="1874520" y="1399032"/>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kinds of mistake does an AI actually make when it writes a testbench — and which of them can be found without running anything?</a:t>
            </a:r>
            <a:endParaRPr lang="en-US" sz="1600" dirty="0"/>
          </a:p>
        </p:txBody>
      </p:sp>
      <p:sp>
        <p:nvSpPr>
          <p:cNvPr id="7" name="Shape 5"/>
          <p:cNvSpPr/>
          <p:nvPr/>
        </p:nvSpPr>
        <p:spPr>
          <a:xfrm>
            <a:off x="640080" y="2404872"/>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914400" y="2679192"/>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RQ2</a:t>
            </a:r>
            <a:endParaRPr lang="en-US" sz="2400" dirty="0"/>
          </a:p>
        </p:txBody>
      </p:sp>
      <p:sp>
        <p:nvSpPr>
          <p:cNvPr id="9" name="Text 7"/>
          <p:cNvSpPr txBox="1"/>
          <p:nvPr/>
        </p:nvSpPr>
        <p:spPr>
          <a:xfrm>
            <a:off x="1874520" y="2569464"/>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How much can reading the code, rather than running it, narrow those mistakes down?</a:t>
            </a:r>
            <a:endParaRPr lang="en-US" sz="1600" dirty="0"/>
          </a:p>
        </p:txBody>
      </p:sp>
      <p:sp>
        <p:nvSpPr>
          <p:cNvPr id="10" name="Shape 8"/>
          <p:cNvSpPr/>
          <p:nvPr/>
        </p:nvSpPr>
        <p:spPr>
          <a:xfrm>
            <a:off x="640080" y="3575304"/>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1" name="Text 9"/>
          <p:cNvSpPr txBox="1"/>
          <p:nvPr/>
        </p:nvSpPr>
        <p:spPr>
          <a:xfrm>
            <a:off x="914400" y="3849624"/>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RQ3</a:t>
            </a:r>
            <a:endParaRPr lang="en-US" sz="2400" dirty="0"/>
          </a:p>
        </p:txBody>
      </p:sp>
      <p:sp>
        <p:nvSpPr>
          <p:cNvPr id="12" name="Text 10"/>
          <p:cNvSpPr txBox="1"/>
          <p:nvPr/>
        </p:nvSpPr>
        <p:spPr>
          <a:xfrm>
            <a:off x="1874520" y="3739896"/>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Can the AI use that diagnosis to fix its own testbench — and is that better than just letting the compiler tell it?</a:t>
            </a:r>
            <a:endParaRPr lang="en-US" sz="1600" dirty="0"/>
          </a:p>
        </p:txBody>
      </p:sp>
      <p:sp>
        <p:nvSpPr>
          <p:cNvPr id="13" name="Shape 11"/>
          <p:cNvSpPr/>
          <p:nvPr/>
        </p:nvSpPr>
        <p:spPr>
          <a:xfrm>
            <a:off x="640080" y="4745736"/>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4" name="Text 12"/>
          <p:cNvSpPr txBox="1"/>
          <p:nvPr/>
        </p:nvSpPr>
        <p:spPr>
          <a:xfrm>
            <a:off x="914400" y="5020056"/>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RQ4</a:t>
            </a:r>
            <a:endParaRPr lang="en-US" sz="2400" dirty="0"/>
          </a:p>
        </p:txBody>
      </p:sp>
      <p:sp>
        <p:nvSpPr>
          <p:cNvPr id="15" name="Text 13"/>
          <p:cNvSpPr txBox="1"/>
          <p:nvPr/>
        </p:nvSpPr>
        <p:spPr>
          <a:xfrm>
            <a:off x="1874520" y="4910328"/>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does it cost, and is it worth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WHERE WE START FROM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AutoBench — the paper we build on</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Qiu et al., MLCAD 2024 · 156 benchmark circuits · GPT-4-turbo</a:t>
            </a:r>
            <a:endParaRPr lang="en-US" sz="1500" dirty="0"/>
          </a:p>
        </p:txBody>
      </p:sp>
      <p:sp>
        <p:nvSpPr>
          <p:cNvPr id="5" name="Shape 3"/>
          <p:cNvSpPr/>
          <p:nvPr/>
        </p:nvSpPr>
        <p:spPr>
          <a:xfrm>
            <a:off x="640080"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83080"/>
            <a:ext cx="4768596" cy="365760"/>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What they built</a:t>
            </a:r>
            <a:endParaRPr lang="en-US" sz="1900" dirty="0"/>
          </a:p>
        </p:txBody>
      </p:sp>
      <p:sp>
        <p:nvSpPr>
          <p:cNvPr id="7" name="Text 5"/>
          <p:cNvSpPr txBox="1"/>
          <p:nvPr/>
        </p:nvSpPr>
        <p:spPr>
          <a:xfrm>
            <a:off x="914400" y="2286000"/>
            <a:ext cx="4677156" cy="1435608"/>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A six-stage AI pipeline that writes testbenches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retries when the compiler complains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Eval0 95.7%   ·   Eval1 51.5%   ·   Eval2 44.8%</a:t>
            </a:r>
            <a:endParaRPr lang="en-US" sz="1500" dirty="0"/>
          </a:p>
        </p:txBody>
      </p:sp>
      <p:sp>
        <p:nvSpPr>
          <p:cNvPr id="8" name="Shape 6"/>
          <p:cNvSpPr/>
          <p:nvPr/>
        </p:nvSpPr>
        <p:spPr>
          <a:xfrm>
            <a:off x="6323076"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83080"/>
            <a:ext cx="4768596"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What it does not do</a:t>
            </a:r>
            <a:endParaRPr lang="en-US" sz="1900" dirty="0"/>
          </a:p>
        </p:txBody>
      </p:sp>
      <p:sp>
        <p:nvSpPr>
          <p:cNvPr id="10" name="Text 8"/>
          <p:cNvSpPr txBox="1"/>
          <p:nvPr/>
        </p:nvSpPr>
        <p:spPr>
          <a:xfrm>
            <a:off x="6597396" y="2286000"/>
            <a:ext cx="4677156" cy="1033272"/>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never reads the Verilog it produces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has nothing to compare against — no control group</a:t>
            </a:r>
            <a:endParaRPr lang="en-US" sz="1500" dirty="0"/>
          </a:p>
        </p:txBody>
      </p:sp>
      <p:sp>
        <p:nvSpPr>
          <p:cNvPr id="11" name="Text 9"/>
          <p:cNvSpPr txBox="1"/>
          <p:nvPr/>
        </p:nvSpPr>
        <p:spPr>
          <a:xfrm>
            <a:off x="6597396" y="3749040"/>
            <a:ext cx="4677156" cy="41148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Those two gaps are what we add.</a:t>
            </a:r>
            <a:endParaRPr lang="en-US" sz="1600" dirty="0"/>
          </a:p>
        </p:txBody>
      </p:sp>
      <p:sp>
        <p:nvSpPr>
          <p:cNvPr id="12" name="Shape 10"/>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We keep most of their design, add a layer that reads the Verilog before anything runs, and add a control group so we can tell whether it helped.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Thirteen steps, three phases</a:t>
            </a:r>
            <a:endParaRPr lang="en-US" sz="3000" dirty="0"/>
          </a:p>
        </p:txBody>
      </p:sp>
      <p:pic>
        <p:nvPicPr>
          <p:cNvPr id="4" name="Image 0" descr="/Users/sawaiznaveed/Ilmenau Uni/ResearchProject/docs/figures/fig1-architecture.png">    </p:cNvPr>
          <p:cNvPicPr>
            <a:picLocks noChangeAspect="1"/>
          </p:cNvPicPr>
          <p:nvPr/>
        </p:nvPicPr>
        <p:blipFill>
          <a:blip r:embed="rId1"/>
          <a:stretch>
            <a:fillRect/>
          </a:stretch>
        </p:blipFill>
        <p:spPr>
          <a:xfrm>
            <a:off x="591954" y="1170432"/>
            <a:ext cx="7320013" cy="534924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What is ours</a:t>
            </a:r>
            <a:endParaRPr lang="en-US" sz="1900" dirty="0"/>
          </a:p>
        </p:txBody>
      </p:sp>
      <p:sp>
        <p:nvSpPr>
          <p:cNvPr id="6" name="Text 3"/>
          <p:cNvSpPr txBox="1"/>
          <p:nvPr/>
        </p:nvSpPr>
        <p:spPr>
          <a:xfrm>
            <a:off x="8412480" y="1828800"/>
            <a:ext cx="3136392" cy="1837944"/>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write the circuit as well</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read the Verilog before running it</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turn what we find into instructions</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added a control group</a:t>
            </a:r>
            <a:endParaRPr lang="en-US" sz="1400" dirty="0"/>
          </a:p>
        </p:txBody>
      </p:sp>
      <p:sp>
        <p:nvSpPr>
          <p:cNvPr id="7" name="Text 4"/>
          <p:cNvSpPr txBox="1"/>
          <p:nvPr/>
        </p:nvSpPr>
        <p:spPr>
          <a:xfrm>
            <a:off x="8412480" y="4114800"/>
            <a:ext cx="3136392" cy="1097280"/>
          </a:xfrm>
          <a:prstGeom prst="rect">
            <a:avLst/>
          </a:prstGeom>
          <a:noFill/>
          <a:ln/>
        </p:spPr>
        <p:txBody>
          <a:bodyPr wrap="square" lIns="0" tIns="0" rIns="0" bIns="0" rtlCol="0" anchor="ctr"/>
          <a:lstStyle/>
          <a:p>
            <a:pPr indent="0" marL="0">
              <a:buNone/>
            </a:pPr>
            <a:r>
              <a:rPr lang="en-US" sz="1300" i="1" dirty="0">
                <a:solidFill>
                  <a:srgbClr val="7A7974"/>
                </a:solidFill>
                <a:latin typeface="Calibri" pitchFamily="34" charset="0"/>
                <a:ea typeface="Calibri" pitchFamily="34" charset="-122"/>
                <a:cs typeface="Calibri" pitchFamily="34" charset="-120"/>
              </a:rPr>
              <a:t>The next slides walk through each step: what it does, why it is there, and what came out of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2A78D6"/>
          </a:solidFill>
          <a:ln w="12700">
            <a:solidFill>
              <a:srgbClr val="2A78D6"/>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classify</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Is this circuit one that remembers?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answers one question: does this circuit have memory, or does its output depend only on its inputs right now?</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Everything after this branches on the answer. A circuit with memory needs a clock generated, needs its outputs watched over time, and gets an extra cleanup step that the others skip.</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counter_4bit — the description in, the verdict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 synchronous 4-bit up counter</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with synchronous reset”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SEQ</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188 / 92</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vs combinational,</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across 280 runs</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It was never the problem. We never traced a single failure back to a wrong answer here.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2A78D6"/>
          </a:solidFill>
          <a:ln w="12700">
            <a:solidFill>
              <a:srgbClr val="2A78D6"/>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gen_dut</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Write the circuit itself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same description and writes the circuit — not the test, the actual design under test.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is the realistic order of work: you have a description, you build a design, then you test it. And it keeps the marking honest — the known-correct circuit is locked away and only used at the very end, so the AI can never copy the answers out of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wrote for counter_4bit — identical interface to the reference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module counter_4bit(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output [3:0] 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273 / 280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circuits it wrote match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the reference exactly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seven that differ are all the same circuit, where the AI invented a clock pin that the real design does not have.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2A78D6"/>
          </a:solidFill>
          <a:ln w="12700">
            <a:solidFill>
              <a:srgbClr val="2A78D6"/>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extract_spec</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the English into a checklist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the circuit and produces a tidy structured list: what the pins are called, how wide each one is, what the circuit should do.</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Later steps need to know what pins exist, dozens of times. Re-reading a paragraph of English every time is unreliable — the AI might read it slightly differently each time. Extracting it once means every later step works from the same facts.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structured spec it produced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(1 bit), rst (1 bit)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 (4 bits)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timing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synchronous, posedge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same as theirs</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we copied this step from</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AutoBench directly</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Plumbing that worked. Not a contribution, but the pipeline would be much flakier without it.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4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2A78D6"/>
          </a:solidFill>
          <a:ln w="12700">
            <a:solidFill>
              <a:srgbClr val="2A78D6"/>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gen_scenarios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Decide what to test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Produces a list of named situations to test — reset clears the counter, it wraps around at the maximum, it holds when disabled.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makes the AI plan before it writes. And the names end up printed in the output, so when something fails we know which behaviour failed, not just that something did.</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scenarios it chose for counter_4bit, and how each one did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scenario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normal_increment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reset_to_zero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wrap_around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increment_from_zero_to_five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hold_value_on_reset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increment_to_fourteen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~8</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test cases generated per run</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That number comes back later — eight test cases is a thin sample of a big circuit.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5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2A78D6"/>
          </a:solidFill>
          <a:ln w="12700">
            <a:solidFill>
              <a:srgbClr val="2A78D6"/>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gen_driver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Write the testbench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Writes the actual Verilog testbench — the thing this whole project is about. It drives inputs into the circuit, watches the outputs, and prints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This is the deliverable. Everything before it is preparation; everything after it is checking.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how it wires the circuit up inside the testbench</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counter_4bit dut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.clk(clk),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.rst(rst),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92.5%</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testbenches it wrote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compiled successfully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Compiling is the easy part. Only 31% of them actually worked against the real circuit.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6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2A78D6"/>
          </a:solidFill>
          <a:ln w="12700">
            <a:solidFill>
              <a:srgbClr val="2A78D6"/>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gen_checker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A Python checker, written alongside</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same spec and scenarios as the previous step and writes a small Python programme for reading a testbench's output and deciding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comes from AutoBench's structure, where the Verilog drives the circuit and Python judges the result. It needs nothing from the testbench, so the two are generated at the same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it runs beside gen_driver, not after it — neither needs the other</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spec + scenarios</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gen_driver   →  testbench.v</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gen_checker  →  checker.py</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in parallel</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generated alongside the testbench,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not after it</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Ours carries less of the load than AutoBench's, because our testbench prints its own PASS and FAIL verdicts.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7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2A78D6"/>
          </a:solidFill>
          <a:ln w="12700">
            <a:solidFill>
              <a:srgbClr val="2A78D6"/>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merge_generation</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Wait for both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Nothing at all. It is a waiting point.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 two previous steps run at the same time. Something has to wait for both before the pipeline moves on, otherwise the next step could start while one is still running.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two branches rejoin here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gen_driver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merge  →  next step</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gen_checker  ┘</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AI calls — it is pure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control flow</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Not a research contribution. It is there so the parallel branches are safe.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8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2A78D6"/>
          </a:solidFill>
          <a:ln w="12700">
            <a:solidFill>
              <a:srgbClr val="2A78D6"/>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standardise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Mechanical cleanup, no AI</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Plain Python. If an output is never printed anywhere, it inserts the line that prints it. If a clock is declared but never made to tick, it inserts the few lines that make it tick.</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There is exactly one correct answer to both of those, so a script is better than a model: faster, free, and it does the same thing every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inserts, and how it marks its own work</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[standardised]</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$monitor("out = %b", out);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it skips anything already marked</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6 / 188</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runs where it had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anything to fix</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AutoBench's version of this step was their single biggest win — worth 42 points. Ours does almost nothing.</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9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2A78D6"/>
          </a:solidFill>
          <a:ln w="12700">
            <a:solidFill>
              <a:srgbClr val="2A78D6"/>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pyverilog_analysis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Read the code without running it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Parses the testbench and the circuit into a structure — not text — and runs six checks looking for mistakes. No simulation.</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Two of the six catch faults that nothing else can see: an output nobody checks, and a sequential output that is never printed. If the testbench stops looking, running it passes.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a real finding — Prob150, where the AI invented a clock pin</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error_type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port_binding_mismatch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affected_signal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severity</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found by</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reading the code, before running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100%</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detection on every fault class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it was built for</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Zero false alarms on clean testbenches. This is the core contribution.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10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2A78D6"/>
          </a:solidFill>
          <a:ln w="12700">
            <a:solidFill>
              <a:srgbClr val="2A78D6"/>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error_reasoner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findings into instructions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machine-generated report from the previous step and turns it into something the AI can act on: which signal, what is wrong, what to do about 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raw report says “unobserved output: q”. That is not an instruction. This turns it into “the output q is never printed — add a display statement after each check”.</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machine report in, instruction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unobserved_output: q</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“the output q is never printed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add a display after each check”</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skipped when clean</a:t>
            </a:r>
            <a:endParaRPr lang="en-US" sz="2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 AI call is made if the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report found nothing</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Since the reports were almost always clean, this made the static-only configuration cheaper than doing nothing at all.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2A78D6"/>
          </a:solidFill>
          <a:ln w="12700">
            <a:solidFill>
              <a:srgbClr val="2A78D6"/>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repair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Try again, knowing what went wrong</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given an error report. Three things can trigger it: our checker found something, the compiler refused the file, or it ran and got the wrong answers. Capped at three attempts.</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diagnosis is only worth having if something acts on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one repair our checker ever triggered, iteration by iteration</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what the checker saw</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and reset not connected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  — the repair 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problem came back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26 / 102</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repair attempts that ended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in a working testbench</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About one in four. Repairing a testbench from an error message is harder than it sounds.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2A78D6"/>
          </a:solidFill>
          <a:ln w="12700">
            <a:solidFill>
              <a:srgbClr val="2A78D6"/>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regenerate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Try again, told nothing — the control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from the original description, with no error report, no findings, and no compiler output. Deliberately blind.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If our version beats the plain one, there are two explanations: the feedback worked, or the AI simply got a second try. This step isolates the second try, so we can tell them apart.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control against the plain version, over 44 circuits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baseline — one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12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retry_only — a blind second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13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difference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 circuit  ·  p = 1.000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2A78D6"/>
                </a:solidFill>
                <a:latin typeface="Cambria" pitchFamily="34" charset="0"/>
                <a:ea typeface="Cambria" pitchFamily="34" charset="-122"/>
                <a:cs typeface="Cambria" pitchFamily="34" charset="-120"/>
              </a:rPr>
              <a:t>worth nothing</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 blind second attempt did not</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beat doing nothing at all</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Which means any real improvement has to come from the diagnosis, not from the extra attempt.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2A78D6"/>
          </a:solidFill>
          <a:ln w="12700">
            <a:solidFill>
              <a:srgbClr val="2A78D6"/>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evaluate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Mark it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Three tests in order. Does it compile? Does it pass against the known-correct circuit? And does it catch five deliberately broken copies of that circuit?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Ground truth. Everything reported in this talk comes out of this step, along with the cost and timing of every AI call.</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one run's scorecard — counter_4bit</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Eval0  — compiles?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Eval1  — works on the real circuit?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of 11 scenarios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Eval2  — catches broken copies?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not reached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92.5 / 31.4 / 95</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compiles  ·  works  ·  catches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broken copies   (%)</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last number is flattering and we treat it as a limitation, not a result.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1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Does the checker actually work?</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We broke 215 testbenches in known ways and scored three things against them</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572000"/>
                <a:gridCol w="1143000"/>
                <a:gridCol w="1691640"/>
                <a:gridCol w="1691640"/>
                <a:gridCol w="181051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mistake we injected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How many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compiler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Running 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renamed so it does not exist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left unconnected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 input never given a value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signal of the wrong width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82%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an output nobody ever checks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clock that never ticks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17%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two same-width signals swapped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78%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broken clock synchronisation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80%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The bold row is the one that matters: if the testbench stops checking an output, running it PASSES — nothing else can see that. The last two rows are controls, built to be impossible to spot from structure.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2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The three scores, and how they compare</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Ours across 280 runs, against AutoBench's published figures</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1188720"/>
                <a:gridCol w="3977640"/>
                <a:gridCol w="1371600"/>
                <a:gridCol w="2468880"/>
                <a:gridCol w="1901952"/>
              </a:tblGrid>
              <a:tr h="310896">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asks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AutoBench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Read it as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the testbench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92.5%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95.7%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98.7% on our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pass against the real 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31.4%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51.5%   ·   37.1%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ours are mostly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catch deliberately broken copies?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44.8%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NOT comparable — different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52514E"/>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…scored under AutoBench's own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26.0%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no ranking at n=20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809744"/>
            <a:ext cx="4768596" cy="292608"/>
          </a:xfrm>
          <a:prstGeom prst="rect">
            <a:avLst/>
          </a:prstGeom>
          <a:noFill/>
          <a:ln/>
        </p:spPr>
        <p:txBody>
          <a:bodyPr wrap="square" lIns="0" tIns="0" rIns="0" bIns="0" rtlCol="0" anchor="ctr"/>
          <a:lstStyle/>
          <a:p>
            <a:pPr indent="0" marL="0">
              <a:buNone/>
            </a:pPr>
            <a:r>
              <a:rPr lang="en-US" sz="1300" b="1" spc="110" kern="0" dirty="0">
                <a:solidFill>
                  <a:srgbClr val="EB6834"/>
                </a:solidFill>
                <a:latin typeface="Calibri" pitchFamily="34" charset="0"/>
                <a:ea typeface="Calibri" pitchFamily="34" charset="-122"/>
                <a:cs typeface="Calibri" pitchFamily="34" charset="-120"/>
              </a:rPr>
              <a:t>Why our Eval2 is not a win</a:t>
            </a:r>
            <a:endParaRPr lang="en-US" sz="1300" dirty="0"/>
          </a:p>
        </p:txBody>
      </p:sp>
      <p:sp>
        <p:nvSpPr>
          <p:cNvPr id="8" name="Text 5"/>
          <p:cNvSpPr txBox="1"/>
          <p:nvPr/>
        </p:nvSpPr>
        <p:spPr>
          <a:xfrm>
            <a:off x="877824"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95% is a ceiling — our own test circuits are too small for a bug to hide in. We checked: better broken copies moved the score one point, bigger circuits moved it forty-four. So it measures our choice of circuits, not our testbenches.</a:t>
            </a:r>
            <a:endParaRPr lang="en-US" sz="1300" dirty="0"/>
          </a:p>
        </p:txBody>
      </p:sp>
      <p:sp>
        <p:nvSpPr>
          <p:cNvPr id="9" name="Shape 6"/>
          <p:cNvSpPr/>
          <p:nvPr/>
        </p:nvSpPr>
        <p:spPr>
          <a:xfrm>
            <a:off x="6323076"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809744"/>
            <a:ext cx="4768596" cy="292608"/>
          </a:xfrm>
          <a:prstGeom prst="rect">
            <a:avLst/>
          </a:prstGeom>
          <a:noFill/>
          <a:ln/>
        </p:spPr>
        <p:txBody>
          <a:bodyPr wrap="square" lIns="0" tIns="0" rIns="0" bIns="0" rtlCol="0" anchor="ctr"/>
          <a:lstStyle/>
          <a:p>
            <a:pPr indent="0" marL="0">
              <a:buNone/>
            </a:pPr>
            <a:r>
              <a:rPr lang="en-US" sz="1300" b="1" spc="110" kern="0" dirty="0">
                <a:solidFill>
                  <a:srgbClr val="2A78D6"/>
                </a:solidFill>
                <a:latin typeface="Calibri" pitchFamily="34" charset="0"/>
                <a:ea typeface="Calibri" pitchFamily="34" charset="-122"/>
                <a:cs typeface="Calibri" pitchFamily="34" charset="-120"/>
              </a:rPr>
              <a:t>Why the rest is a fair comparison</a:t>
            </a:r>
            <a:endParaRPr lang="en-US" sz="1300" dirty="0"/>
          </a:p>
        </p:txBody>
      </p:sp>
      <p:sp>
        <p:nvSpPr>
          <p:cNvPr id="11" name="Text 8"/>
          <p:cNvSpPr txBox="1"/>
          <p:nvPr/>
        </p:nvSpPr>
        <p:spPr>
          <a:xfrm>
            <a:off x="6560820"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Our 20 benchmark circuits are the hardest fifth of theirs, and three quarters are clocked — the hard case. Where the measures line up we are in the same range, with a newer model, on harder circuits.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3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settings, compared</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Same pipeline every time — the only thing that changes is when it may try again</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6217920"/>
                <a:gridCol w="231343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is allowed to do</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Circuits that 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our checker complained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nothing — one attempt 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12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told nothing at all     ←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13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it did not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15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hybrid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for any of those reasons     ←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18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The three comparisons</a:t>
            </a:r>
            <a:endParaRPr lang="en-US" sz="1300" dirty="0"/>
          </a:p>
        </p:txBody>
      </p:sp>
      <p:sp>
        <p:nvSpPr>
          <p:cNvPr id="8" name="Text 5"/>
          <p:cNvSpPr txBox="1"/>
          <p:nvPr/>
        </p:nvSpPr>
        <p:spPr>
          <a:xfrm>
            <a:off x="877824" y="4818888"/>
            <a:ext cx="4750308" cy="1371600"/>
          </a:xfrm>
          <a:prstGeom prst="rect">
            <a:avLst/>
          </a:prstGeom>
          <a:noFill/>
          <a:ln/>
        </p:spPr>
        <p:txBody>
          <a:bodyPr wrap="square" lIns="0" tIns="0" rIns="0" bIns="0" rtlCol="0" anchor="t"/>
          <a:lstStyle/>
          <a:p>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+6 — looks like a clear win
</a:t>
            </a:r>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the control 13</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+5 — the fair test
</a:t>
            </a:r>
            <a:pPr indent="0" marL="0">
              <a:lnSpc>
                <a:spcPct val="140000"/>
              </a:lnSpc>
              <a:buNone/>
            </a:pPr>
            <a:r>
              <a:rPr lang="en-US" sz="1400" b="1" dirty="0">
                <a:solidFill>
                  <a:srgbClr val="EB6834"/>
                </a:solidFill>
                <a:latin typeface="Calibri" pitchFamily="34" charset="0"/>
                <a:ea typeface="Calibri" pitchFamily="34" charset="-122"/>
                <a:cs typeface="Calibri" pitchFamily="34" charset="-120"/>
              </a:rPr>
              <a:t>pyverilog_only 9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−3 — and these two ran the same logic</a:t>
            </a:r>
            <a:endParaRPr lang="en-US" sz="1400" dirty="0"/>
          </a:p>
        </p:txBody>
      </p:sp>
      <p:sp>
        <p:nvSpPr>
          <p:cNvPr id="9" name="Shape 6"/>
          <p:cNvSpPr/>
          <p:nvPr/>
        </p:nvSpPr>
        <p:spPr>
          <a:xfrm>
            <a:off x="6323076"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What that means</a:t>
            </a:r>
            <a:endParaRPr lang="en-US" sz="1300" dirty="0"/>
          </a:p>
        </p:txBody>
      </p:sp>
      <p:sp>
        <p:nvSpPr>
          <p:cNvPr id="11" name="Text 8"/>
          <p:cNvSpPr txBox="1"/>
          <p:nvPr/>
        </p:nvSpPr>
        <p:spPr>
          <a:xfrm>
            <a:off x="6560820" y="4818888"/>
            <a:ext cx="4750308" cy="1371600"/>
          </a:xfrm>
          <a:prstGeom prst="rect">
            <a:avLst/>
          </a:prstGeom>
          <a:noFill/>
          <a:ln/>
        </p:spPr>
        <p:txBody>
          <a:bodyPr wrap="square" lIns="0" tIns="0" rIns="0" bIns="0" rtlCol="0" anchor="t"/>
          <a:lstStyle/>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The bottom pair never actually repaired anything, so they ran the same logic — and still landed three circuits apart. Three circuits of difference happens by luck alone.</a:t>
            </a:r>
            <a:endParaRPr lang="en-US" sz="1400" dirty="0"/>
          </a:p>
          <a:p>
            <a:pPr indent="0" marL="0">
              <a:lnSpc>
                <a:spcPct val="120000"/>
              </a:lnSpc>
              <a:buNone/>
            </a:pPr>
            <a:endParaRPr lang="en-US" sz="1400" dirty="0"/>
          </a:p>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So a five-circuit lead is not a result. We report it as not significant.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4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actually triggered every repair</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Every rewrite the pipeline performed, across all 280 runs</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7863840" cy="914400"/>
        </p:xfrm>
        <a:graphic>
          <a:graphicData uri="http://schemas.openxmlformats.org/drawingml/2006/table">
            <a:tbl>
              <a:tblPr/>
              <a:tblGrid>
                <a:gridCol w="5943600"/>
                <a:gridCol w="192024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caused the rewrite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Simulation — it ran and got the wrong answers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Blind retry — no information at all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 errors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Our static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3749040"/>
            <a:ext cx="7863840" cy="1371600"/>
          </a:xfrm>
          <a:prstGeom prst="roundRect">
            <a:avLst>
              <a:gd name="adj" fmla="val 533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3931920"/>
            <a:ext cx="7406640" cy="1005840"/>
          </a:xfrm>
          <a:prstGeom prst="rect">
            <a:avLst/>
          </a:prstGeom>
          <a:noFill/>
          <a:ln/>
        </p:spPr>
        <p:txBody>
          <a:bodyPr wrap="square" lIns="0" tIns="0" rIns="0" bIns="0" rtlCol="0" anchor="t"/>
          <a:lstStyle/>
          <a:p>
            <a:pPr indent="0" marL="0">
              <a:buNone/>
            </a:pPr>
            <a:r>
              <a:rPr lang="en-US" sz="1500" b="1" dirty="0">
                <a:solidFill>
                  <a:srgbClr val="0B0B0B"/>
                </a:solidFill>
                <a:latin typeface="Calibri" pitchFamily="34" charset="0"/>
                <a:ea typeface="Calibri" pitchFamily="34" charset="-122"/>
                <a:cs typeface="Calibri" pitchFamily="34" charset="-120"/>
              </a:rPr>
              <a:t>And the setting that isolates our checker on its own repaired zero times in 44 runs. It never found anything to act on.</a:t>
            </a:r>
            <a:endParaRPr lang="en-US" sz="1500" dirty="0"/>
          </a:p>
        </p:txBody>
      </p:sp>
      <p:sp>
        <p:nvSpPr>
          <p:cNvPr id="8" name="Shape 5"/>
          <p:cNvSpPr/>
          <p:nvPr/>
        </p:nvSpPr>
        <p:spPr>
          <a:xfrm>
            <a:off x="8915400" y="1600200"/>
            <a:ext cx="2633472" cy="3520440"/>
          </a:xfrm>
          <a:prstGeom prst="roundRect">
            <a:avLst>
              <a:gd name="adj" fmla="val 277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6"/>
          <p:cNvSpPr txBox="1"/>
          <p:nvPr/>
        </p:nvSpPr>
        <p:spPr>
          <a:xfrm>
            <a:off x="9153144" y="1783080"/>
            <a:ext cx="2176272" cy="365760"/>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Not a broken tool</a:t>
            </a:r>
            <a:endParaRPr lang="en-US" sz="1800" dirty="0"/>
          </a:p>
        </p:txBody>
      </p:sp>
      <p:sp>
        <p:nvSpPr>
          <p:cNvPr id="10" name="Text 7"/>
          <p:cNvSpPr txBox="1"/>
          <p:nvPr/>
        </p:nvSpPr>
        <p:spPr>
          <a:xfrm>
            <a:off x="9189720" y="2240280"/>
            <a:ext cx="2084832" cy="2743200"/>
          </a:xfrm>
          <a:prstGeom prst="rect">
            <a:avLst/>
          </a:prstGeom>
          <a:noFill/>
          <a:ln/>
        </p:spPr>
        <p:txBody>
          <a:bodyPr wrap="square" lIns="0" tIns="0" rIns="0" bIns="0" rtlCol="0" anchor="t"/>
          <a:lstStyle/>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last slide showed it catches everything it was built for.</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mistakes it looks for have become rare.</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Almost all the failures we see now are about meaning, not structure — the wiring is perfect and the expected answer is wrong.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5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Why the mistakes we look for disappeared</a:t>
            </a:r>
            <a:endParaRPr lang="en-US" sz="3000" dirty="0"/>
          </a:p>
        </p:txBody>
      </p:sp>
      <p:sp>
        <p:nvSpPr>
          <p:cNvPr id="4" name="Shape 2"/>
          <p:cNvSpPr/>
          <p:nvPr/>
        </p:nvSpPr>
        <p:spPr>
          <a:xfrm>
            <a:off x="640080"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77824" y="1399032"/>
            <a:ext cx="4768596" cy="329184"/>
          </a:xfrm>
          <a:prstGeom prst="rect">
            <a:avLst/>
          </a:prstGeom>
          <a:noFill/>
          <a:ln/>
        </p:spPr>
        <p:txBody>
          <a:bodyPr wrap="square" lIns="0" tIns="0" rIns="0" bIns="0" rtlCol="0" anchor="ctr"/>
          <a:lstStyle/>
          <a:p>
            <a:pPr indent="0" marL="0">
              <a:buNone/>
            </a:pPr>
            <a:r>
              <a:rPr lang="en-US" sz="1700" b="1" dirty="0">
                <a:solidFill>
                  <a:srgbClr val="7A7974"/>
                </a:solidFill>
                <a:latin typeface="Cambria" pitchFamily="34" charset="0"/>
                <a:ea typeface="Cambria" pitchFamily="34" charset="-122"/>
                <a:cs typeface="Cambria" pitchFamily="34" charset="-120"/>
              </a:rPr>
              <a:t>Structural mistakes  —  mostly gone</a:t>
            </a:r>
            <a:endParaRPr lang="en-US" sz="1700" dirty="0"/>
          </a:p>
        </p:txBody>
      </p:sp>
      <p:sp>
        <p:nvSpPr>
          <p:cNvPr id="6" name="Text 4"/>
          <p:cNvSpPr txBox="1"/>
          <p:nvPr/>
        </p:nvSpPr>
        <p:spPr>
          <a:xfrm>
            <a:off x="877824"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pin wired to the wrong name. A three-bit signal in a four-bit port. These are local, repetitive patterns — the same shapes appear in millions of code examples. Getting them right is pattern matching.</a:t>
            </a:r>
            <a:endParaRPr lang="en-US" sz="1400" dirty="0"/>
          </a:p>
        </p:txBody>
      </p:sp>
      <p:sp>
        <p:nvSpPr>
          <p:cNvPr id="7" name="Shape 5"/>
          <p:cNvSpPr/>
          <p:nvPr/>
        </p:nvSpPr>
        <p:spPr>
          <a:xfrm>
            <a:off x="6323076"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6560820" y="1399032"/>
            <a:ext cx="4768596" cy="329184"/>
          </a:xfrm>
          <a:prstGeom prst="rect">
            <a:avLst/>
          </a:prstGeom>
          <a:noFill/>
          <a:ln/>
        </p:spPr>
        <p:txBody>
          <a:bodyPr wrap="square" lIns="0" tIns="0" rIns="0" bIns="0" rtlCol="0" anchor="ctr"/>
          <a:lstStyle/>
          <a:p>
            <a:pPr indent="0" marL="0">
              <a:buNone/>
            </a:pPr>
            <a:r>
              <a:rPr lang="en-US" sz="1700" b="1" dirty="0">
                <a:solidFill>
                  <a:srgbClr val="2A78D6"/>
                </a:solidFill>
                <a:latin typeface="Cambria" pitchFamily="34" charset="0"/>
                <a:ea typeface="Cambria" pitchFamily="34" charset="-122"/>
                <a:cs typeface="Cambria" pitchFamily="34" charset="-120"/>
              </a:rPr>
              <a:t>Meaning mistakes  —  still there</a:t>
            </a:r>
            <a:endParaRPr lang="en-US" sz="1700" dirty="0"/>
          </a:p>
        </p:txBody>
      </p:sp>
      <p:sp>
        <p:nvSpPr>
          <p:cNvPr id="9" name="Text 7"/>
          <p:cNvSpPr txBox="1"/>
          <p:nvPr/>
        </p:nvSpPr>
        <p:spPr>
          <a:xfrm>
            <a:off x="6560820"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Expecting the counter to read 7 when it should read 8. To get that right you have to work out what the circuit does over several clock cycles. That is reasoning about behaviour, not recall of a pattern.</a:t>
            </a:r>
            <a:endParaRPr lang="en-US" sz="1400" dirty="0"/>
          </a:p>
        </p:txBody>
      </p:sp>
      <p:sp>
        <p:nvSpPr>
          <p:cNvPr id="10" name="Text 8"/>
          <p:cNvSpPr txBox="1"/>
          <p:nvPr/>
        </p:nvSpPr>
        <p:spPr>
          <a:xfrm>
            <a:off x="640080" y="3383280"/>
            <a:ext cx="10908792" cy="402336"/>
          </a:xfrm>
          <a:prstGeom prst="rect">
            <a:avLst/>
          </a:prstGeom>
          <a:noFill/>
          <a:ln/>
        </p:spPr>
        <p:txBody>
          <a:bodyPr wrap="square" lIns="0" tIns="0" rIns="0" bIns="0" rtlCol="0" anchor="ctr"/>
          <a:lstStyle/>
          <a:p>
            <a:pPr algn="ctr" indent="0" marL="0">
              <a:buNone/>
            </a:pPr>
            <a:r>
              <a:rPr lang="en-US" sz="2100" b="1" dirty="0">
                <a:solidFill>
                  <a:srgbClr val="0B0B0B"/>
                </a:solidFill>
                <a:latin typeface="Cambria" pitchFamily="34" charset="0"/>
                <a:ea typeface="Cambria" pitchFamily="34" charset="-122"/>
                <a:cs typeface="Cambria" pitchFamily="34" charset="-120"/>
              </a:rPr>
              <a:t>Model progress solved the pattern half and left the reasoning half.</a:t>
            </a:r>
            <a:endParaRPr lang="en-US" sz="2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103120" y="3867912"/>
          <a:ext cx="7982712" cy="914400"/>
        </p:xfrm>
        <a:graphic>
          <a:graphicData uri="http://schemas.openxmlformats.org/drawingml/2006/table">
            <a:tbl>
              <a:tblPr/>
              <a:tblGrid>
                <a:gridCol w="6492240"/>
                <a:gridCol w="182880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Sequential compile rate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without their cleanup script  (2024)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 it  — their single biggest win</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Ours, on the 182 runs where our script never fired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90.7%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Ours,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98.7%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2103120" y="6126480"/>
            <a:ext cx="7982712" cy="457200"/>
          </a:xfrm>
          <a:prstGeom prst="rect">
            <a:avLst/>
          </a:prstGeom>
          <a:noFill/>
          <a:ln/>
        </p:spPr>
        <p:txBody>
          <a:bodyPr wrap="square" lIns="0" tIns="0" rIns="0" bIns="0" rtlCol="0" anchor="ctr"/>
          <a:lstStyle/>
          <a:p>
            <a:pPr algn="ctr" indent="0" marL="0">
              <a:buNone/>
            </a:pPr>
            <a:r>
              <a:rPr lang="en-US" sz="1400" b="1" dirty="0">
                <a:solidFill>
                  <a:srgbClr val="2A78D6"/>
                </a:solidFill>
                <a:latin typeface="Calibri" pitchFamily="34" charset="0"/>
                <a:ea typeface="Calibri" pitchFamily="34" charset="-122"/>
                <a:cs typeface="Calibri" pitchFamily="34" charset="-120"/>
              </a:rPr>
              <a:t>A pipeline whose cleanup step does nothing compiles 35 points better than a 2024 pipeline without one. It is the models, not us.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6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it costs, and whether it is worth 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RQ4 — mean per run, pooled over 220 runs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2743200"/>
                <a:gridCol w="1097280"/>
                <a:gridCol w="1371600"/>
                <a:gridCol w="331927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Cost vs 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40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costs nothing, gains nothing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42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floor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43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34.1%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best value — 7 points for 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hybrid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61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40.9%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best score, worst cost, not significant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96112" y="4681728"/>
            <a:ext cx="2971800" cy="841248"/>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~$16.50</a:t>
            </a:r>
            <a:endParaRPr lang="en-US" sz="3200" dirty="0"/>
          </a:p>
        </p:txBody>
      </p:sp>
      <p:sp>
        <p:nvSpPr>
          <p:cNvPr id="8" name="Text 5"/>
          <p:cNvSpPr txBox="1"/>
          <p:nvPr/>
        </p:nvSpPr>
        <p:spPr>
          <a:xfrm>
            <a:off x="896112"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every experiment in the</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project, end to end</a:t>
            </a:r>
            <a:endParaRPr lang="en-US" sz="1300" dirty="0"/>
          </a:p>
        </p:txBody>
      </p:sp>
      <p:sp>
        <p:nvSpPr>
          <p:cNvPr id="9" name="Shape 6"/>
          <p:cNvSpPr/>
          <p:nvPr/>
        </p:nvSpPr>
        <p:spPr>
          <a:xfrm>
            <a:off x="4352544"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4608576"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~$0.10</a:t>
            </a:r>
            <a:endParaRPr lang="en-US" sz="3200" dirty="0"/>
          </a:p>
        </p:txBody>
      </p:sp>
      <p:sp>
        <p:nvSpPr>
          <p:cNvPr id="11" name="Text 8"/>
          <p:cNvSpPr txBox="1"/>
          <p:nvPr/>
        </p:nvSpPr>
        <p:spPr>
          <a:xfrm>
            <a:off x="4608576"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per generated testbench</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at the strong tier</a:t>
            </a:r>
            <a:endParaRPr lang="en-US" sz="1300" dirty="0"/>
          </a:p>
        </p:txBody>
      </p:sp>
      <p:sp>
        <p:nvSpPr>
          <p:cNvPr id="12" name="Shape 9"/>
          <p:cNvSpPr/>
          <p:nvPr/>
        </p:nvSpPr>
        <p:spPr>
          <a:xfrm>
            <a:off x="8065008"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0"/>
          <p:cNvSpPr txBox="1"/>
          <p:nvPr/>
        </p:nvSpPr>
        <p:spPr>
          <a:xfrm>
            <a:off x="8321040"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~4 h</a:t>
            </a:r>
            <a:endParaRPr lang="en-US" sz="3200" dirty="0"/>
          </a:p>
        </p:txBody>
      </p:sp>
      <p:sp>
        <p:nvSpPr>
          <p:cNvPr id="14" name="Text 11"/>
          <p:cNvSpPr txBox="1"/>
          <p:nvPr/>
        </p:nvSpPr>
        <p:spPr>
          <a:xfrm>
            <a:off x="8321040"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total compute across</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all 280 runs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ANSWERS</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Back to the four questions</a:t>
            </a:r>
            <a:endParaRPr lang="en-US" sz="3000" dirty="0"/>
          </a:p>
        </p:txBody>
      </p:sp>
      <p:sp>
        <p:nvSpPr>
          <p:cNvPr id="4" name="Shape 2"/>
          <p:cNvSpPr/>
          <p:nvPr/>
        </p:nvSpPr>
        <p:spPr>
          <a:xfrm>
            <a:off x="640080" y="123444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96112" y="148132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RQ1</a:t>
            </a:r>
            <a:endParaRPr lang="en-US" sz="2200" dirty="0"/>
          </a:p>
        </p:txBody>
      </p:sp>
      <p:sp>
        <p:nvSpPr>
          <p:cNvPr id="6" name="Text 4"/>
          <p:cNvSpPr txBox="1"/>
          <p:nvPr/>
        </p:nvSpPr>
        <p:spPr>
          <a:xfrm>
            <a:off x="1783080" y="137160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mistakes, and which are findable without running?</a:t>
            </a:r>
            <a:endParaRPr lang="en-US" sz="1300" dirty="0"/>
          </a:p>
        </p:txBody>
      </p:sp>
      <p:sp>
        <p:nvSpPr>
          <p:cNvPr id="7" name="Text 5"/>
          <p:cNvSpPr txBox="1"/>
          <p:nvPr/>
        </p:nvSpPr>
        <p:spPr>
          <a:xfrm>
            <a:off x="6400800" y="137160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Six kinds. 87% of real failures are about meaning, not structure.</a:t>
            </a:r>
            <a:endParaRPr lang="en-US" sz="1400" dirty="0"/>
          </a:p>
        </p:txBody>
      </p:sp>
      <p:sp>
        <p:nvSpPr>
          <p:cNvPr id="8" name="Text 6"/>
          <p:cNvSpPr txBox="1"/>
          <p:nvPr/>
        </p:nvSpPr>
        <p:spPr>
          <a:xfrm>
            <a:off x="9811512" y="137160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9" name="Shape 7"/>
          <p:cNvSpPr/>
          <p:nvPr/>
        </p:nvSpPr>
        <p:spPr>
          <a:xfrm>
            <a:off x="640080" y="233172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8"/>
          <p:cNvSpPr txBox="1"/>
          <p:nvPr/>
        </p:nvSpPr>
        <p:spPr>
          <a:xfrm>
            <a:off x="896112" y="257860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RQ2</a:t>
            </a:r>
            <a:endParaRPr lang="en-US" sz="2200" dirty="0"/>
          </a:p>
        </p:txBody>
      </p:sp>
      <p:sp>
        <p:nvSpPr>
          <p:cNvPr id="11" name="Text 9"/>
          <p:cNvSpPr txBox="1"/>
          <p:nvPr/>
        </p:nvSpPr>
        <p:spPr>
          <a:xfrm>
            <a:off x="1783080" y="246888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How far can reading the code narrow them down?</a:t>
            </a:r>
            <a:endParaRPr lang="en-US" sz="1300" dirty="0"/>
          </a:p>
        </p:txBody>
      </p:sp>
      <p:sp>
        <p:nvSpPr>
          <p:cNvPr id="12" name="Text 10"/>
          <p:cNvSpPr txBox="1"/>
          <p:nvPr/>
        </p:nvSpPr>
        <p:spPr>
          <a:xfrm>
            <a:off x="6400800" y="246888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Completely, for what it targets — every class, no false alarms.</a:t>
            </a:r>
            <a:endParaRPr lang="en-US" sz="1400" dirty="0"/>
          </a:p>
        </p:txBody>
      </p:sp>
      <p:sp>
        <p:nvSpPr>
          <p:cNvPr id="13" name="Text 11"/>
          <p:cNvSpPr txBox="1"/>
          <p:nvPr/>
        </p:nvSpPr>
        <p:spPr>
          <a:xfrm>
            <a:off x="9811512" y="246888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14" name="Shape 12"/>
          <p:cNvSpPr/>
          <p:nvPr/>
        </p:nvSpPr>
        <p:spPr>
          <a:xfrm>
            <a:off x="640080" y="342900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5" name="Text 13"/>
          <p:cNvSpPr txBox="1"/>
          <p:nvPr/>
        </p:nvSpPr>
        <p:spPr>
          <a:xfrm>
            <a:off x="896112" y="367588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RQ3</a:t>
            </a:r>
            <a:endParaRPr lang="en-US" sz="2200" dirty="0"/>
          </a:p>
        </p:txBody>
      </p:sp>
      <p:sp>
        <p:nvSpPr>
          <p:cNvPr id="16" name="Text 14"/>
          <p:cNvSpPr txBox="1"/>
          <p:nvPr/>
        </p:nvSpPr>
        <p:spPr>
          <a:xfrm>
            <a:off x="1783080" y="356616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Can the AI repair itself from that diagnosis?</a:t>
            </a:r>
            <a:endParaRPr lang="en-US" sz="1300" dirty="0"/>
          </a:p>
        </p:txBody>
      </p:sp>
      <p:sp>
        <p:nvSpPr>
          <p:cNvPr id="17" name="Text 15"/>
          <p:cNvSpPr txBox="1"/>
          <p:nvPr/>
        </p:nvSpPr>
        <p:spPr>
          <a:xfrm>
            <a:off x="6400800" y="356616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Rarely — the diagnosis almost never fires. Simulation does the work.</a:t>
            </a:r>
            <a:endParaRPr lang="en-US" sz="1400" dirty="0"/>
          </a:p>
        </p:txBody>
      </p:sp>
      <p:sp>
        <p:nvSpPr>
          <p:cNvPr id="18" name="Text 16"/>
          <p:cNvSpPr txBox="1"/>
          <p:nvPr/>
        </p:nvSpPr>
        <p:spPr>
          <a:xfrm>
            <a:off x="9811512" y="3566160"/>
            <a:ext cx="1508760" cy="685800"/>
          </a:xfrm>
          <a:prstGeom prst="rect">
            <a:avLst/>
          </a:prstGeom>
          <a:noFill/>
          <a:ln/>
        </p:spPr>
        <p:txBody>
          <a:bodyPr wrap="square" lIns="0" tIns="0" rIns="0" bIns="0" rtlCol="0" anchor="ctr"/>
          <a:lstStyle/>
          <a:p>
            <a:pPr indent="0" marL="0">
              <a:buNone/>
            </a:pPr>
            <a:r>
              <a:rPr lang="en-US" sz="1200" i="1" dirty="0">
                <a:solidFill>
                  <a:srgbClr val="EB6834"/>
                </a:solidFill>
                <a:latin typeface="Calibri" pitchFamily="34" charset="0"/>
                <a:ea typeface="Calibri" pitchFamily="34" charset="-122"/>
                <a:cs typeface="Calibri" pitchFamily="34" charset="-120"/>
              </a:rPr>
              <a:t>answered, negative</a:t>
            </a:r>
            <a:endParaRPr lang="en-US" sz="1200" dirty="0"/>
          </a:p>
        </p:txBody>
      </p:sp>
      <p:sp>
        <p:nvSpPr>
          <p:cNvPr id="19" name="Shape 17"/>
          <p:cNvSpPr/>
          <p:nvPr/>
        </p:nvSpPr>
        <p:spPr>
          <a:xfrm>
            <a:off x="640080" y="452628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0" name="Text 18"/>
          <p:cNvSpPr txBox="1"/>
          <p:nvPr/>
        </p:nvSpPr>
        <p:spPr>
          <a:xfrm>
            <a:off x="896112" y="477316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RQ4</a:t>
            </a:r>
            <a:endParaRPr lang="en-US" sz="2200" dirty="0"/>
          </a:p>
        </p:txBody>
      </p:sp>
      <p:sp>
        <p:nvSpPr>
          <p:cNvPr id="21" name="Text 19"/>
          <p:cNvSpPr txBox="1"/>
          <p:nvPr/>
        </p:nvSpPr>
        <p:spPr>
          <a:xfrm>
            <a:off x="1783080" y="466344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does it cost, and is it worth it?</a:t>
            </a:r>
            <a:endParaRPr lang="en-US" sz="1300" dirty="0"/>
          </a:p>
        </p:txBody>
      </p:sp>
      <p:sp>
        <p:nvSpPr>
          <p:cNvPr id="22" name="Text 20"/>
          <p:cNvSpPr txBox="1"/>
          <p:nvPr/>
        </p:nvSpPr>
        <p:spPr>
          <a:xfrm>
            <a:off x="6400800" y="466344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Our layer is nearly free. Compiler feedback is the best value.</a:t>
            </a:r>
            <a:endParaRPr lang="en-US" sz="1400" dirty="0"/>
          </a:p>
        </p:txBody>
      </p:sp>
      <p:sp>
        <p:nvSpPr>
          <p:cNvPr id="23" name="Text 21"/>
          <p:cNvSpPr txBox="1"/>
          <p:nvPr/>
        </p:nvSpPr>
        <p:spPr>
          <a:xfrm>
            <a:off x="9811512" y="466344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24" name="Shape 22"/>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All four answered. One of them negatively — and that is the one worth reporting.</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6E88B4"/>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640080"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051560"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working pipeline</a:t>
            </a:r>
            <a:endParaRPr lang="en-US" sz="1600" dirty="0"/>
          </a:p>
        </p:txBody>
      </p:sp>
      <p:sp>
        <p:nvSpPr>
          <p:cNvPr id="6" name="Text 4"/>
          <p:cNvSpPr txBox="1"/>
          <p:nvPr/>
        </p:nvSpPr>
        <p:spPr>
          <a:xfrm>
            <a:off x="1051560"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Thirteen steps, five configurations, 280 runs, every call recorded. Open source.</a:t>
            </a:r>
            <a:endParaRPr lang="en-US" sz="1300" dirty="0"/>
          </a:p>
        </p:txBody>
      </p:sp>
      <p:sp>
        <p:nvSpPr>
          <p:cNvPr id="7" name="Text 5"/>
          <p:cNvSpPr txBox="1"/>
          <p:nvPr/>
        </p:nvSpPr>
        <p:spPr>
          <a:xfrm>
            <a:off x="6300216"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6711696"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checker we measured</a:t>
            </a:r>
            <a:endParaRPr lang="en-US" sz="1600" dirty="0"/>
          </a:p>
        </p:txBody>
      </p:sp>
      <p:sp>
        <p:nvSpPr>
          <p:cNvPr id="9" name="Text 7"/>
          <p:cNvSpPr txBox="1"/>
          <p:nvPr/>
        </p:nvSpPr>
        <p:spPr>
          <a:xfrm>
            <a:off x="6711696"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100% on every fault class in scope, no false alarms, and 30 faults nothing else could see.</a:t>
            </a:r>
            <a:endParaRPr lang="en-US" sz="1300" dirty="0"/>
          </a:p>
        </p:txBody>
      </p:sp>
      <p:sp>
        <p:nvSpPr>
          <p:cNvPr id="10" name="Text 8"/>
          <p:cNvSpPr txBox="1"/>
          <p:nvPr/>
        </p:nvSpPr>
        <p:spPr>
          <a:xfrm>
            <a:off x="640080"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051560"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control group the prior work has not got</a:t>
            </a:r>
            <a:endParaRPr lang="en-US" sz="1600" dirty="0"/>
          </a:p>
        </p:txBody>
      </p:sp>
      <p:sp>
        <p:nvSpPr>
          <p:cNvPr id="12" name="Text 10"/>
          <p:cNvSpPr txBox="1"/>
          <p:nvPr/>
        </p:nvSpPr>
        <p:spPr>
          <a:xfrm>
            <a:off x="1051560"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Which changed our own conclusion — it caught us claiming more than we could show.</a:t>
            </a:r>
            <a:endParaRPr lang="en-US" sz="1300" dirty="0"/>
          </a:p>
        </p:txBody>
      </p:sp>
      <p:sp>
        <p:nvSpPr>
          <p:cNvPr id="13" name="Text 11"/>
          <p:cNvSpPr txBox="1"/>
          <p:nvPr/>
        </p:nvSpPr>
        <p:spPr>
          <a:xfrm>
            <a:off x="6300216"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6711696"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finding about the field</a:t>
            </a:r>
            <a:endParaRPr lang="en-US" sz="1600" dirty="0"/>
          </a:p>
        </p:txBody>
      </p:sp>
      <p:sp>
        <p:nvSpPr>
          <p:cNvPr id="15" name="Text 13"/>
          <p:cNvSpPr txBox="1"/>
          <p:nvPr/>
        </p:nvSpPr>
        <p:spPr>
          <a:xfrm>
            <a:off x="6711696"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The mistake behind prior work's biggest win has largely stopped happening.</a:t>
            </a:r>
            <a:endParaRPr lang="en-US" sz="1300" dirty="0"/>
          </a:p>
        </p:txBody>
      </p:sp>
      <p:sp>
        <p:nvSpPr>
          <p:cNvPr id="16" name="Shape 14"/>
          <p:cNvSpPr/>
          <p:nvPr/>
        </p:nvSpPr>
        <p:spPr>
          <a:xfrm>
            <a:off x="640080" y="5074920"/>
            <a:ext cx="10908792" cy="1005840"/>
          </a:xfrm>
          <a:prstGeom prst="roundRect">
            <a:avLst>
              <a:gd name="adj" fmla="val 7273"/>
            </a:avLst>
          </a:prstGeom>
          <a:solidFill>
            <a:srgbClr val="1D3055"/>
          </a:solidFill>
          <a:ln w="12700">
            <a:solidFill>
              <a:srgbClr val="2B4470"/>
            </a:solidFill>
            <a:prstDash val="solid"/>
          </a:ln>
        </p:spPr>
      </p:sp>
      <p:sp>
        <p:nvSpPr>
          <p:cNvPr id="17" name="Text 15"/>
          <p:cNvSpPr txBox="1"/>
          <p:nvPr/>
        </p:nvSpPr>
        <p:spPr>
          <a:xfrm>
            <a:off x="914400" y="5175504"/>
            <a:ext cx="10360152" cy="8229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We built the tool, showed that it works, and showed that it is not needed much any more. Only the second half of that was a surprise.</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19456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3108960"/>
            <a:ext cx="6858000" cy="457200"/>
          </a:xfrm>
          <a:prstGeom prst="rect">
            <a:avLst/>
          </a:prstGeom>
          <a:noFill/>
          <a:ln/>
        </p:spPr>
        <p:txBody>
          <a:bodyPr wrap="square" lIns="0" tIns="0" rIns="0" bIns="0" rtlCol="0" anchor="ctr"/>
          <a:lstStyle/>
          <a:p>
            <a:pPr indent="0" marL="0">
              <a:buNone/>
            </a:pPr>
            <a:r>
              <a:rPr lang="en-US" sz="1700" dirty="0">
                <a:solidFill>
                  <a:srgbClr val="8FB4E8"/>
                </a:solidFill>
                <a:latin typeface="Calibri" pitchFamily="34" charset="0"/>
                <a:ea typeface="Calibri" pitchFamily="34" charset="-122"/>
                <a:cs typeface="Calibri" pitchFamily="34" charset="-120"/>
              </a:rPr>
              <a:t>Happy to take questions.</a:t>
            </a:r>
            <a:endParaRPr lang="en-US" sz="1700" dirty="0"/>
          </a:p>
        </p:txBody>
      </p:sp>
      <p:sp>
        <p:nvSpPr>
          <p:cNvPr id="4" name="Text 2"/>
          <p:cNvSpPr txBox="1"/>
          <p:nvPr/>
        </p:nvSpPr>
        <p:spPr>
          <a:xfrm>
            <a:off x="64008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280</a:t>
            </a:r>
            <a:endParaRPr lang="en-US" sz="3400" dirty="0"/>
          </a:p>
        </p:txBody>
      </p:sp>
      <p:sp>
        <p:nvSpPr>
          <p:cNvPr id="5" name="Text 3"/>
          <p:cNvSpPr txBox="1"/>
          <p:nvPr/>
        </p:nvSpPr>
        <p:spPr>
          <a:xfrm>
            <a:off x="64008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runs, 4 sweeps</a:t>
            </a:r>
            <a:endParaRPr lang="en-US" sz="1300" dirty="0"/>
          </a:p>
        </p:txBody>
      </p:sp>
      <p:sp>
        <p:nvSpPr>
          <p:cNvPr id="6" name="Text 4"/>
          <p:cNvSpPr txBox="1"/>
          <p:nvPr/>
        </p:nvSpPr>
        <p:spPr>
          <a:xfrm>
            <a:off x="329184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215</a:t>
            </a:r>
            <a:endParaRPr lang="en-US" sz="3400" dirty="0"/>
          </a:p>
        </p:txBody>
      </p:sp>
      <p:sp>
        <p:nvSpPr>
          <p:cNvPr id="7" name="Text 5"/>
          <p:cNvSpPr txBox="1"/>
          <p:nvPr/>
        </p:nvSpPr>
        <p:spPr>
          <a:xfrm>
            <a:off x="329184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injected faults</a:t>
            </a:r>
            <a:endParaRPr lang="en-US" sz="1300" dirty="0"/>
          </a:p>
        </p:txBody>
      </p:sp>
      <p:sp>
        <p:nvSpPr>
          <p:cNvPr id="8" name="Text 6"/>
          <p:cNvSpPr txBox="1"/>
          <p:nvPr/>
        </p:nvSpPr>
        <p:spPr>
          <a:xfrm>
            <a:off x="594360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~$16.50</a:t>
            </a:r>
            <a:endParaRPr lang="en-US" sz="3400" dirty="0"/>
          </a:p>
        </p:txBody>
      </p:sp>
      <p:sp>
        <p:nvSpPr>
          <p:cNvPr id="9" name="Text 7"/>
          <p:cNvSpPr txBox="1"/>
          <p:nvPr/>
        </p:nvSpPr>
        <p:spPr>
          <a:xfrm>
            <a:off x="594360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total compute</a:t>
            </a:r>
            <a:endParaRPr lang="en-US" sz="1300" dirty="0"/>
          </a:p>
        </p:txBody>
      </p:sp>
      <p:sp>
        <p:nvSpPr>
          <p:cNvPr id="10" name="Text 8"/>
          <p:cNvSpPr txBox="1"/>
          <p:nvPr/>
        </p:nvSpPr>
        <p:spPr>
          <a:xfrm>
            <a:off x="859536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48</a:t>
            </a:r>
            <a:endParaRPr lang="en-US" sz="3400" dirty="0"/>
          </a:p>
        </p:txBody>
      </p:sp>
      <p:sp>
        <p:nvSpPr>
          <p:cNvPr id="11" name="Text 9"/>
          <p:cNvSpPr txBox="1"/>
          <p:nvPr/>
        </p:nvSpPr>
        <p:spPr>
          <a:xfrm>
            <a:off x="859536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pages of report</a:t>
            </a:r>
            <a:endParaRPr lang="en-US" sz="1300" dirty="0"/>
          </a:p>
        </p:txBody>
      </p:sp>
      <p:sp>
        <p:nvSpPr>
          <p:cNvPr id="12" name="Text 10"/>
          <p:cNvSpPr txBox="1"/>
          <p:nvPr/>
        </p:nvSpPr>
        <p:spPr>
          <a:xfrm>
            <a:off x="640080" y="5806440"/>
            <a:ext cx="6858000" cy="292608"/>
          </a:xfrm>
          <a:prstGeom prst="rect">
            <a:avLst/>
          </a:prstGeom>
          <a:noFill/>
          <a:ln/>
        </p:spPr>
        <p:txBody>
          <a:bodyPr wrap="square" lIns="0" tIns="0" rIns="0" bIns="0" rtlCol="0" anchor="ctr"/>
          <a:lstStyle/>
          <a:p>
            <a:pPr indent="0" marL="0">
              <a:buNone/>
            </a:pPr>
            <a:r>
              <a:rPr lang="en-US" sz="1400" b="1" dirty="0">
                <a:solidFill>
                  <a:srgbClr val="8FB4E8"/>
                </a:solidFill>
                <a:latin typeface="Calibri" pitchFamily="34" charset="0"/>
                <a:ea typeface="Calibri" pitchFamily="34" charset="-122"/>
                <a:cs typeface="Calibri" pitchFamily="34" charset="-120"/>
              </a:rPr>
              <a:t>github.com/Sawaiz-zip/agentic-verilog-testbench</a:t>
            </a:r>
            <a:endParaRPr lang="en-US" sz="1400" dirty="0"/>
          </a:p>
        </p:txBody>
      </p:sp>
      <p:sp>
        <p:nvSpPr>
          <p:cNvPr id="13" name="Text 11"/>
          <p:cNvSpPr txBox="1"/>
          <p:nvPr/>
        </p:nvSpPr>
        <p:spPr>
          <a:xfrm>
            <a:off x="640080" y="6117336"/>
            <a:ext cx="6858000" cy="292608"/>
          </a:xfrm>
          <a:prstGeom prst="rect">
            <a:avLst/>
          </a:prstGeom>
          <a:noFill/>
          <a:ln/>
        </p:spPr>
        <p:txBody>
          <a:bodyPr wrap="square" lIns="0" tIns="0" rIns="0" bIns="0" rtlCol="0" anchor="ctr"/>
          <a:lstStyle/>
          <a:p>
            <a:pPr indent="0" marL="0">
              <a:buNone/>
            </a:pPr>
            <a:r>
              <a:rPr lang="en-US" sz="1200" dirty="0">
                <a:solidFill>
                  <a:srgbClr val="A8B6CE"/>
                </a:solidFill>
                <a:latin typeface="Calibri" pitchFamily="34" charset="0"/>
                <a:ea typeface="Calibri" pitchFamily="34" charset="-122"/>
                <a:cs typeface="Calibri" pitchFamily="34" charset="-120"/>
              </a:rPr>
              <a:t>Every number in this talk traces back to the raw run records.</a:t>
            </a:r>
            <a:endParaRPr lang="en-US" sz="1200" dirty="0"/>
          </a:p>
        </p:txBody>
      </p:sp>
      <p:pic>
        <p:nvPicPr>
          <p:cNvPr id="14" name="Image 0" descr="/Users/sawaiznaveed/Ilmenau Uni/ResearchProject/docs/figures/shots/results-md.jpg">    </p:cNvPr>
          <p:cNvPicPr>
            <a:picLocks noChangeAspect="1"/>
          </p:cNvPicPr>
          <p:nvPr/>
        </p:nvPicPr>
        <p:blipFill>
          <a:blip r:embed="rId1"/>
          <a:stretch>
            <a:fillRect/>
          </a:stretch>
        </p:blipFill>
        <p:spPr>
          <a:xfrm>
            <a:off x="7772400" y="2103120"/>
            <a:ext cx="3776472" cy="18836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LLM-Driven Verilog Testbench Generation</dc:title>
  <dc:subject>PptxGenJS Presentation</dc:subject>
  <dc:creator>Muhammad Sawaiz Naveed</dc:creator>
  <cp:lastModifiedBy>Muhammad Sawaiz Naveed</cp:lastModifiedBy>
  <cp:revision>1</cp:revision>
  <dcterms:created xsi:type="dcterms:W3CDTF">2026-09-24T01:59:24Z</dcterms:created>
  <dcterms:modified xsi:type="dcterms:W3CDTF">2026-09-24T01:59:24Z</dcterms:modified>
</cp:coreProperties>
</file>