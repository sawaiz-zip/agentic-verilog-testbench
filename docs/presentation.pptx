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This project is about testing circuits — specifically, getting an AI to write the test programme, and then catching its mistakes before we run anything.
PLAN: I will show you the problem, then walk the pipeline node by node, then the results. About twenty minutes.
TIMING: if you are past 3 minutes when you leave slide 3, speed up the node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words I will use throughout, before anything else.
A circuit — the DUT, device under test — is a hardware design in Verilog. Verilog is not a programming language in the usual sense. It does not run line by line; it describes wires and gates operating simultaneously, and it eventually becomes actual silicon.
A testbench is a second piece of Verilog whose only job is to test the first. Feed inputs in, watch the outputs, compare against what should have happened, print PASS or FAIL.
Writing these by hand is most of the work in verification. That is why people want an AI to do it — and this project is about the mistakes it makes when it does.
THE BOX: a testbench is itself a test, and a test can be written badly. It can run happily, report success, and have checked almost nothing. Hold onto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Verification is about sixty percent of the effort in chip design. AI can write these test programmes now, but they are often valid code that tests the wrong thing — and the only way to find out is to run a full simulation.
THEN THE BOX, SLOWLY: if a testbench stops checking one of the outputs, running it PASSES. It is not looking any more. So simulation can never find that particular mistake. That is the gap this project goes after.
This one sentence is the reason the whole project exists. Pause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questions drive the project.
One — what kinds of mistake does an AI actually make, and which can you find without running anything?
Two — how far can reading the code narrow a mistake down?
Three — can the AI use that diagnosis to fix itself, and is it better than just letting the compiler tell it?
Four — what does it cost, and is it worth it?
I come back to all four at the end with the answers. Do not answer them now — just plant them.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builds directly on a 2024 paper called AutoBench. They built a six-stage AI pipeline that writes testbenches, and it works reasonably well.
Two things they do not do. First, they never actually read the Verilog they produce — their error detection is text search and compiler messages. Second, they have no control group, and I will come back to why that matters.
Those two gaps are exactly what this project adds.
IF ASKED why build on AutoBench: it is the closest prior work on this exact task and it uses the standard benchmark, so our numbers sit on the same ground as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the whole thing. On the left is AutoBench's design; on the right is ours. Most of it is theirs and I want to be clear about that — the four highlighted boxes are what we added.
Do not read the boxes out. Point at the four blue ones, then move on. The next thirteen slides cover them one at a time.
TIMING: leave this slide by 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step just sorts the circuit into one of two kinds. Does it remember anything, or not? A calculator does not — two plus three is five, always. A counter does — the answer depends on how many times you pressed the button.
This matters because everything downstream changes depending on the answer.
We use the cheap model here — it is a yes-or-no question from a paragraph of English, so paying for the expensive one would be waste.
IF ASKED how AutoBench does it: they get the AI to write a sample of the circuit and then text-search it for a clock. We just ask the model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first thing that is ours — AutoBench never generates the design, only the test.
Why do it? Two reasons. It is the realistic flow. And it keeps marking honest: if the AI could see the correct circuit while writing the test, it could just copy the answers. So the correct circuit stays locked away until the very end.
THE ISSUE, SAY IT HERE: there is a consequence. For most of the pipeline we are working with the AI's own version of the circuit, and only at marking do we swap in the real one. So two versions are in play. We measured how far apart they get — 273 of 280 match exactly. The seven that do not are all one circuit, where the AI added a clock and reset pin that the real design does not have.
IF PUSHED: that comparison is on the pin interface, not on behaviour — we did not run an equivalence check. And the one circuit where it went wrong is the same one that shows up later in the repair story, so it is a single known case, not a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one turns the English description into a structured checklist — the pin names, the widths, the timing.
Why bother? Because later steps ask what pins exist dozens of times, and if you re-read English prose every time, the AI can answer slightly differently each time. Pin it down once and everything downstream agrees.
This one is straight out of AutoBench. Keep it quick — nothing interesting happened here and that is worth saying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the AI plans what to test, as a list of named situations. Reset clears the counter. It wraps at the maximum. And so on.
The names matter more than they look. They get printed in the output as PASS or FAIL next to the name, so when a run fails we know which behaviour broke — not just that something did. All our failure analysis depends on that.
We get about eight of these per run. Remember that number — it comes back.
IF ASKED about the eight: on a circuit with ten input bits there are over a thousand input combinations, so eight test cases is a thin sample. That is the honest explanation for why our mutant-detection score drops on the bigger benchmark circuits. It is in the report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main event — the actual test programme, in Verilog. It feeds inputs in, watches what comes out, and prints PASS or FAIL for each of the scenarios from the previous step.
Nearly everything it writes compiles — 92.5%. But compiling is the easy part. Only about a third of them actually pass against the real circuit, and that gap is where the interesting part of this project lives.
We use the strong model here. Writing correct hardware code is genuinely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Alongside the testbench we also generate a small Python checker. These two run at the same time, in parallel, because neither needs the other's output — it saves wall-clock time.
IF ASKED how this differs from AutoBench: theirs is a bigger split. Their Verilog only drives the circuit and dumps everything into a text file, and their Python does all the judging. Ours is a self-checking testbench — the Verilog decides PASS or FAIL itself. Ours is simpler and closer to what engineers actually write. Theirs separates the stimulus from the checking, which in principle lets the checking be more thorough. We did not test which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one does nothing — it is a waiting point. The two previous steps run in parallel, so something has to wait for both before we continue.
Move fast here. Fifteen seconds. It is on its own slide for completeness, not because it is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step is plain Python, no AI at all. It inserts a missing print statement, or starts a clock that was declared but never ticks. There is one correct answer to both, so a script beats a model — it is faster, free, and predictable.
THE INTERESTING BIT: AutoBench has the same idea, and for them it was the single biggest improvement in the whole paper — it took their sequential compile rate from 55 percent to 97. Forty-two points.
Ours fired six times in a hundred and eighty-eight runs. Almost nothing.
That is not because our version is worse. It is because the mistake it fixes has stopped happening — current models do not forget to print their outputs any more. I will show you the number that proves that later.
IF ASKED for the proof now: the 182 runs where our script never fired at all still compile at 90.7 percent, against AutoBench's 55.5 without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heart of the project. It reads the testbench and the circuit as structure rather than as text, and runs six checks — without running anything.
The six are things like: is a pin wired to the wrong name, does a signal width match the pin, is an input never given a value. Two of them are the important ones: is there an output nobody ever checks, and for clocked circuits, is there an output that is never printed.
Those two are the argument for the whole project, because nothing else can catch them. If the testbench stops checking an output, running it passes.
The next slide shows how well it works. Do not give the number here — save it.
IF ASKED about coverage: the parser could only read about 60 percent of the files. The rest use newer SystemVerilog syntax it does not support, and fall back to a second parser that only checks whether the file is valid. That is a real limitation and it is in the report.
IF ASKED whether we tuned the checks: we built seven and deleted one. It caught none of the faults it was built for and raised a false alarm on a correct testbench, so we removed it rather than patch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checker produces a machine report. This step turns it into an instruction the AI can actually act on — which signal, what is wrong, what to do.
One small design point worth mentioning: it skips the AI call entirely when the report is clean. Since our reports were almost always clean, that made the static-analysis-only setting cheaper to run than doing nothing at all.
Quick slide.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When something is wrong, this step rewrites the testbench — and it is told what was wrong. Three things can trigger it: our checker, the compiler, or a failed run.
A hundred and two runs tried a repair. Twenty-six of them ended up working. About one in four.
TWO SAFEGUARDS worth naming: if the same error comes back twice we stop, because a fourth identical attempt will not suddenly work. And we keep the best version, not the last one — repair rewrites the whole file, so attempt three can be worse than attempt one. Without that, a setting that repairs more could score worse, which is not something an experiment can allow.
IF ASKED why three quarters fail: two patterns. Some regenerate a testbench that fails the exact same scenarios — the diagnosis was not acted on. Others produce a different error every single time until the budget runs out. Across fourteen multi-attempt runs, no error ever repeated. Prior work does not report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one looks strange — it rewrites the testbench and is told nothing at all about what was wrong.
Here is why it exists. Suppose our full version beats the plain one. Two explanations fit equally well: the feedback found the problem, or the AI just got a second roll of the dice. You cannot tell those apart, because the plain version never gets a second try.
So we added one that gets the second try with no information. That isolates the dice roll.
And the result: a blind second attempt is worth nothing at all. Which is useful — it means any real improvement has to be coming from the diagnosis.
AutoBench has nothing like this, so their reported improvements cannot separate those two explanations. This is the clearest methodological thing we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Finally, marking. Three levels. Does it compile — 92.5 percent. Does it pass against the real circuit — 31 percent. And does it catch deliberately broken copies of the circuit — 95 percent.
BE UP FRONT ABOUT THE LAST ONE: that 95 looks great and we report it as a limitation rather than a result. Our own test circuits are small — a one-bit flip-flop has nowhere for a bug to hide, so almost any testbench catches everything. We checked this properly rather than assuming: we regenerated the broken copies with a better model and the score moved one point. We swapped in the bigger benchmark circuits and it moved forty-four. So it is the circuits, not the test.
IF ASKED how 31 percent compares: AutoBench report 37 percent on sequential circuits, and ours are mostly sequential and the hardest quintile of their benchmark. Same range.
IF ASKED whether our 95 beats their 44.8: it does not — they measure something different. Theirs counts a problem as passed only if the testbench agrees with a reference testbench on 80 percent of the broken copies. Under their rule we get 20 percent against their 26 on sequential circuits. No ranking either way at this sample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test the checker we deliberately broke 215 testbenches in known ways and scored three things against them: our checker, the compiler, and actually running it.
Our checker finds all of every kind it was built for. No false alarms on clean testbenches.
POINT AT THE BOLD ROW: this is the one that matters. Nineteen cases where the testbench stops checking an output. We find all of them. The compiler finds none. Running it finds none — because the test passes. It is not looking any more.
The last two rows are controls. We built those faults to be impossible to spot from structure — swapping two signals of the same width, for instance. Our checker scores zero on them, exactly as predicted. We put them in so nobody has to take our word that the fault set was fair.
This is the strongest slide in the talk. Take your time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three scores side by side with theirs.
Eval0, does it compile — level. 92.5 against their 95.7, and our strong model alone reaches 98.7.
Eval1, does it actually work — 31 against their 51. But their 51 is across all circuits; on clocked circuits, which is what ours mostly are, they report 37. Comparable.
Eval2 — careful with this row. Ours says 95, theirs says 44.8, and that looks like we win by miles. We do not. They measure something different: a problem only counts as passed if the testbench agrees with a reference testbench on 80 percent of the broken copies. Apply their rule to us and we get 20 percent against their 26 on clocked circuits. At twenty circuits that establishes no ranking either way.
IF ASKED why our 95 is so high: our own circuits are too small for a bug to hide in, and we tested that rather than assuming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ran the same pipeline five ways. The only thing that changes is when it is allowed to try again.
Our full version gets 18 circuits out of 44. The plain one gets 12. Six better, looks like a clear win.
But the fair comparison is against the blind retry — the control — which gets 13. So five, not six.
AND NOW THE IMPORTANT BIT: look at the bottom pair of that comparison list. Those two settings never actually repaired anything, because our checker never fired. So they ran effectively identical logic. They still came out three circuits apart.
That means three circuits of difference happens by pure luck. A five-circuit lead against a three-circuit noise floor is not a result, and we report it as not significant rather than claiming the win.
Building that control is what caught our own overclaim. It is the part of this project I am most confident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central finding, and I want to state it plainly.
Across 280 runs, our layer triggered exactly one repair. Simulation triggered 79. The compiler triggered 10. And the setting that isolates our checker on its own repaired zero times in 44 runs.
DO NOT APOLOGISE HERE. Deliver it as a discovery:
This is not a broken tool. The previous slide showed it catches everything it was built for, with no false alarms. The mistakes it looks for have simply become rare in what current models produce.
We could only establish that because we measured the tool separately from the pipeline. Without that, this would just look like something that did not work.
IF ASKED whether our full version's lead proves the checker helps: no, and I would not claim it. That setting is also the only one that gets simulation feedback, which drove almost all the repairs. We cannot separate the two, and that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So why did the mistakes disappear? I want to separate what we measured from what we think explains it.
WHAT WE MEASURED: 87 percent of the failures we see are about meaning, not structure. And our checker fired once in 280 runs.
WHAT WE THINK EXPLAINS IT — interpretation, not measurement: structural correctness is local and repetitive. A port list, a signal width, wiring up an instance — those exact shapes appear in millions of code examples, so getting them right is pattern matching, and that is what these models became very good at.
Meaning is different. To know a counter should read 8 rather than 7 you have to work out what the circuit does over several clock cycles. That is reasoning about behaviour over time, and it is much harder.
So model progress solved the pattern half and left the reasoning half — and our tool was built for the pattern half.
THE EVIDENCE IT IS THE MODELS AND NOT US — point at the table: AutoBench had the same kind of cleanup step and it was their biggest single win, worth 42 points. On the 182 runs where ours never fired at all we still compile at 90.7 percent, against their 55.5 without theirs.
BE HONEST IF PUSHED: the measurements are solid. The explanation is a reasonable reading of them, not something we ran an experiment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Question four was cost. This is the answer.
Our full version buys the best score, at fifty percent more tokens and fifty percent more time — and as we saw, not significantly better than the control.
The value winner is compiler feedback: seven points for six percent more tokens. If you only do one thing, do that.
And our own layer costs essentially nothing — it is deterministic, milliseconds, no model call. It is actually slightly cheaper than doing nothing, because we skip the reasoning step when the report comes back clean.
So the cost answer is nuanced: our layer is nearly free and nearly useless against current models. Those are not in tension — free means there is little reason to remove it, in case a weaker or older model is the one generating.
The whole project cost about sixteen dollars fifty.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Back to the four questions.
One — what mistakes, and which are findable without running. Six kinds, and we now know 87 percent of real failures are about meaning rather than structure.
Two — how far can reading the code narrow them down. Completely, for what it targets. Every class it was built for, no false alarms.
Three — can the AI repair itself from that diagnosis. Rarely, because the diagnosis almost never fires. Simulation feedback does essentially all the repair work. That is a negative answer and it is the most interesting thing in the project.
Four — cost. Our layer is nearly free; compiler feedback is the best value.
All four answered. One negatively — and a negative answer with a validated instrument behind it is worth more than a positive one without.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things this project contributes.
A working pipeline, open source, with every AI call recorded. A checker we actually measured rather than asserted. A control group the prior work does not have — which changed our own conclusion. And a finding about the field: the mistake behind prior work's biggest win has largely stopped happening.
READ THE BOTTOM LINE OUT: we built the tool, showed that it works, and showed that it is not needed much any more. Only the second half of that was a surprise.
IF ASKED whether the project succeeded: yes, and I would put it precisely. We set out to find whether you can localise testbench errors before simulation. You can — completely, for the faults it targets, including ones nothing else sees. But against current models there is not much left to find. We can say that with confidence rather than as a guess, because we validated the tool separately and ran a control group. A measured negative is worth more than an unmeasured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is the published results page — point at it if someone asks whether the numbers are reproducible.
QUESTIONS YOU ARE LIKELY TO GET, and where the answer lives:
· “Did you beat AutoBench?” — no, and we do not claim to. Different model, different sample, and their Eval2 measures something else. See the evaluate slide.
· “Is static analysis useless then?” — not in general. It costs almost nothing, both findings we did get were real, and smaller or older models are untested. What we rule out is treating it as the primary defence against current frontier models.
· “Why is your sample so small?” — budget. 280 runs at about sixteen dollars. We chose the hardest fifth of the benchmark deliberately so the checks could fire.
· “What would you do next?” — three things: enforce that every planned scenario reaches the testbench, which AutoBench does and we do not; bigger circuits so the mutant score discriminates; and a fuller Verilog parser so the checker can read every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A"/>
        </a:solidFill>
      </p:bgPr>
    </p:bg>
    <p:spTree>
      <p:nvGrpSpPr>
        <p:cNvPr id="1" name=""/>
        <p:cNvGrpSpPr/>
        <p:nvPr/>
      </p:nvGrpSpPr>
      <p:grpSpPr>
        <a:xfrm>
          <a:off x="0" y="0"/>
          <a:ext cx="0" cy="0"/>
          <a:chOff x="0" y="0"/>
          <a:chExt cx="0" cy="0"/>
        </a:xfrm>
      </p:grpSpPr>
      <p:sp>
        <p:nvSpPr>
          <p:cNvPr id="2" name="Text 0"/>
          <p:cNvSpPr txBox="1"/>
          <p:nvPr/>
        </p:nvSpPr>
        <p:spPr>
          <a:xfrm>
            <a:off x="640080" y="2057400"/>
            <a:ext cx="10908792"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LLM-Driven Verilog Testbench Generation</a:t>
            </a:r>
            <a:endParaRPr lang="en-US" sz="4000" dirty="0"/>
          </a:p>
        </p:txBody>
      </p:sp>
      <p:sp>
        <p:nvSpPr>
          <p:cNvPr id="3" name="Text 1"/>
          <p:cNvSpPr txBox="1"/>
          <p:nvPr/>
        </p:nvSpPr>
        <p:spPr>
          <a:xfrm>
            <a:off x="640080" y="2788920"/>
            <a:ext cx="10908792" cy="548640"/>
          </a:xfrm>
          <a:prstGeom prst="rect">
            <a:avLst/>
          </a:prstGeom>
          <a:noFill/>
          <a:ln/>
        </p:spPr>
        <p:txBody>
          <a:bodyPr wrap="square" lIns="0" tIns="0" rIns="0" bIns="0" rtlCol="0" anchor="ctr"/>
          <a:lstStyle/>
          <a:p>
            <a:pPr indent="0" marL="0">
              <a:buNone/>
            </a:pPr>
            <a:r>
              <a:rPr lang="en-US" sz="2700" dirty="0">
                <a:solidFill>
                  <a:srgbClr val="8FB4E8"/>
                </a:solidFill>
                <a:latin typeface="Cambria" pitchFamily="34" charset="0"/>
                <a:ea typeface="Cambria" pitchFamily="34" charset="-122"/>
                <a:cs typeface="Cambria" pitchFamily="34" charset="-120"/>
              </a:rPr>
              <a:t>with Pyverilog-Based Early Error Localization</a:t>
            </a:r>
            <a:endParaRPr lang="en-US" sz="2700" dirty="0"/>
          </a:p>
        </p:txBody>
      </p:sp>
      <p:sp>
        <p:nvSpPr>
          <p:cNvPr id="4" name="Text 2"/>
          <p:cNvSpPr txBox="1"/>
          <p:nvPr/>
        </p:nvSpPr>
        <p:spPr>
          <a:xfrm>
            <a:off x="640080" y="4114800"/>
            <a:ext cx="6400800"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Muhammad Sawaiz Naveed</a:t>
            </a:r>
            <a:endParaRPr lang="en-US" sz="1700" dirty="0"/>
          </a:p>
        </p:txBody>
      </p:sp>
      <p:sp>
        <p:nvSpPr>
          <p:cNvPr id="5" name="Text 3"/>
          <p:cNvSpPr txBox="1"/>
          <p:nvPr/>
        </p:nvSpPr>
        <p:spPr>
          <a:xfrm>
            <a:off x="640080" y="4443984"/>
            <a:ext cx="7315200" cy="310896"/>
          </a:xfrm>
          <a:prstGeom prst="rect">
            <a:avLst/>
          </a:prstGeom>
          <a:noFill/>
          <a:ln/>
        </p:spPr>
        <p:txBody>
          <a:bodyPr wrap="square" lIns="0" tIns="0" rIns="0" bIns="0" rtlCol="0" anchor="ctr"/>
          <a:lstStyle/>
          <a:p>
            <a:pPr indent="0" marL="0">
              <a:buNone/>
            </a:pPr>
            <a:r>
              <a:rPr lang="en-US" sz="1400" dirty="0">
                <a:solidFill>
                  <a:srgbClr val="A8B6CE"/>
                </a:solidFill>
                <a:latin typeface="Calibri" pitchFamily="34" charset="0"/>
                <a:ea typeface="Calibri" pitchFamily="34" charset="-122"/>
                <a:cs typeface="Calibri" pitchFamily="34" charset="-120"/>
              </a:rPr>
              <a:t>Supervisor: Bing Wen  ·  TU Ilmenau  ·  Research Project S6.ReKI.1</a:t>
            </a:r>
            <a:endParaRPr lang="en-US" sz="1400" dirty="0"/>
          </a:p>
        </p:txBody>
      </p:sp>
      <p:sp>
        <p:nvSpPr>
          <p:cNvPr id="6" name="Shape 4"/>
          <p:cNvSpPr/>
          <p:nvPr/>
        </p:nvSpPr>
        <p:spPr>
          <a:xfrm>
            <a:off x="7863840" y="4133088"/>
            <a:ext cx="1371600" cy="457200"/>
          </a:xfrm>
          <a:prstGeom prst="roundRect">
            <a:avLst>
              <a:gd name="adj" fmla="val 12000"/>
            </a:avLst>
          </a:prstGeom>
          <a:solidFill>
            <a:srgbClr val="1D3055"/>
          </a:solidFill>
          <a:ln w="12700">
            <a:solidFill>
              <a:srgbClr val="2B4470"/>
            </a:solidFill>
            <a:prstDash val="solid"/>
          </a:ln>
        </p:spPr>
      </p:sp>
      <p:sp>
        <p:nvSpPr>
          <p:cNvPr id="7" name="Text 5"/>
          <p:cNvSpPr txBox="1"/>
          <p:nvPr/>
        </p:nvSpPr>
        <p:spPr>
          <a:xfrm>
            <a:off x="7863840" y="4133088"/>
            <a:ext cx="1371600" cy="457200"/>
          </a:xfrm>
          <a:prstGeom prst="rect">
            <a:avLst/>
          </a:prstGeom>
          <a:noFill/>
          <a:ln/>
        </p:spPr>
        <p:txBody>
          <a:bodyPr wrap="square" lIns="0" tIns="0" rIns="0" bIns="0" rtlCol="0" anchor="ctr"/>
          <a:lstStyle/>
          <a:p>
            <a:pPr algn="ctr" indent="0" marL="0">
              <a:buNone/>
            </a:pPr>
            <a:r>
              <a:rPr lang="en-US" sz="1200" dirty="0">
                <a:solidFill>
                  <a:srgbClr val="8FB4E8"/>
                </a:solidFill>
                <a:latin typeface="Calibri" pitchFamily="34" charset="0"/>
                <a:ea typeface="Calibri" pitchFamily="34" charset="-122"/>
                <a:cs typeface="Calibri" pitchFamily="34" charset="-120"/>
              </a:rPr>
              <a:t>280 runs</a:t>
            </a:r>
            <a:endParaRPr lang="en-US" sz="1200" dirty="0"/>
          </a:p>
        </p:txBody>
      </p:sp>
      <p:sp>
        <p:nvSpPr>
          <p:cNvPr id="8" name="Shape 6"/>
          <p:cNvSpPr/>
          <p:nvPr/>
        </p:nvSpPr>
        <p:spPr>
          <a:xfrm>
            <a:off x="9326880" y="4133088"/>
            <a:ext cx="1371600" cy="457200"/>
          </a:xfrm>
          <a:prstGeom prst="roundRect">
            <a:avLst>
              <a:gd name="adj" fmla="val 12000"/>
            </a:avLst>
          </a:prstGeom>
          <a:solidFill>
            <a:srgbClr val="1D3055"/>
          </a:solidFill>
          <a:ln w="12700">
            <a:solidFill>
              <a:srgbClr val="2B4470"/>
            </a:solidFill>
            <a:prstDash val="solid"/>
          </a:ln>
        </p:spPr>
      </p:sp>
      <p:sp>
        <p:nvSpPr>
          <p:cNvPr id="9" name="Text 7"/>
          <p:cNvSpPr txBox="1"/>
          <p:nvPr/>
        </p:nvSpPr>
        <p:spPr>
          <a:xfrm>
            <a:off x="9326880" y="4133088"/>
            <a:ext cx="1371600" cy="457200"/>
          </a:xfrm>
          <a:prstGeom prst="rect">
            <a:avLst/>
          </a:prstGeom>
          <a:noFill/>
          <a:ln/>
        </p:spPr>
        <p:txBody>
          <a:bodyPr wrap="square" lIns="0" tIns="0" rIns="0" bIns="0" rtlCol="0" anchor="ctr"/>
          <a:lstStyle/>
          <a:p>
            <a:pPr algn="ctr" indent="0" marL="0">
              <a:buNone/>
            </a:pPr>
            <a:r>
              <a:rPr lang="en-US" sz="1200" dirty="0">
                <a:solidFill>
                  <a:srgbClr val="8FB4E8"/>
                </a:solidFill>
                <a:latin typeface="Calibri" pitchFamily="34" charset="0"/>
                <a:ea typeface="Calibri" pitchFamily="34" charset="-122"/>
                <a:cs typeface="Calibri" pitchFamily="34" charset="-120"/>
              </a:rPr>
              <a:t>215 injected faults</a:t>
            </a:r>
            <a:endParaRPr lang="en-US" sz="1200" dirty="0"/>
          </a:p>
        </p:txBody>
      </p:sp>
      <p:sp>
        <p:nvSpPr>
          <p:cNvPr id="10" name="Shape 8"/>
          <p:cNvSpPr/>
          <p:nvPr/>
        </p:nvSpPr>
        <p:spPr>
          <a:xfrm>
            <a:off x="10789920" y="4133088"/>
            <a:ext cx="1371600" cy="457200"/>
          </a:xfrm>
          <a:prstGeom prst="roundRect">
            <a:avLst>
              <a:gd name="adj" fmla="val 12000"/>
            </a:avLst>
          </a:prstGeom>
          <a:solidFill>
            <a:srgbClr val="1D3055"/>
          </a:solidFill>
          <a:ln w="12700">
            <a:solidFill>
              <a:srgbClr val="2B4470"/>
            </a:solidFill>
            <a:prstDash val="solid"/>
          </a:ln>
        </p:spPr>
      </p:sp>
      <p:sp>
        <p:nvSpPr>
          <p:cNvPr id="11" name="Text 9"/>
          <p:cNvSpPr txBox="1"/>
          <p:nvPr/>
        </p:nvSpPr>
        <p:spPr>
          <a:xfrm>
            <a:off x="10789920" y="4133088"/>
            <a:ext cx="1371600" cy="457200"/>
          </a:xfrm>
          <a:prstGeom prst="rect">
            <a:avLst/>
          </a:prstGeom>
          <a:noFill/>
          <a:ln/>
        </p:spPr>
        <p:txBody>
          <a:bodyPr wrap="square" lIns="0" tIns="0" rIns="0" bIns="0" rtlCol="0" anchor="ctr"/>
          <a:lstStyle/>
          <a:p>
            <a:pPr algn="ctr" indent="0" marL="0">
              <a:buNone/>
            </a:pPr>
            <a:r>
              <a:rPr lang="en-US" sz="1200" dirty="0">
                <a:solidFill>
                  <a:srgbClr val="8FB4E8"/>
                </a:solidFill>
                <a:latin typeface="Calibri" pitchFamily="34" charset="0"/>
                <a:ea typeface="Calibri" pitchFamily="34" charset="-122"/>
                <a:cs typeface="Calibri" pitchFamily="34" charset="-120"/>
              </a:rPr>
              <a:t>4 sweeps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BACKGROUND</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is a testbench?</a:t>
            </a:r>
            <a:endParaRPr lang="en-US" sz="3000" dirty="0"/>
          </a:p>
        </p:txBody>
      </p:sp>
      <p:sp>
        <p:nvSpPr>
          <p:cNvPr id="4" name="Text 2"/>
          <p:cNvSpPr txBox="1"/>
          <p:nvPr/>
        </p:nvSpPr>
        <p:spPr>
          <a:xfrm>
            <a:off x="640080" y="1005840"/>
            <a:ext cx="10908792" cy="365760"/>
          </a:xfrm>
          <a:prstGeom prst="rect">
            <a:avLst/>
          </a:prstGeom>
          <a:noFill/>
          <a:ln/>
        </p:spPr>
        <p:txBody>
          <a:bodyPr wrap="square" lIns="0" tIns="0" rIns="0" bIns="0" rtlCol="0" anchor="ctr"/>
          <a:lstStyle/>
          <a:p>
            <a:pPr indent="0" marL="0">
              <a:buNone/>
            </a:pPr>
            <a:r>
              <a:rPr lang="en-US" sz="1500" dirty="0">
                <a:solidFill>
                  <a:srgbClr val="7A7974"/>
                </a:solidFill>
                <a:latin typeface="Calibri" pitchFamily="34" charset="0"/>
                <a:ea typeface="Calibri" pitchFamily="34" charset="-122"/>
                <a:cs typeface="Calibri" pitchFamily="34" charset="-120"/>
              </a:rPr>
              <a:t>The thing this project gets an AI to write</a:t>
            </a:r>
            <a:endParaRPr lang="en-US" sz="1500" dirty="0"/>
          </a:p>
        </p:txBody>
      </p:sp>
      <p:sp>
        <p:nvSpPr>
          <p:cNvPr id="5" name="Shape 3"/>
          <p:cNvSpPr/>
          <p:nvPr/>
        </p:nvSpPr>
        <p:spPr>
          <a:xfrm>
            <a:off x="640080" y="1600200"/>
            <a:ext cx="5225796" cy="3108960"/>
          </a:xfrm>
          <a:prstGeom prst="roundRect">
            <a:avLst>
              <a:gd name="adj" fmla="val 2353"/>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6" name="Text 4"/>
          <p:cNvSpPr txBox="1"/>
          <p:nvPr/>
        </p:nvSpPr>
        <p:spPr>
          <a:xfrm>
            <a:off x="877824" y="1764792"/>
            <a:ext cx="4768596" cy="329184"/>
          </a:xfrm>
          <a:prstGeom prst="rect">
            <a:avLst/>
          </a:prstGeom>
          <a:noFill/>
          <a:ln/>
        </p:spPr>
        <p:txBody>
          <a:bodyPr wrap="square" lIns="0" tIns="0" rIns="0" bIns="0" rtlCol="0" anchor="ctr"/>
          <a:lstStyle/>
          <a:p>
            <a:pPr indent="0" marL="0">
              <a:buNone/>
            </a:pPr>
            <a:r>
              <a:rPr lang="en-US" sz="1900" b="1" dirty="0">
                <a:solidFill>
                  <a:srgbClr val="0B0B0B"/>
                </a:solidFill>
                <a:latin typeface="Cambria" pitchFamily="34" charset="0"/>
                <a:ea typeface="Cambria" pitchFamily="34" charset="-122"/>
                <a:cs typeface="Cambria" pitchFamily="34" charset="-120"/>
              </a:rPr>
              <a:t>The circuit  —  the DUT</a:t>
            </a:r>
            <a:endParaRPr lang="en-US" sz="1900" dirty="0"/>
          </a:p>
        </p:txBody>
      </p:sp>
      <p:sp>
        <p:nvSpPr>
          <p:cNvPr id="7" name="Text 5"/>
          <p:cNvSpPr txBox="1"/>
          <p:nvPr/>
        </p:nvSpPr>
        <p:spPr>
          <a:xfrm>
            <a:off x="877824" y="2167128"/>
            <a:ext cx="4750308" cy="2377440"/>
          </a:xfrm>
          <a:prstGeom prst="rect">
            <a:avLst/>
          </a:prstGeom>
          <a:noFill/>
          <a:ln/>
        </p:spPr>
        <p:txBody>
          <a:bodyPr wrap="square" lIns="0" tIns="0" rIns="0" bIns="0" rtlCol="0" anchor="t"/>
          <a:lstStyle/>
          <a:p>
            <a:pPr indent="0" marL="0">
              <a:lnSpc>
                <a:spcPct val="120000"/>
              </a:lnSpc>
              <a:buNone/>
            </a:pPr>
            <a:r>
              <a:rPr lang="en-US" sz="1500" dirty="0">
                <a:solidFill>
                  <a:srgbClr val="52514E"/>
                </a:solidFill>
                <a:latin typeface="Calibri" pitchFamily="34" charset="0"/>
                <a:ea typeface="Calibri" pitchFamily="34" charset="-122"/>
                <a:cs typeface="Calibri" pitchFamily="34" charset="-120"/>
              </a:rPr>
              <a:t>A design written in Verilog, a hardware description language. Not a programme that runs line by line: a description of wires and gates that all operate at once, and eventually becomes silicon.</a:t>
            </a:r>
            <a:endParaRPr lang="en-US" sz="1500" dirty="0"/>
          </a:p>
          <a:p>
            <a:pPr indent="0" marL="0">
              <a:lnSpc>
                <a:spcPct val="120000"/>
              </a:lnSpc>
              <a:buNone/>
            </a:pPr>
            <a:endParaRPr lang="en-US" sz="1500" dirty="0"/>
          </a:p>
          <a:p>
            <a:pPr indent="0" marL="0">
              <a:lnSpc>
                <a:spcPct val="120000"/>
              </a:lnSpc>
              <a:buNone/>
            </a:pPr>
            <a:r>
              <a:rPr lang="en-US" sz="1500" dirty="0">
                <a:solidFill>
                  <a:srgbClr val="52514E"/>
                </a:solidFill>
                <a:latin typeface="Calibri" pitchFamily="34" charset="0"/>
                <a:ea typeface="Calibri" pitchFamily="34" charset="-122"/>
                <a:cs typeface="Calibri" pitchFamily="34" charset="-120"/>
              </a:rPr>
              <a:t>Engineers call it the DUT — the device under test.</a:t>
            </a:r>
            <a:endParaRPr lang="en-US" sz="1500" dirty="0"/>
          </a:p>
        </p:txBody>
      </p:sp>
      <p:sp>
        <p:nvSpPr>
          <p:cNvPr id="8" name="Shape 6"/>
          <p:cNvSpPr/>
          <p:nvPr/>
        </p:nvSpPr>
        <p:spPr>
          <a:xfrm>
            <a:off x="6323076" y="1600200"/>
            <a:ext cx="5225796" cy="3108960"/>
          </a:xfrm>
          <a:prstGeom prst="roundRect">
            <a:avLst>
              <a:gd name="adj" fmla="val 2353"/>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9" name="Text 7"/>
          <p:cNvSpPr txBox="1"/>
          <p:nvPr/>
        </p:nvSpPr>
        <p:spPr>
          <a:xfrm>
            <a:off x="6560820" y="1764792"/>
            <a:ext cx="4768596" cy="329184"/>
          </a:xfrm>
          <a:prstGeom prst="rect">
            <a:avLst/>
          </a:prstGeom>
          <a:noFill/>
          <a:ln/>
        </p:spPr>
        <p:txBody>
          <a:bodyPr wrap="square" lIns="0" tIns="0" rIns="0" bIns="0" rtlCol="0" anchor="ctr"/>
          <a:lstStyle/>
          <a:p>
            <a:pPr indent="0" marL="0">
              <a:buNone/>
            </a:pPr>
            <a:r>
              <a:rPr lang="en-US" sz="1900" b="1" dirty="0">
                <a:solidFill>
                  <a:srgbClr val="2A78D6"/>
                </a:solidFill>
                <a:latin typeface="Cambria" pitchFamily="34" charset="0"/>
                <a:ea typeface="Cambria" pitchFamily="34" charset="-122"/>
                <a:cs typeface="Cambria" pitchFamily="34" charset="-120"/>
              </a:rPr>
              <a:t>The testbench</a:t>
            </a:r>
            <a:endParaRPr lang="en-US" sz="1900" dirty="0"/>
          </a:p>
        </p:txBody>
      </p:sp>
      <p:sp>
        <p:nvSpPr>
          <p:cNvPr id="10" name="Text 8"/>
          <p:cNvSpPr txBox="1"/>
          <p:nvPr/>
        </p:nvSpPr>
        <p:spPr>
          <a:xfrm>
            <a:off x="6560820" y="2167128"/>
            <a:ext cx="4750308" cy="2377440"/>
          </a:xfrm>
          <a:prstGeom prst="rect">
            <a:avLst/>
          </a:prstGeom>
          <a:noFill/>
          <a:ln/>
        </p:spPr>
        <p:txBody>
          <a:bodyPr wrap="square" lIns="0" tIns="0" rIns="0" bIns="0" rtlCol="0" anchor="t"/>
          <a:lstStyle/>
          <a:p>
            <a:pPr indent="0" marL="0">
              <a:lnSpc>
                <a:spcPct val="120000"/>
              </a:lnSpc>
              <a:buNone/>
            </a:pPr>
            <a:r>
              <a:rPr lang="en-US" sz="1500" dirty="0">
                <a:solidFill>
                  <a:srgbClr val="52514E"/>
                </a:solidFill>
                <a:latin typeface="Calibri" pitchFamily="34" charset="0"/>
                <a:ea typeface="Calibri" pitchFamily="34" charset="-122"/>
                <a:cs typeface="Calibri" pitchFamily="34" charset="-120"/>
              </a:rPr>
              <a:t>A second piece of Verilog whose only job is to test the first. It feeds inputs in, watches what comes out, compares that against what should have come out, and prints PASS or FAIL.</a:t>
            </a:r>
            <a:endParaRPr lang="en-US" sz="1500" dirty="0"/>
          </a:p>
          <a:p>
            <a:pPr indent="0" marL="0">
              <a:lnSpc>
                <a:spcPct val="120000"/>
              </a:lnSpc>
              <a:buNone/>
            </a:pPr>
            <a:endParaRPr lang="en-US" sz="1500" dirty="0"/>
          </a:p>
          <a:p>
            <a:pPr indent="0" marL="0">
              <a:lnSpc>
                <a:spcPct val="120000"/>
              </a:lnSpc>
              <a:buNone/>
            </a:pPr>
            <a:r>
              <a:rPr lang="en-US" sz="1500" dirty="0">
                <a:solidFill>
                  <a:srgbClr val="52514E"/>
                </a:solidFill>
                <a:latin typeface="Calibri" pitchFamily="34" charset="0"/>
                <a:ea typeface="Calibri" pitchFamily="34" charset="-122"/>
                <a:cs typeface="Calibri" pitchFamily="34" charset="-120"/>
              </a:rPr>
              <a:t>Writing these by hand is most of the work in verification — which is why people want an AI to do it.</a:t>
            </a:r>
            <a:endParaRPr lang="en-US" sz="1500" dirty="0"/>
          </a:p>
        </p:txBody>
      </p:sp>
      <p:sp>
        <p:nvSpPr>
          <p:cNvPr id="11" name="Shape 9"/>
          <p:cNvSpPr/>
          <p:nvPr/>
        </p:nvSpPr>
        <p:spPr>
          <a:xfrm>
            <a:off x="640080" y="5779008"/>
            <a:ext cx="10908792" cy="713232"/>
          </a:xfrm>
          <a:prstGeom prst="roundRect">
            <a:avLst>
              <a:gd name="adj" fmla="val 10256"/>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2" name="Text 10"/>
          <p:cNvSpPr txBox="1"/>
          <p:nvPr/>
        </p:nvSpPr>
        <p:spPr>
          <a:xfrm>
            <a:off x="859536" y="5852160"/>
            <a:ext cx="10469880" cy="56692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A testbench is itself a test — and a test can be written badly. It can run, report success, and have checked almost nothing.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Most of the effort is testing — and the loop is slow</a:t>
            </a:r>
            <a:endParaRPr lang="en-US" sz="3000" dirty="0"/>
          </a:p>
        </p:txBody>
      </p:sp>
      <p:sp>
        <p:nvSpPr>
          <p:cNvPr id="4" name="Shape 2"/>
          <p:cNvSpPr/>
          <p:nvPr/>
        </p:nvSpPr>
        <p:spPr>
          <a:xfrm>
            <a:off x="640080" y="1234440"/>
            <a:ext cx="3453384" cy="3383280"/>
          </a:xfrm>
          <a:prstGeom prst="roundRect">
            <a:avLst>
              <a:gd name="adj" fmla="val 2162"/>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5" name="Text 3"/>
          <p:cNvSpPr txBox="1"/>
          <p:nvPr/>
        </p:nvSpPr>
        <p:spPr>
          <a:xfrm>
            <a:off x="859536" y="1417320"/>
            <a:ext cx="3014472" cy="585216"/>
          </a:xfrm>
          <a:prstGeom prst="rect">
            <a:avLst/>
          </a:prstGeom>
          <a:noFill/>
          <a:ln/>
        </p:spPr>
        <p:txBody>
          <a:bodyPr wrap="square" lIns="0" tIns="0" rIns="0" bIns="0" rtlCol="0" anchor="ctr"/>
          <a:lstStyle/>
          <a:p>
            <a:pPr indent="0" marL="0">
              <a:buNone/>
            </a:pPr>
            <a:r>
              <a:rPr lang="en-US" sz="3400" b="1" dirty="0">
                <a:solidFill>
                  <a:srgbClr val="2A78D6"/>
                </a:solidFill>
                <a:latin typeface="Cambria" pitchFamily="34" charset="0"/>
                <a:ea typeface="Cambria" pitchFamily="34" charset="-122"/>
                <a:cs typeface="Cambria" pitchFamily="34" charset="-120"/>
              </a:rPr>
              <a:t>~60%</a:t>
            </a:r>
            <a:endParaRPr lang="en-US" sz="3400" dirty="0"/>
          </a:p>
        </p:txBody>
      </p:sp>
      <p:sp>
        <p:nvSpPr>
          <p:cNvPr id="6" name="Text 4"/>
          <p:cNvSpPr txBox="1"/>
          <p:nvPr/>
        </p:nvSpPr>
        <p:spPr>
          <a:xfrm>
            <a:off x="859536" y="2075688"/>
            <a:ext cx="3014472" cy="173736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of chip design effort goes into verification, not design</a:t>
            </a:r>
            <a:endParaRPr lang="en-US" sz="1500" dirty="0"/>
          </a:p>
        </p:txBody>
      </p:sp>
      <p:sp>
        <p:nvSpPr>
          <p:cNvPr id="7" name="Text 5"/>
          <p:cNvSpPr txBox="1"/>
          <p:nvPr/>
        </p:nvSpPr>
        <p:spPr>
          <a:xfrm>
            <a:off x="859536" y="4050792"/>
            <a:ext cx="3014472" cy="384048"/>
          </a:xfrm>
          <a:prstGeom prst="rect">
            <a:avLst/>
          </a:prstGeom>
          <a:noFill/>
          <a:ln/>
        </p:spPr>
        <p:txBody>
          <a:bodyPr wrap="square" lIns="0" tIns="0" rIns="0" bIns="0" rtlCol="0" anchor="ctr"/>
          <a:lstStyle/>
          <a:p>
            <a:pPr indent="0" marL="0">
              <a:buNone/>
            </a:pPr>
            <a:r>
              <a:rPr lang="en-US" sz="1100" i="1" dirty="0">
                <a:solidFill>
                  <a:srgbClr val="7A7974"/>
                </a:solidFill>
                <a:latin typeface="Calibri" pitchFamily="34" charset="0"/>
                <a:ea typeface="Calibri" pitchFamily="34" charset="-122"/>
                <a:cs typeface="Calibri" pitchFamily="34" charset="-120"/>
              </a:rPr>
              <a:t>Foster 2022, industry survey</a:t>
            </a:r>
            <a:endParaRPr lang="en-US" sz="1100" dirty="0"/>
          </a:p>
        </p:txBody>
      </p:sp>
      <p:sp>
        <p:nvSpPr>
          <p:cNvPr id="8" name="Shape 6"/>
          <p:cNvSpPr/>
          <p:nvPr/>
        </p:nvSpPr>
        <p:spPr>
          <a:xfrm>
            <a:off x="4367784" y="1234440"/>
            <a:ext cx="3453384" cy="3383280"/>
          </a:xfrm>
          <a:prstGeom prst="roundRect">
            <a:avLst>
              <a:gd name="adj" fmla="val 2162"/>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9" name="Text 7"/>
          <p:cNvSpPr txBox="1"/>
          <p:nvPr/>
        </p:nvSpPr>
        <p:spPr>
          <a:xfrm>
            <a:off x="4587240" y="1417320"/>
            <a:ext cx="3014472" cy="585216"/>
          </a:xfrm>
          <a:prstGeom prst="rect">
            <a:avLst/>
          </a:prstGeom>
          <a:noFill/>
          <a:ln/>
        </p:spPr>
        <p:txBody>
          <a:bodyPr wrap="square" lIns="0" tIns="0" rIns="0" bIns="0" rtlCol="0" anchor="ctr"/>
          <a:lstStyle/>
          <a:p>
            <a:pPr indent="0" marL="0">
              <a:buNone/>
            </a:pPr>
            <a:r>
              <a:rPr lang="en-US" sz="3400" b="1" dirty="0">
                <a:solidFill>
                  <a:srgbClr val="0B0B0B"/>
                </a:solidFill>
                <a:latin typeface="Cambria" pitchFamily="34" charset="0"/>
                <a:ea typeface="Cambria" pitchFamily="34" charset="-122"/>
                <a:cs typeface="Cambria" pitchFamily="34" charset="-120"/>
              </a:rPr>
              <a:t>valid</a:t>
            </a:r>
            <a:endParaRPr lang="en-US" sz="3400" dirty="0"/>
          </a:p>
        </p:txBody>
      </p:sp>
      <p:sp>
        <p:nvSpPr>
          <p:cNvPr id="10" name="Text 8"/>
          <p:cNvSpPr txBox="1"/>
          <p:nvPr/>
        </p:nvSpPr>
        <p:spPr>
          <a:xfrm>
            <a:off x="4587240" y="2075688"/>
            <a:ext cx="3014472" cy="173736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AI testbenches compile cleanly and still test the wrong thing</a:t>
            </a:r>
            <a:endParaRPr lang="en-US" sz="1500" dirty="0"/>
          </a:p>
        </p:txBody>
      </p:sp>
      <p:sp>
        <p:nvSpPr>
          <p:cNvPr id="11" name="Text 9"/>
          <p:cNvSpPr txBox="1"/>
          <p:nvPr/>
        </p:nvSpPr>
        <p:spPr>
          <a:xfrm>
            <a:off x="4587240" y="4050792"/>
            <a:ext cx="3014472" cy="384048"/>
          </a:xfrm>
          <a:prstGeom prst="rect">
            <a:avLst/>
          </a:prstGeom>
          <a:noFill/>
          <a:ln/>
        </p:spPr>
        <p:txBody>
          <a:bodyPr wrap="square" lIns="0" tIns="0" rIns="0" bIns="0" rtlCol="0" anchor="ctr"/>
          <a:lstStyle/>
          <a:p>
            <a:pPr indent="0" marL="0">
              <a:buNone/>
            </a:pPr>
            <a:r>
              <a:rPr lang="en-US" sz="1100" i="1" dirty="0">
                <a:solidFill>
                  <a:srgbClr val="7A7974"/>
                </a:solidFill>
                <a:latin typeface="Calibri" pitchFamily="34" charset="0"/>
                <a:ea typeface="Calibri" pitchFamily="34" charset="-122"/>
                <a:cs typeface="Calibri" pitchFamily="34" charset="-120"/>
              </a:rPr>
              <a:t>syntactically right, functionally wrong</a:t>
            </a:r>
            <a:endParaRPr lang="en-US" sz="1100" dirty="0"/>
          </a:p>
        </p:txBody>
      </p:sp>
      <p:sp>
        <p:nvSpPr>
          <p:cNvPr id="12" name="Shape 10"/>
          <p:cNvSpPr/>
          <p:nvPr/>
        </p:nvSpPr>
        <p:spPr>
          <a:xfrm>
            <a:off x="8095488" y="1234440"/>
            <a:ext cx="3453384" cy="3383280"/>
          </a:xfrm>
          <a:prstGeom prst="roundRect">
            <a:avLst>
              <a:gd name="adj" fmla="val 2162"/>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3" name="Text 11"/>
          <p:cNvSpPr txBox="1"/>
          <p:nvPr/>
        </p:nvSpPr>
        <p:spPr>
          <a:xfrm>
            <a:off x="8314944" y="1417320"/>
            <a:ext cx="3014472" cy="585216"/>
          </a:xfrm>
          <a:prstGeom prst="rect">
            <a:avLst/>
          </a:prstGeom>
          <a:noFill/>
          <a:ln/>
        </p:spPr>
        <p:txBody>
          <a:bodyPr wrap="square" lIns="0" tIns="0" rIns="0" bIns="0" rtlCol="0" anchor="ctr"/>
          <a:lstStyle/>
          <a:p>
            <a:pPr indent="0" marL="0">
              <a:buNone/>
            </a:pPr>
            <a:r>
              <a:rPr lang="en-US" sz="3400" b="1" dirty="0">
                <a:solidFill>
                  <a:srgbClr val="0B0B0B"/>
                </a:solidFill>
                <a:latin typeface="Cambria" pitchFamily="34" charset="0"/>
                <a:ea typeface="Cambria" pitchFamily="34" charset="-122"/>
                <a:cs typeface="Cambria" pitchFamily="34" charset="-120"/>
              </a:rPr>
              <a:t>slow</a:t>
            </a:r>
            <a:endParaRPr lang="en-US" sz="3400" dirty="0"/>
          </a:p>
        </p:txBody>
      </p:sp>
      <p:sp>
        <p:nvSpPr>
          <p:cNvPr id="14" name="Text 12"/>
          <p:cNvSpPr txBox="1"/>
          <p:nvPr/>
        </p:nvSpPr>
        <p:spPr>
          <a:xfrm>
            <a:off x="8314944" y="2075688"/>
            <a:ext cx="3014472" cy="173736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 only way to find out is to run a full simulation</a:t>
            </a:r>
            <a:endParaRPr lang="en-US" sz="1500" dirty="0"/>
          </a:p>
        </p:txBody>
      </p:sp>
      <p:sp>
        <p:nvSpPr>
          <p:cNvPr id="15" name="Text 13"/>
          <p:cNvSpPr txBox="1"/>
          <p:nvPr/>
        </p:nvSpPr>
        <p:spPr>
          <a:xfrm>
            <a:off x="8314944" y="4050792"/>
            <a:ext cx="3014472" cy="384048"/>
          </a:xfrm>
          <a:prstGeom prst="rect">
            <a:avLst/>
          </a:prstGeom>
          <a:noFill/>
          <a:ln/>
        </p:spPr>
        <p:txBody>
          <a:bodyPr wrap="square" lIns="0" tIns="0" rIns="0" bIns="0" rtlCol="0" anchor="ctr"/>
          <a:lstStyle/>
          <a:p>
            <a:pPr indent="0" marL="0">
              <a:buNone/>
            </a:pPr>
            <a:r>
              <a:rPr lang="en-US" sz="1100" i="1" dirty="0">
                <a:solidFill>
                  <a:srgbClr val="7A7974"/>
                </a:solidFill>
                <a:latin typeface="Calibri" pitchFamily="34" charset="0"/>
                <a:ea typeface="Calibri" pitchFamily="34" charset="-122"/>
                <a:cs typeface="Calibri" pitchFamily="34" charset="-120"/>
              </a:rPr>
              <a:t>minutes per attempt, every attempt</a:t>
            </a:r>
            <a:endParaRPr lang="en-US" sz="1100" dirty="0"/>
          </a:p>
        </p:txBody>
      </p:sp>
      <p:sp>
        <p:nvSpPr>
          <p:cNvPr id="16" name="Shape 14"/>
          <p:cNvSpPr/>
          <p:nvPr/>
        </p:nvSpPr>
        <p:spPr>
          <a:xfrm>
            <a:off x="640080" y="5779008"/>
            <a:ext cx="10908792" cy="713232"/>
          </a:xfrm>
          <a:prstGeom prst="roundRect">
            <a:avLst>
              <a:gd name="adj" fmla="val 10256"/>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7" name="Text 15"/>
          <p:cNvSpPr txBox="1"/>
          <p:nvPr/>
        </p:nvSpPr>
        <p:spPr>
          <a:xfrm>
            <a:off x="859536" y="5852160"/>
            <a:ext cx="10469880" cy="566928"/>
          </a:xfrm>
          <a:prstGeom prst="rect">
            <a:avLst/>
          </a:prstGeom>
          <a:noFill/>
          <a:ln/>
        </p:spPr>
        <p:txBody>
          <a:bodyPr wrap="square" lIns="0" tIns="0" rIns="0" bIns="0" rtlCol="0" anchor="ctr"/>
          <a:lstStyle/>
          <a:p>
            <a:pPr indent="0" marL="0">
              <a:buNone/>
            </a:pPr>
            <a:r>
              <a:rPr lang="en-US" sz="1500" b="1" dirty="0">
                <a:solidFill>
                  <a:srgbClr val="2A78D6"/>
                </a:solidFill>
                <a:latin typeface="Calibri" pitchFamily="34" charset="0"/>
                <a:ea typeface="Calibri" pitchFamily="34" charset="-122"/>
                <a:cs typeface="Calibri" pitchFamily="34" charset="-120"/>
              </a:rPr>
              <a:t>A testbench that stops checking an output PASSES — because it is no longer looking. Running it can never find that.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WHAT WE SET OUT TO ANSWER</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Four questions</a:t>
            </a:r>
            <a:endParaRPr lang="en-US" sz="3000" dirty="0"/>
          </a:p>
        </p:txBody>
      </p:sp>
      <p:sp>
        <p:nvSpPr>
          <p:cNvPr id="4" name="Shape 2"/>
          <p:cNvSpPr/>
          <p:nvPr/>
        </p:nvSpPr>
        <p:spPr>
          <a:xfrm>
            <a:off x="640080" y="1234440"/>
            <a:ext cx="10908792" cy="1024128"/>
          </a:xfrm>
          <a:prstGeom prst="roundRect">
            <a:avLst>
              <a:gd name="adj" fmla="val 7143"/>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5" name="Text 3"/>
          <p:cNvSpPr txBox="1"/>
          <p:nvPr/>
        </p:nvSpPr>
        <p:spPr>
          <a:xfrm>
            <a:off x="914400" y="1508760"/>
            <a:ext cx="914400" cy="45720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RQ1</a:t>
            </a:r>
            <a:endParaRPr lang="en-US" sz="2400" dirty="0"/>
          </a:p>
        </p:txBody>
      </p:sp>
      <p:sp>
        <p:nvSpPr>
          <p:cNvPr id="6" name="Text 4"/>
          <p:cNvSpPr txBox="1"/>
          <p:nvPr/>
        </p:nvSpPr>
        <p:spPr>
          <a:xfrm>
            <a:off x="1874520" y="1399032"/>
            <a:ext cx="9354312" cy="713232"/>
          </a:xfrm>
          <a:prstGeom prst="rect">
            <a:avLst/>
          </a:prstGeom>
          <a:noFill/>
          <a:ln/>
        </p:spPr>
        <p:txBody>
          <a:bodyPr wrap="square" lIns="0" tIns="0" rIns="0" bIns="0" rtlCol="0" anchor="ctr"/>
          <a:lstStyle/>
          <a:p>
            <a:pPr indent="0" marL="0">
              <a:lnSpc>
                <a:spcPct val="115000"/>
              </a:lnSpc>
              <a:buNone/>
            </a:pPr>
            <a:r>
              <a:rPr lang="en-US" sz="1600" dirty="0">
                <a:solidFill>
                  <a:srgbClr val="0B0B0B"/>
                </a:solidFill>
                <a:latin typeface="Calibri" pitchFamily="34" charset="0"/>
                <a:ea typeface="Calibri" pitchFamily="34" charset="-122"/>
                <a:cs typeface="Calibri" pitchFamily="34" charset="-120"/>
              </a:rPr>
              <a:t>What kinds of mistake does an AI actually make when it writes a testbench — and which of them can be found without running anything?</a:t>
            </a:r>
            <a:endParaRPr lang="en-US" sz="1600" dirty="0"/>
          </a:p>
        </p:txBody>
      </p:sp>
      <p:sp>
        <p:nvSpPr>
          <p:cNvPr id="7" name="Shape 5"/>
          <p:cNvSpPr/>
          <p:nvPr/>
        </p:nvSpPr>
        <p:spPr>
          <a:xfrm>
            <a:off x="640080" y="2404872"/>
            <a:ext cx="10908792" cy="1024128"/>
          </a:xfrm>
          <a:prstGeom prst="roundRect">
            <a:avLst>
              <a:gd name="adj" fmla="val 7143"/>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8" name="Text 6"/>
          <p:cNvSpPr txBox="1"/>
          <p:nvPr/>
        </p:nvSpPr>
        <p:spPr>
          <a:xfrm>
            <a:off x="914400" y="2679192"/>
            <a:ext cx="914400" cy="45720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RQ2</a:t>
            </a:r>
            <a:endParaRPr lang="en-US" sz="2400" dirty="0"/>
          </a:p>
        </p:txBody>
      </p:sp>
      <p:sp>
        <p:nvSpPr>
          <p:cNvPr id="9" name="Text 7"/>
          <p:cNvSpPr txBox="1"/>
          <p:nvPr/>
        </p:nvSpPr>
        <p:spPr>
          <a:xfrm>
            <a:off x="1874520" y="2569464"/>
            <a:ext cx="9354312" cy="713232"/>
          </a:xfrm>
          <a:prstGeom prst="rect">
            <a:avLst/>
          </a:prstGeom>
          <a:noFill/>
          <a:ln/>
        </p:spPr>
        <p:txBody>
          <a:bodyPr wrap="square" lIns="0" tIns="0" rIns="0" bIns="0" rtlCol="0" anchor="ctr"/>
          <a:lstStyle/>
          <a:p>
            <a:pPr indent="0" marL="0">
              <a:lnSpc>
                <a:spcPct val="115000"/>
              </a:lnSpc>
              <a:buNone/>
            </a:pPr>
            <a:r>
              <a:rPr lang="en-US" sz="1600" dirty="0">
                <a:solidFill>
                  <a:srgbClr val="0B0B0B"/>
                </a:solidFill>
                <a:latin typeface="Calibri" pitchFamily="34" charset="0"/>
                <a:ea typeface="Calibri" pitchFamily="34" charset="-122"/>
                <a:cs typeface="Calibri" pitchFamily="34" charset="-120"/>
              </a:rPr>
              <a:t>How much can reading the code, rather than running it, narrow those mistakes down?</a:t>
            </a:r>
            <a:endParaRPr lang="en-US" sz="1600" dirty="0"/>
          </a:p>
        </p:txBody>
      </p:sp>
      <p:sp>
        <p:nvSpPr>
          <p:cNvPr id="10" name="Shape 8"/>
          <p:cNvSpPr/>
          <p:nvPr/>
        </p:nvSpPr>
        <p:spPr>
          <a:xfrm>
            <a:off x="640080" y="3575304"/>
            <a:ext cx="10908792" cy="1024128"/>
          </a:xfrm>
          <a:prstGeom prst="roundRect">
            <a:avLst>
              <a:gd name="adj" fmla="val 7143"/>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1" name="Text 9"/>
          <p:cNvSpPr txBox="1"/>
          <p:nvPr/>
        </p:nvSpPr>
        <p:spPr>
          <a:xfrm>
            <a:off x="914400" y="3849624"/>
            <a:ext cx="914400" cy="45720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RQ3</a:t>
            </a:r>
            <a:endParaRPr lang="en-US" sz="2400" dirty="0"/>
          </a:p>
        </p:txBody>
      </p:sp>
      <p:sp>
        <p:nvSpPr>
          <p:cNvPr id="12" name="Text 10"/>
          <p:cNvSpPr txBox="1"/>
          <p:nvPr/>
        </p:nvSpPr>
        <p:spPr>
          <a:xfrm>
            <a:off x="1874520" y="3739896"/>
            <a:ext cx="9354312" cy="713232"/>
          </a:xfrm>
          <a:prstGeom prst="rect">
            <a:avLst/>
          </a:prstGeom>
          <a:noFill/>
          <a:ln/>
        </p:spPr>
        <p:txBody>
          <a:bodyPr wrap="square" lIns="0" tIns="0" rIns="0" bIns="0" rtlCol="0" anchor="ctr"/>
          <a:lstStyle/>
          <a:p>
            <a:pPr indent="0" marL="0">
              <a:lnSpc>
                <a:spcPct val="115000"/>
              </a:lnSpc>
              <a:buNone/>
            </a:pPr>
            <a:r>
              <a:rPr lang="en-US" sz="1600" dirty="0">
                <a:solidFill>
                  <a:srgbClr val="0B0B0B"/>
                </a:solidFill>
                <a:latin typeface="Calibri" pitchFamily="34" charset="0"/>
                <a:ea typeface="Calibri" pitchFamily="34" charset="-122"/>
                <a:cs typeface="Calibri" pitchFamily="34" charset="-120"/>
              </a:rPr>
              <a:t>Can the AI use that diagnosis to fix its own testbench — and is that better than just letting the compiler tell it?</a:t>
            </a:r>
            <a:endParaRPr lang="en-US" sz="1600" dirty="0"/>
          </a:p>
        </p:txBody>
      </p:sp>
      <p:sp>
        <p:nvSpPr>
          <p:cNvPr id="13" name="Shape 11"/>
          <p:cNvSpPr/>
          <p:nvPr/>
        </p:nvSpPr>
        <p:spPr>
          <a:xfrm>
            <a:off x="640080" y="4745736"/>
            <a:ext cx="10908792" cy="1024128"/>
          </a:xfrm>
          <a:prstGeom prst="roundRect">
            <a:avLst>
              <a:gd name="adj" fmla="val 7143"/>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4" name="Text 12"/>
          <p:cNvSpPr txBox="1"/>
          <p:nvPr/>
        </p:nvSpPr>
        <p:spPr>
          <a:xfrm>
            <a:off x="914400" y="5020056"/>
            <a:ext cx="914400" cy="45720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RQ4</a:t>
            </a:r>
            <a:endParaRPr lang="en-US" sz="2400" dirty="0"/>
          </a:p>
        </p:txBody>
      </p:sp>
      <p:sp>
        <p:nvSpPr>
          <p:cNvPr id="15" name="Text 13"/>
          <p:cNvSpPr txBox="1"/>
          <p:nvPr/>
        </p:nvSpPr>
        <p:spPr>
          <a:xfrm>
            <a:off x="1874520" y="4910328"/>
            <a:ext cx="9354312" cy="713232"/>
          </a:xfrm>
          <a:prstGeom prst="rect">
            <a:avLst/>
          </a:prstGeom>
          <a:noFill/>
          <a:ln/>
        </p:spPr>
        <p:txBody>
          <a:bodyPr wrap="square" lIns="0" tIns="0" rIns="0" bIns="0" rtlCol="0" anchor="ctr"/>
          <a:lstStyle/>
          <a:p>
            <a:pPr indent="0" marL="0">
              <a:lnSpc>
                <a:spcPct val="115000"/>
              </a:lnSpc>
              <a:buNone/>
            </a:pPr>
            <a:r>
              <a:rPr lang="en-US" sz="1600" dirty="0">
                <a:solidFill>
                  <a:srgbClr val="0B0B0B"/>
                </a:solidFill>
                <a:latin typeface="Calibri" pitchFamily="34" charset="0"/>
                <a:ea typeface="Calibri" pitchFamily="34" charset="-122"/>
                <a:cs typeface="Calibri" pitchFamily="34" charset="-120"/>
              </a:rPr>
              <a:t>What does it cost, and is it worth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WHERE WE START FROM</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AutoBench — the paper we build on</a:t>
            </a:r>
            <a:endParaRPr lang="en-US" sz="3000" dirty="0"/>
          </a:p>
        </p:txBody>
      </p:sp>
      <p:sp>
        <p:nvSpPr>
          <p:cNvPr id="4" name="Text 2"/>
          <p:cNvSpPr txBox="1"/>
          <p:nvPr/>
        </p:nvSpPr>
        <p:spPr>
          <a:xfrm>
            <a:off x="640080" y="1005840"/>
            <a:ext cx="10908792" cy="365760"/>
          </a:xfrm>
          <a:prstGeom prst="rect">
            <a:avLst/>
          </a:prstGeom>
          <a:noFill/>
          <a:ln/>
        </p:spPr>
        <p:txBody>
          <a:bodyPr wrap="square" lIns="0" tIns="0" rIns="0" bIns="0" rtlCol="0" anchor="ctr"/>
          <a:lstStyle/>
          <a:p>
            <a:pPr indent="0" marL="0">
              <a:buNone/>
            </a:pPr>
            <a:r>
              <a:rPr lang="en-US" sz="1500" dirty="0">
                <a:solidFill>
                  <a:srgbClr val="7A7974"/>
                </a:solidFill>
                <a:latin typeface="Calibri" pitchFamily="34" charset="0"/>
                <a:ea typeface="Calibri" pitchFamily="34" charset="-122"/>
                <a:cs typeface="Calibri" pitchFamily="34" charset="-120"/>
              </a:rPr>
              <a:t>Qiu et al., MLCAD 2024 · 156 benchmark circuits · GPT-4-turbo</a:t>
            </a:r>
            <a:endParaRPr lang="en-US" sz="1500" dirty="0"/>
          </a:p>
        </p:txBody>
      </p:sp>
      <p:sp>
        <p:nvSpPr>
          <p:cNvPr id="5" name="Shape 3"/>
          <p:cNvSpPr/>
          <p:nvPr/>
        </p:nvSpPr>
        <p:spPr>
          <a:xfrm>
            <a:off x="640080" y="1600200"/>
            <a:ext cx="5225796" cy="2880360"/>
          </a:xfrm>
          <a:prstGeom prst="roundRect">
            <a:avLst>
              <a:gd name="adj" fmla="val 254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6" name="Text 4"/>
          <p:cNvSpPr txBox="1"/>
          <p:nvPr/>
        </p:nvSpPr>
        <p:spPr>
          <a:xfrm>
            <a:off x="877824" y="1783080"/>
            <a:ext cx="4768596" cy="365760"/>
          </a:xfrm>
          <a:prstGeom prst="rect">
            <a:avLst/>
          </a:prstGeom>
          <a:noFill/>
          <a:ln/>
        </p:spPr>
        <p:txBody>
          <a:bodyPr wrap="square" lIns="0" tIns="0" rIns="0" bIns="0" rtlCol="0" anchor="ctr"/>
          <a:lstStyle/>
          <a:p>
            <a:pPr indent="0" marL="0">
              <a:buNone/>
            </a:pPr>
            <a:r>
              <a:rPr lang="en-US" sz="1900" b="1" dirty="0">
                <a:solidFill>
                  <a:srgbClr val="0B0B0B"/>
                </a:solidFill>
                <a:latin typeface="Cambria" pitchFamily="34" charset="0"/>
                <a:ea typeface="Cambria" pitchFamily="34" charset="-122"/>
                <a:cs typeface="Cambria" pitchFamily="34" charset="-120"/>
              </a:rPr>
              <a:t>What they built</a:t>
            </a:r>
            <a:endParaRPr lang="en-US" sz="1900" dirty="0"/>
          </a:p>
        </p:txBody>
      </p:sp>
      <p:sp>
        <p:nvSpPr>
          <p:cNvPr id="7" name="Text 5"/>
          <p:cNvSpPr txBox="1"/>
          <p:nvPr/>
        </p:nvSpPr>
        <p:spPr>
          <a:xfrm>
            <a:off x="914400" y="2286000"/>
            <a:ext cx="4677156" cy="1435608"/>
          </a:xfrm>
          <a:prstGeom prst="rect">
            <a:avLst/>
          </a:prstGeom>
          <a:noFill/>
          <a:ln/>
        </p:spPr>
        <p:txBody>
          <a:bodyPr wrap="square" lIns="0" tIns="0" rIns="0" bIns="0" rtlCol="0" anchor="ctr"/>
          <a:lstStyle/>
          <a:p>
            <a:pPr marL="342900" indent="-342900">
              <a:spcAft>
                <a:spcPts val="700"/>
              </a:spcAft>
              <a:buSzPct val="100000"/>
              <a:buChar char="•"/>
            </a:pPr>
            <a:r>
              <a:rPr lang="en-US" sz="1500" dirty="0">
                <a:solidFill>
                  <a:srgbClr val="52514E"/>
                </a:solidFill>
                <a:latin typeface="Calibri" pitchFamily="34" charset="0"/>
                <a:ea typeface="Calibri" pitchFamily="34" charset="-122"/>
                <a:cs typeface="Calibri" pitchFamily="34" charset="-120"/>
              </a:rPr>
              <a:t>A six-stage AI pipeline that writes testbenches</a:t>
            </a:r>
            <a:endParaRPr lang="en-US" sz="1500" dirty="0"/>
          </a:p>
          <a:p>
            <a:pPr marL="342900" indent="-342900">
              <a:spcAft>
                <a:spcPts val="700"/>
              </a:spcAft>
              <a:buSzPct val="100000"/>
              <a:buChar char="•"/>
            </a:pPr>
            <a:r>
              <a:rPr lang="en-US" sz="1500" dirty="0">
                <a:solidFill>
                  <a:srgbClr val="52514E"/>
                </a:solidFill>
                <a:latin typeface="Calibri" pitchFamily="34" charset="0"/>
                <a:ea typeface="Calibri" pitchFamily="34" charset="-122"/>
                <a:cs typeface="Calibri" pitchFamily="34" charset="-120"/>
              </a:rPr>
              <a:t>It retries when the compiler complains</a:t>
            </a:r>
            <a:endParaRPr lang="en-US" sz="1500" dirty="0"/>
          </a:p>
          <a:p>
            <a:pPr marL="342900" indent="-342900">
              <a:spcAft>
                <a:spcPts val="700"/>
              </a:spcAft>
              <a:buSzPct val="100000"/>
              <a:buChar char="•"/>
            </a:pPr>
            <a:r>
              <a:rPr lang="en-US" sz="1500" dirty="0">
                <a:solidFill>
                  <a:srgbClr val="52514E"/>
                </a:solidFill>
                <a:latin typeface="Calibri" pitchFamily="34" charset="0"/>
                <a:ea typeface="Calibri" pitchFamily="34" charset="-122"/>
                <a:cs typeface="Calibri" pitchFamily="34" charset="-120"/>
              </a:rPr>
              <a:t>Eval0 95.7%   ·   Eval1 51.5%   ·   Eval2 44.8%</a:t>
            </a:r>
            <a:endParaRPr lang="en-US" sz="1500" dirty="0"/>
          </a:p>
        </p:txBody>
      </p:sp>
      <p:sp>
        <p:nvSpPr>
          <p:cNvPr id="8" name="Shape 6"/>
          <p:cNvSpPr/>
          <p:nvPr/>
        </p:nvSpPr>
        <p:spPr>
          <a:xfrm>
            <a:off x="6323076" y="1600200"/>
            <a:ext cx="5225796" cy="2880360"/>
          </a:xfrm>
          <a:prstGeom prst="roundRect">
            <a:avLst>
              <a:gd name="adj" fmla="val 254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9" name="Text 7"/>
          <p:cNvSpPr txBox="1"/>
          <p:nvPr/>
        </p:nvSpPr>
        <p:spPr>
          <a:xfrm>
            <a:off x="6560820" y="1783080"/>
            <a:ext cx="4768596" cy="365760"/>
          </a:xfrm>
          <a:prstGeom prst="rect">
            <a:avLst/>
          </a:prstGeom>
          <a:noFill/>
          <a:ln/>
        </p:spPr>
        <p:txBody>
          <a:bodyPr wrap="square" lIns="0" tIns="0" rIns="0" bIns="0" rtlCol="0" anchor="ctr"/>
          <a:lstStyle/>
          <a:p>
            <a:pPr indent="0" marL="0">
              <a:buNone/>
            </a:pPr>
            <a:r>
              <a:rPr lang="en-US" sz="1900" b="1" dirty="0">
                <a:solidFill>
                  <a:srgbClr val="EB6834"/>
                </a:solidFill>
                <a:latin typeface="Cambria" pitchFamily="34" charset="0"/>
                <a:ea typeface="Cambria" pitchFamily="34" charset="-122"/>
                <a:cs typeface="Cambria" pitchFamily="34" charset="-120"/>
              </a:rPr>
              <a:t>What it does not do</a:t>
            </a:r>
            <a:endParaRPr lang="en-US" sz="1900" dirty="0"/>
          </a:p>
        </p:txBody>
      </p:sp>
      <p:sp>
        <p:nvSpPr>
          <p:cNvPr id="10" name="Text 8"/>
          <p:cNvSpPr txBox="1"/>
          <p:nvPr/>
        </p:nvSpPr>
        <p:spPr>
          <a:xfrm>
            <a:off x="6597396" y="2286000"/>
            <a:ext cx="4677156" cy="1033272"/>
          </a:xfrm>
          <a:prstGeom prst="rect">
            <a:avLst/>
          </a:prstGeom>
          <a:noFill/>
          <a:ln/>
        </p:spPr>
        <p:txBody>
          <a:bodyPr wrap="square" lIns="0" tIns="0" rIns="0" bIns="0" rtlCol="0" anchor="ctr"/>
          <a:lstStyle/>
          <a:p>
            <a:pPr marL="342900" indent="-342900">
              <a:spcAft>
                <a:spcPts val="700"/>
              </a:spcAft>
              <a:buSzPct val="100000"/>
              <a:buChar char="•"/>
            </a:pPr>
            <a:r>
              <a:rPr lang="en-US" sz="1500" dirty="0">
                <a:solidFill>
                  <a:srgbClr val="52514E"/>
                </a:solidFill>
                <a:latin typeface="Calibri" pitchFamily="34" charset="0"/>
                <a:ea typeface="Calibri" pitchFamily="34" charset="-122"/>
                <a:cs typeface="Calibri" pitchFamily="34" charset="-120"/>
              </a:rPr>
              <a:t>It never reads the Verilog it produces</a:t>
            </a:r>
            <a:endParaRPr lang="en-US" sz="1500" dirty="0"/>
          </a:p>
          <a:p>
            <a:pPr marL="342900" indent="-342900">
              <a:spcAft>
                <a:spcPts val="700"/>
              </a:spcAft>
              <a:buSzPct val="100000"/>
              <a:buChar char="•"/>
            </a:pPr>
            <a:r>
              <a:rPr lang="en-US" sz="1500" dirty="0">
                <a:solidFill>
                  <a:srgbClr val="52514E"/>
                </a:solidFill>
                <a:latin typeface="Calibri" pitchFamily="34" charset="0"/>
                <a:ea typeface="Calibri" pitchFamily="34" charset="-122"/>
                <a:cs typeface="Calibri" pitchFamily="34" charset="-120"/>
              </a:rPr>
              <a:t>It has nothing to compare against — no control group</a:t>
            </a:r>
            <a:endParaRPr lang="en-US" sz="1500" dirty="0"/>
          </a:p>
        </p:txBody>
      </p:sp>
      <p:sp>
        <p:nvSpPr>
          <p:cNvPr id="11" name="Text 9"/>
          <p:cNvSpPr txBox="1"/>
          <p:nvPr/>
        </p:nvSpPr>
        <p:spPr>
          <a:xfrm>
            <a:off x="6597396" y="3749040"/>
            <a:ext cx="4677156" cy="411480"/>
          </a:xfrm>
          <a:prstGeom prst="rect">
            <a:avLst/>
          </a:prstGeom>
          <a:noFill/>
          <a:ln/>
        </p:spPr>
        <p:txBody>
          <a:bodyPr wrap="square" lIns="0" tIns="0" rIns="0" bIns="0" rtlCol="0" anchor="ctr"/>
          <a:lstStyle/>
          <a:p>
            <a:pPr indent="0" marL="0">
              <a:buNone/>
            </a:pPr>
            <a:r>
              <a:rPr lang="en-US" sz="1600" b="1" dirty="0">
                <a:solidFill>
                  <a:srgbClr val="EB6834"/>
                </a:solidFill>
                <a:latin typeface="Calibri" pitchFamily="34" charset="0"/>
                <a:ea typeface="Calibri" pitchFamily="34" charset="-122"/>
                <a:cs typeface="Calibri" pitchFamily="34" charset="-120"/>
              </a:rPr>
              <a:t>Those two gaps are what we add.</a:t>
            </a:r>
            <a:endParaRPr lang="en-US" sz="1600" dirty="0"/>
          </a:p>
        </p:txBody>
      </p:sp>
      <p:sp>
        <p:nvSpPr>
          <p:cNvPr id="12" name="Shape 10"/>
          <p:cNvSpPr/>
          <p:nvPr/>
        </p:nvSpPr>
        <p:spPr>
          <a:xfrm>
            <a:off x="640080" y="5779008"/>
            <a:ext cx="10908792" cy="713232"/>
          </a:xfrm>
          <a:prstGeom prst="roundRect">
            <a:avLst>
              <a:gd name="adj" fmla="val 10256"/>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3" name="Text 11"/>
          <p:cNvSpPr txBox="1"/>
          <p:nvPr/>
        </p:nvSpPr>
        <p:spPr>
          <a:xfrm>
            <a:off x="859536" y="5852160"/>
            <a:ext cx="10469880" cy="56692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We keep most of their design, add a layer that reads the Verilog before anything runs, and add a control group so we can tell whether it helped.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THE PIPELINE</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Thirteen steps, three phases</a:t>
            </a:r>
            <a:endParaRPr lang="en-US" sz="3000" dirty="0"/>
          </a:p>
        </p:txBody>
      </p:sp>
      <p:pic>
        <p:nvPicPr>
          <p:cNvPr id="4" name="Image 0" descr="/Users/sawaiznaveed/Ilmenau Uni/ResearchProject/docs/figures/fig1-architecture.png">    </p:cNvPr>
          <p:cNvPicPr>
            <a:picLocks noChangeAspect="1"/>
          </p:cNvPicPr>
          <p:nvPr/>
        </p:nvPicPr>
        <p:blipFill>
          <a:blip r:embed="rId1"/>
          <a:stretch>
            <a:fillRect/>
          </a:stretch>
        </p:blipFill>
        <p:spPr>
          <a:xfrm>
            <a:off x="591954" y="1170432"/>
            <a:ext cx="7320013" cy="5349240"/>
          </a:xfrm>
          <a:prstGeom prst="rect">
            <a:avLst/>
          </a:prstGeom>
        </p:spPr>
      </p:pic>
      <p:sp>
        <p:nvSpPr>
          <p:cNvPr id="5" name="Text 2"/>
          <p:cNvSpPr txBox="1"/>
          <p:nvPr/>
        </p:nvSpPr>
        <p:spPr>
          <a:xfrm>
            <a:off x="8412480" y="1371600"/>
            <a:ext cx="3136392" cy="365760"/>
          </a:xfrm>
          <a:prstGeom prst="rect">
            <a:avLst/>
          </a:prstGeom>
          <a:noFill/>
          <a:ln/>
        </p:spPr>
        <p:txBody>
          <a:bodyPr wrap="square" lIns="0" tIns="0" rIns="0" bIns="0" rtlCol="0" anchor="ctr"/>
          <a:lstStyle/>
          <a:p>
            <a:pPr indent="0" marL="0">
              <a:buNone/>
            </a:pPr>
            <a:r>
              <a:rPr lang="en-US" sz="1900" b="1" dirty="0">
                <a:solidFill>
                  <a:srgbClr val="2A78D6"/>
                </a:solidFill>
                <a:latin typeface="Cambria" pitchFamily="34" charset="0"/>
                <a:ea typeface="Cambria" pitchFamily="34" charset="-122"/>
                <a:cs typeface="Cambria" pitchFamily="34" charset="-120"/>
              </a:rPr>
              <a:t>What is ours</a:t>
            </a:r>
            <a:endParaRPr lang="en-US" sz="1900" dirty="0"/>
          </a:p>
        </p:txBody>
      </p:sp>
      <p:sp>
        <p:nvSpPr>
          <p:cNvPr id="6" name="Text 3"/>
          <p:cNvSpPr txBox="1"/>
          <p:nvPr/>
        </p:nvSpPr>
        <p:spPr>
          <a:xfrm>
            <a:off x="8412480" y="1828800"/>
            <a:ext cx="3136392" cy="1837944"/>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52514E"/>
                </a:solidFill>
                <a:latin typeface="Calibri" pitchFamily="34" charset="0"/>
                <a:ea typeface="Calibri" pitchFamily="34" charset="-122"/>
                <a:cs typeface="Calibri" pitchFamily="34" charset="-120"/>
              </a:rPr>
              <a:t>we write the circuit as well</a:t>
            </a:r>
            <a:endParaRPr lang="en-US" sz="1400" dirty="0"/>
          </a:p>
          <a:p>
            <a:pPr marL="342900" indent="-342900">
              <a:spcAft>
                <a:spcPts val="700"/>
              </a:spcAft>
              <a:buSzPct val="100000"/>
              <a:buChar char="•"/>
            </a:pPr>
            <a:r>
              <a:rPr lang="en-US" sz="1400" dirty="0">
                <a:solidFill>
                  <a:srgbClr val="52514E"/>
                </a:solidFill>
                <a:latin typeface="Calibri" pitchFamily="34" charset="0"/>
                <a:ea typeface="Calibri" pitchFamily="34" charset="-122"/>
                <a:cs typeface="Calibri" pitchFamily="34" charset="-120"/>
              </a:rPr>
              <a:t>we read the Verilog before running it</a:t>
            </a:r>
            <a:endParaRPr lang="en-US" sz="1400" dirty="0"/>
          </a:p>
          <a:p>
            <a:pPr marL="342900" indent="-342900">
              <a:spcAft>
                <a:spcPts val="700"/>
              </a:spcAft>
              <a:buSzPct val="100000"/>
              <a:buChar char="•"/>
            </a:pPr>
            <a:r>
              <a:rPr lang="en-US" sz="1400" dirty="0">
                <a:solidFill>
                  <a:srgbClr val="52514E"/>
                </a:solidFill>
                <a:latin typeface="Calibri" pitchFamily="34" charset="0"/>
                <a:ea typeface="Calibri" pitchFamily="34" charset="-122"/>
                <a:cs typeface="Calibri" pitchFamily="34" charset="-120"/>
              </a:rPr>
              <a:t>we turn what we find into instructions</a:t>
            </a:r>
            <a:endParaRPr lang="en-US" sz="1400" dirty="0"/>
          </a:p>
          <a:p>
            <a:pPr marL="342900" indent="-342900">
              <a:spcAft>
                <a:spcPts val="700"/>
              </a:spcAft>
              <a:buSzPct val="100000"/>
              <a:buChar char="•"/>
            </a:pPr>
            <a:r>
              <a:rPr lang="en-US" sz="1400" dirty="0">
                <a:solidFill>
                  <a:srgbClr val="52514E"/>
                </a:solidFill>
                <a:latin typeface="Calibri" pitchFamily="34" charset="0"/>
                <a:ea typeface="Calibri" pitchFamily="34" charset="-122"/>
                <a:cs typeface="Calibri" pitchFamily="34" charset="-120"/>
              </a:rPr>
              <a:t>we added a control group</a:t>
            </a:r>
            <a:endParaRPr lang="en-US" sz="1400" dirty="0"/>
          </a:p>
        </p:txBody>
      </p:sp>
      <p:sp>
        <p:nvSpPr>
          <p:cNvPr id="7" name="Text 4"/>
          <p:cNvSpPr txBox="1"/>
          <p:nvPr/>
        </p:nvSpPr>
        <p:spPr>
          <a:xfrm>
            <a:off x="8412480" y="4114800"/>
            <a:ext cx="3136392" cy="1097280"/>
          </a:xfrm>
          <a:prstGeom prst="rect">
            <a:avLst/>
          </a:prstGeom>
          <a:noFill/>
          <a:ln/>
        </p:spPr>
        <p:txBody>
          <a:bodyPr wrap="square" lIns="0" tIns="0" rIns="0" bIns="0" rtlCol="0" anchor="ctr"/>
          <a:lstStyle/>
          <a:p>
            <a:pPr indent="0" marL="0">
              <a:buNone/>
            </a:pPr>
            <a:r>
              <a:rPr lang="en-US" sz="1300" i="1" dirty="0">
                <a:solidFill>
                  <a:srgbClr val="7A7974"/>
                </a:solidFill>
                <a:latin typeface="Calibri" pitchFamily="34" charset="0"/>
                <a:ea typeface="Calibri" pitchFamily="34" charset="-122"/>
                <a:cs typeface="Calibri" pitchFamily="34" charset="-120"/>
              </a:rPr>
              <a:t>The next slides walk through each step: what it does, why it is there, and what came out of 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1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2A78D6"/>
          </a:solidFill>
          <a:ln w="12700">
            <a:solidFill>
              <a:srgbClr val="2A78D6"/>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0B0B0B"/>
                </a:solidFill>
                <a:latin typeface="Cambria" pitchFamily="34" charset="0"/>
                <a:ea typeface="Cambria" pitchFamily="34" charset="-122"/>
                <a:cs typeface="Cambria" pitchFamily="34" charset="-120"/>
              </a:rPr>
              <a:t>classify</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7A7974"/>
                </a:solidFill>
                <a:latin typeface="Calibri" pitchFamily="34" charset="0"/>
                <a:ea typeface="Calibri" pitchFamily="34" charset="-122"/>
                <a:cs typeface="Calibri" pitchFamily="34" charset="-120"/>
              </a:rPr>
              <a:t>Is this circuit one that remembers?</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Reads the description and answers one question: does this circuit have memory, or does its output depend only on its inputs right now?</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Everything after this branches on the answer. A circuit with memory needs a clock generated, needs its outputs watched over time, and gets an extra cleanup step that the others skip.</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counter_4bit — the description in, the verdict out</a:t>
            </a:r>
            <a:endParaRPr lang="en-US" sz="1150" dirty="0"/>
          </a:p>
        </p:txBody>
      </p:sp>
      <p:sp>
        <p:nvSpPr>
          <p:cNvPr id="27" name="Text 25"/>
          <p:cNvSpPr txBox="1"/>
          <p:nvPr/>
        </p:nvSpPr>
        <p:spPr>
          <a:xfrm>
            <a:off x="914400" y="4114800"/>
            <a:ext cx="6126480" cy="2121408"/>
          </a:xfrm>
          <a:prstGeom prst="rect">
            <a:avLst/>
          </a:prstGeom>
          <a:noFill/>
          <a:ln/>
        </p:spPr>
        <p:txBody>
          <a:bodyPr wrap="square" lIns="0" tIns="0" rIns="0" bIns="0" rtlCol="0" anchor="t"/>
          <a:lstStyle/>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“a synchronous 4-bit up counter</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with synchronous reset”</a:t>
            </a:r>
            <a:endParaRPr lang="en-US" sz="1400" dirty="0"/>
          </a:p>
          <a:p>
            <a:pPr indent="0" marL="0">
              <a:lnSpc>
                <a:spcPct val="128000"/>
              </a:lnSpc>
              <a:buNone/>
            </a:pP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   SEQ</a:t>
            </a:r>
            <a:endParaRPr lang="en-US" sz="1400" dirty="0"/>
          </a:p>
        </p:txBody>
      </p:sp>
      <p:sp>
        <p:nvSpPr>
          <p:cNvPr id="28" name="Shape 26"/>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7"/>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8"/>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3100" b="1" dirty="0">
                <a:solidFill>
                  <a:srgbClr val="0B0B0B"/>
                </a:solidFill>
                <a:latin typeface="Cambria" pitchFamily="34" charset="0"/>
                <a:ea typeface="Cambria" pitchFamily="34" charset="-122"/>
                <a:cs typeface="Cambria" pitchFamily="34" charset="-120"/>
              </a:rPr>
              <a:t>188 / 92</a:t>
            </a:r>
            <a:endParaRPr lang="en-US" sz="3100" dirty="0"/>
          </a:p>
        </p:txBody>
      </p:sp>
      <p:sp>
        <p:nvSpPr>
          <p:cNvPr id="31" name="Text 29"/>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sequential vs combinational,</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across 280 runs</a:t>
            </a:r>
            <a:endParaRPr lang="en-US" sz="1250" dirty="0"/>
          </a:p>
        </p:txBody>
      </p:sp>
      <p:sp>
        <p:nvSpPr>
          <p:cNvPr id="32" name="Text 30"/>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It was never the problem. We never traced a single failure back to a wrong answer here.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2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2A78D6"/>
          </a:solidFill>
          <a:ln w="12700">
            <a:solidFill>
              <a:srgbClr val="2A78D6"/>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2A78D6"/>
                </a:solidFill>
                <a:latin typeface="Cambria" pitchFamily="34" charset="0"/>
                <a:ea typeface="Cambria" pitchFamily="34" charset="-122"/>
                <a:cs typeface="Cambria" pitchFamily="34" charset="-120"/>
              </a:rPr>
              <a:t>gen_dut</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2A78D6"/>
                </a:solidFill>
                <a:latin typeface="Calibri" pitchFamily="34" charset="0"/>
                <a:ea typeface="Calibri" pitchFamily="34" charset="-122"/>
                <a:cs typeface="Calibri" pitchFamily="34" charset="-120"/>
              </a:rPr>
              <a:t>Write the circuit itself     ★ ours</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Takes the same description and writes the circuit — not the test, the actual design under test.</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It is the realistic order of work: you have a description, you build a design, then you test it. And it keeps the marking honest — the known-correct circuit is locked away and only used at the very end, so the AI can never copy the answers out of it.</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what it wrote for counter_4bit — identical interface to the reference</a:t>
            </a:r>
            <a:endParaRPr lang="en-US" sz="1150" dirty="0"/>
          </a:p>
        </p:txBody>
      </p:sp>
      <p:sp>
        <p:nvSpPr>
          <p:cNvPr id="27" name="Text 25"/>
          <p:cNvSpPr txBox="1"/>
          <p:nvPr/>
        </p:nvSpPr>
        <p:spPr>
          <a:xfrm>
            <a:off x="914400" y="4114800"/>
            <a:ext cx="6126480" cy="2121408"/>
          </a:xfrm>
          <a:prstGeom prst="rect">
            <a:avLst/>
          </a:prstGeom>
          <a:noFill/>
          <a:ln/>
        </p:spPr>
        <p:txBody>
          <a:bodyPr wrap="square" lIns="0" tIns="0" rIns="0" bIns="0" rtlCol="0" anchor="t"/>
          <a:lstStyle/>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module counter_4bit(</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input clk,</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input rst,</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output [3:0] out</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a:t>
            </a:r>
            <a:endParaRPr lang="en-US" sz="1400" dirty="0"/>
          </a:p>
        </p:txBody>
      </p:sp>
      <p:sp>
        <p:nvSpPr>
          <p:cNvPr id="28" name="Shape 26"/>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7"/>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8"/>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3100" b="1" dirty="0">
                <a:solidFill>
                  <a:srgbClr val="2A78D6"/>
                </a:solidFill>
                <a:latin typeface="Cambria" pitchFamily="34" charset="0"/>
                <a:ea typeface="Cambria" pitchFamily="34" charset="-122"/>
                <a:cs typeface="Cambria" pitchFamily="34" charset="-120"/>
              </a:rPr>
              <a:t>273 / 280</a:t>
            </a:r>
            <a:endParaRPr lang="en-US" sz="3100" dirty="0"/>
          </a:p>
        </p:txBody>
      </p:sp>
      <p:sp>
        <p:nvSpPr>
          <p:cNvPr id="31" name="Text 29"/>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of the circuits it wrote match</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the reference exactly</a:t>
            </a:r>
            <a:endParaRPr lang="en-US" sz="1250" dirty="0"/>
          </a:p>
        </p:txBody>
      </p:sp>
      <p:sp>
        <p:nvSpPr>
          <p:cNvPr id="32" name="Text 30"/>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The seven that differ are all the same circuit, where the AI invented a clock pin that the real design does not have.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3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2A78D6"/>
          </a:solidFill>
          <a:ln w="12700">
            <a:solidFill>
              <a:srgbClr val="2A78D6"/>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0B0B0B"/>
                </a:solidFill>
                <a:latin typeface="Cambria" pitchFamily="34" charset="0"/>
                <a:ea typeface="Cambria" pitchFamily="34" charset="-122"/>
                <a:cs typeface="Cambria" pitchFamily="34" charset="-120"/>
              </a:rPr>
              <a:t>extract_spec</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7A7974"/>
                </a:solidFill>
                <a:latin typeface="Calibri" pitchFamily="34" charset="0"/>
                <a:ea typeface="Calibri" pitchFamily="34" charset="-122"/>
                <a:cs typeface="Calibri" pitchFamily="34" charset="-120"/>
              </a:rPr>
              <a:t>Turn the English into a checklist</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Reads the description and the circuit and produces a tidy structured list: what the pins are called, how wide each one is, what the circuit should do.</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Later steps need to know what pins exist, dozens of times. Re-reading a paragraph of English every time is unreliable — the AI might read it slightly differently each time. Extracting it once means every later step works from the same facts.</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the structured spec it produced</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14400" y="4133088"/>
          <a:ext cx="6126480" cy="914400"/>
        </p:xfrm>
        <a:graphic>
          <a:graphicData uri="http://schemas.openxmlformats.org/drawingml/2006/table">
            <a:tbl>
              <a:tblPr/>
              <a:tblGrid>
                <a:gridCol w="3798418"/>
                <a:gridCol w="2328062"/>
              </a:tblGrid>
              <a:tr h="246888">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field</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inputs</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clk (1 bit), rst (1 bit)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outputs</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out (4 bits)</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clock</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clk</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reset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rst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timing</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synchronous, posedge</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28" name="Shape 25"/>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6"/>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7"/>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same as theirs</a:t>
            </a:r>
            <a:endParaRPr lang="en-US" sz="2100" dirty="0"/>
          </a:p>
        </p:txBody>
      </p:sp>
      <p:sp>
        <p:nvSpPr>
          <p:cNvPr id="31" name="Text 28"/>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we copied this step from</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AutoBench directly</a:t>
            </a:r>
            <a:endParaRPr lang="en-US" sz="1250" dirty="0"/>
          </a:p>
        </p:txBody>
      </p:sp>
      <p:sp>
        <p:nvSpPr>
          <p:cNvPr id="32" name="Text 29"/>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Plumbing that worked. Not a contribution, but the pipeline would be much flakier without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4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2A78D6"/>
          </a:solidFill>
          <a:ln w="12700">
            <a:solidFill>
              <a:srgbClr val="2A78D6"/>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0B0B0B"/>
                </a:solidFill>
                <a:latin typeface="Cambria" pitchFamily="34" charset="0"/>
                <a:ea typeface="Cambria" pitchFamily="34" charset="-122"/>
                <a:cs typeface="Cambria" pitchFamily="34" charset="-120"/>
              </a:rPr>
              <a:t>gen_scenarios</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7A7974"/>
                </a:solidFill>
                <a:latin typeface="Calibri" pitchFamily="34" charset="0"/>
                <a:ea typeface="Calibri" pitchFamily="34" charset="-122"/>
                <a:cs typeface="Calibri" pitchFamily="34" charset="-120"/>
              </a:rPr>
              <a:t>Decide what to test</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Produces a list of named situations to test — reset clears the counter, it wraps around at the maximum, it holds when disabled.</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It makes the AI plan before it writes. And the names end up printed in the output, so when something fails we know which behaviour failed, not just that something did.</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the scenarios it chose for counter_4bit, and how each one did</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14400" y="4133088"/>
          <a:ext cx="6126480" cy="914400"/>
        </p:xfrm>
        <a:graphic>
          <a:graphicData uri="http://schemas.openxmlformats.org/drawingml/2006/table">
            <a:tbl>
              <a:tblPr/>
              <a:tblGrid>
                <a:gridCol w="3798418"/>
                <a:gridCol w="2328062"/>
              </a:tblGrid>
              <a:tr h="246888">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scenario</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normal_increment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b="1" dirty="0">
                          <a:solidFill>
                            <a:srgbClr val="EB6834"/>
                          </a:solidFill>
                          <a:latin typeface="Calibri" pitchFamily="34" charset="0"/>
                          <a:ea typeface="Calibri" pitchFamily="34" charset="-122"/>
                          <a:cs typeface="Calibri" pitchFamily="34" charset="-120"/>
                        </a:rPr>
                        <a:t>FAIL</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reset_to_zero</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wrap_around</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increment_from_zero_to_five</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b="1" dirty="0">
                          <a:solidFill>
                            <a:srgbClr val="EB6834"/>
                          </a:solidFill>
                          <a:latin typeface="Calibri" pitchFamily="34" charset="0"/>
                          <a:ea typeface="Calibri" pitchFamily="34" charset="-122"/>
                          <a:cs typeface="Calibri" pitchFamily="34" charset="-120"/>
                        </a:rPr>
                        <a:t>FAIL</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hold_value_on_reset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increment_to_fourteen</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b="1" dirty="0">
                          <a:solidFill>
                            <a:srgbClr val="EB6834"/>
                          </a:solidFill>
                          <a:latin typeface="Calibri" pitchFamily="34" charset="0"/>
                          <a:ea typeface="Calibri" pitchFamily="34" charset="-122"/>
                          <a:cs typeface="Calibri" pitchFamily="34" charset="-120"/>
                        </a:rPr>
                        <a:t>FAIL</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28" name="Shape 25"/>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6"/>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7"/>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3100" b="1" dirty="0">
                <a:solidFill>
                  <a:srgbClr val="0B0B0B"/>
                </a:solidFill>
                <a:latin typeface="Cambria" pitchFamily="34" charset="0"/>
                <a:ea typeface="Cambria" pitchFamily="34" charset="-122"/>
                <a:cs typeface="Cambria" pitchFamily="34" charset="-120"/>
              </a:rPr>
              <a:t>~8</a:t>
            </a:r>
            <a:endParaRPr lang="en-US" sz="3100" dirty="0"/>
          </a:p>
        </p:txBody>
      </p:sp>
      <p:sp>
        <p:nvSpPr>
          <p:cNvPr id="31" name="Text 28"/>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test cases generated per run</a:t>
            </a:r>
            <a:endParaRPr lang="en-US" sz="1250" dirty="0"/>
          </a:p>
        </p:txBody>
      </p:sp>
      <p:sp>
        <p:nvSpPr>
          <p:cNvPr id="32" name="Text 29"/>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That number comes back later — eight test cases is a thin sample of a big circuit.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5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2A78D6"/>
          </a:solidFill>
          <a:ln w="12700">
            <a:solidFill>
              <a:srgbClr val="2A78D6"/>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0B0B0B"/>
                </a:solidFill>
                <a:latin typeface="Cambria" pitchFamily="34" charset="0"/>
                <a:ea typeface="Cambria" pitchFamily="34" charset="-122"/>
                <a:cs typeface="Cambria" pitchFamily="34" charset="-120"/>
              </a:rPr>
              <a:t>gen_driver</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7A7974"/>
                </a:solidFill>
                <a:latin typeface="Calibri" pitchFamily="34" charset="0"/>
                <a:ea typeface="Calibri" pitchFamily="34" charset="-122"/>
                <a:cs typeface="Calibri" pitchFamily="34" charset="-120"/>
              </a:rPr>
              <a:t>Write the testbench</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Writes the actual Verilog testbench — the thing this whole project is about. It drives inputs into the circuit, watches the outputs, and prints PASS or FAIL.</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This is the deliverable. Everything before it is preparation; everything after it is checking.</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how it wires the circuit up inside the testbench</a:t>
            </a:r>
            <a:endParaRPr lang="en-US" sz="1150" dirty="0"/>
          </a:p>
        </p:txBody>
      </p:sp>
      <p:sp>
        <p:nvSpPr>
          <p:cNvPr id="27" name="Text 25"/>
          <p:cNvSpPr txBox="1"/>
          <p:nvPr/>
        </p:nvSpPr>
        <p:spPr>
          <a:xfrm>
            <a:off x="914400" y="4114800"/>
            <a:ext cx="6126480" cy="2121408"/>
          </a:xfrm>
          <a:prstGeom prst="rect">
            <a:avLst/>
          </a:prstGeom>
          <a:noFill/>
          <a:ln/>
        </p:spPr>
        <p:txBody>
          <a:bodyPr wrap="square" lIns="0" tIns="0" rIns="0" bIns="0" rtlCol="0" anchor="t"/>
          <a:lstStyle/>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counter_4bit dut (</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.clk(clk),</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.rst(rst),</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.out(out)</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a:t>
            </a:r>
            <a:endParaRPr lang="en-US" sz="1400" dirty="0"/>
          </a:p>
        </p:txBody>
      </p:sp>
      <p:sp>
        <p:nvSpPr>
          <p:cNvPr id="28" name="Shape 26"/>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7"/>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8"/>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3100" b="1" dirty="0">
                <a:solidFill>
                  <a:srgbClr val="0B0B0B"/>
                </a:solidFill>
                <a:latin typeface="Cambria" pitchFamily="34" charset="0"/>
                <a:ea typeface="Cambria" pitchFamily="34" charset="-122"/>
                <a:cs typeface="Cambria" pitchFamily="34" charset="-120"/>
              </a:rPr>
              <a:t>92.5%</a:t>
            </a:r>
            <a:endParaRPr lang="en-US" sz="3100" dirty="0"/>
          </a:p>
        </p:txBody>
      </p:sp>
      <p:sp>
        <p:nvSpPr>
          <p:cNvPr id="31" name="Text 29"/>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of the testbenches it wrote</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compiled successfully</a:t>
            </a:r>
            <a:endParaRPr lang="en-US" sz="1250" dirty="0"/>
          </a:p>
        </p:txBody>
      </p:sp>
      <p:sp>
        <p:nvSpPr>
          <p:cNvPr id="32" name="Text 30"/>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Compiling is the easy part. Only 31% of them actually worked against the real circuit.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6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2A78D6"/>
          </a:solidFill>
          <a:ln w="12700">
            <a:solidFill>
              <a:srgbClr val="2A78D6"/>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0B0B0B"/>
                </a:solidFill>
                <a:latin typeface="Cambria" pitchFamily="34" charset="0"/>
                <a:ea typeface="Cambria" pitchFamily="34" charset="-122"/>
                <a:cs typeface="Cambria" pitchFamily="34" charset="-120"/>
              </a:rPr>
              <a:t>gen_checker</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7A7974"/>
                </a:solidFill>
                <a:latin typeface="Calibri" pitchFamily="34" charset="0"/>
                <a:ea typeface="Calibri" pitchFamily="34" charset="-122"/>
                <a:cs typeface="Calibri" pitchFamily="34" charset="-120"/>
              </a:rPr>
              <a:t>A second opinion, in Python</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Writes a small Python programme that can read the testbench's output and decide pass or fail independently.</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It separates deciding the verdict from producing the output — a second, independent way to judge the same run.</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the output it reads — one line per scenario</a:t>
            </a:r>
            <a:endParaRPr lang="en-US" sz="1150" dirty="0"/>
          </a:p>
        </p:txBody>
      </p:sp>
      <p:sp>
        <p:nvSpPr>
          <p:cNvPr id="27" name="Text 25"/>
          <p:cNvSpPr txBox="1"/>
          <p:nvPr/>
        </p:nvSpPr>
        <p:spPr>
          <a:xfrm>
            <a:off x="914400" y="4114800"/>
            <a:ext cx="6126480" cy="2121408"/>
          </a:xfrm>
          <a:prstGeom prst="rect">
            <a:avLst/>
          </a:prstGeom>
          <a:noFill/>
          <a:ln/>
        </p:spPr>
        <p:txBody>
          <a:bodyPr wrap="square" lIns="0" tIns="0" rIns="0" bIns="0" rtlCol="0" anchor="t"/>
          <a:lstStyle/>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FAIL: normal_increment</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PASS: reset_to_zero</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PASS: wrap_around</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FAIL: increment_from_zero_to_five</a:t>
            </a:r>
            <a:endParaRPr lang="en-US" sz="1400" dirty="0"/>
          </a:p>
        </p:txBody>
      </p:sp>
      <p:sp>
        <p:nvSpPr>
          <p:cNvPr id="28" name="Shape 26"/>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7"/>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8"/>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runs in parallel</a:t>
            </a:r>
            <a:endParaRPr lang="en-US" sz="2100" dirty="0"/>
          </a:p>
        </p:txBody>
      </p:sp>
      <p:sp>
        <p:nvSpPr>
          <p:cNvPr id="31" name="Text 29"/>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alongside the testbench —</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neither waits for the other</a:t>
            </a:r>
            <a:endParaRPr lang="en-US" sz="1250" dirty="0"/>
          </a:p>
        </p:txBody>
      </p:sp>
      <p:sp>
        <p:nvSpPr>
          <p:cNvPr id="32" name="Text 30"/>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Ours does less work than AutoBench's, because our testbench already judges itself.</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7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2A78D6"/>
          </a:solidFill>
          <a:ln w="12700">
            <a:solidFill>
              <a:srgbClr val="2A78D6"/>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0B0B0B"/>
                </a:solidFill>
                <a:latin typeface="Cambria" pitchFamily="34" charset="0"/>
                <a:ea typeface="Cambria" pitchFamily="34" charset="-122"/>
                <a:cs typeface="Cambria" pitchFamily="34" charset="-120"/>
              </a:rPr>
              <a:t>merge_generation</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7A7974"/>
                </a:solidFill>
                <a:latin typeface="Calibri" pitchFamily="34" charset="0"/>
                <a:ea typeface="Calibri" pitchFamily="34" charset="-122"/>
                <a:cs typeface="Calibri" pitchFamily="34" charset="-120"/>
              </a:rPr>
              <a:t>Wait for both</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Nothing at all. It is a waiting point.</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The two previous steps run at the same time. Something has to wait for both before the pipeline moves on, otherwise the next step could start while one is still running.</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the two branches rejoin here</a:t>
            </a:r>
            <a:endParaRPr lang="en-US" sz="1150" dirty="0"/>
          </a:p>
        </p:txBody>
      </p:sp>
      <p:sp>
        <p:nvSpPr>
          <p:cNvPr id="27" name="Text 25"/>
          <p:cNvSpPr txBox="1"/>
          <p:nvPr/>
        </p:nvSpPr>
        <p:spPr>
          <a:xfrm>
            <a:off x="914400" y="4114800"/>
            <a:ext cx="6126480" cy="2121408"/>
          </a:xfrm>
          <a:prstGeom prst="rect">
            <a:avLst/>
          </a:prstGeom>
          <a:noFill/>
          <a:ln/>
        </p:spPr>
        <p:txBody>
          <a:bodyPr wrap="square" lIns="0" tIns="0" rIns="0" bIns="0" rtlCol="0" anchor="t"/>
          <a:lstStyle/>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gen_driver   ┐</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  merge  →  next step</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gen_checker  ┘</a:t>
            </a:r>
            <a:endParaRPr lang="en-US" sz="1400" dirty="0"/>
          </a:p>
        </p:txBody>
      </p:sp>
      <p:sp>
        <p:nvSpPr>
          <p:cNvPr id="28" name="Shape 26"/>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7"/>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8"/>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3100" b="1" dirty="0">
                <a:solidFill>
                  <a:srgbClr val="0B0B0B"/>
                </a:solidFill>
                <a:latin typeface="Cambria" pitchFamily="34" charset="0"/>
                <a:ea typeface="Cambria" pitchFamily="34" charset="-122"/>
                <a:cs typeface="Cambria" pitchFamily="34" charset="-120"/>
              </a:rPr>
              <a:t>0</a:t>
            </a:r>
            <a:endParaRPr lang="en-US" sz="3100" dirty="0"/>
          </a:p>
        </p:txBody>
      </p:sp>
      <p:sp>
        <p:nvSpPr>
          <p:cNvPr id="31" name="Text 29"/>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AI calls — it is pure</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control flow</a:t>
            </a:r>
            <a:endParaRPr lang="en-US" sz="1250" dirty="0"/>
          </a:p>
        </p:txBody>
      </p:sp>
      <p:sp>
        <p:nvSpPr>
          <p:cNvPr id="32" name="Text 30"/>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Not a research contribution. It is there so the parallel branches are safe.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8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2A78D6"/>
          </a:solidFill>
          <a:ln w="12700">
            <a:solidFill>
              <a:srgbClr val="2A78D6"/>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0B0B0B"/>
                </a:solidFill>
                <a:latin typeface="Cambria" pitchFamily="34" charset="0"/>
                <a:ea typeface="Cambria" pitchFamily="34" charset="-122"/>
                <a:cs typeface="Cambria" pitchFamily="34" charset="-120"/>
              </a:rPr>
              <a:t>standardise</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7A7974"/>
                </a:solidFill>
                <a:latin typeface="Calibri" pitchFamily="34" charset="0"/>
                <a:ea typeface="Calibri" pitchFamily="34" charset="-122"/>
                <a:cs typeface="Calibri" pitchFamily="34" charset="-120"/>
              </a:rPr>
              <a:t>Mechanical cleanup, no AI</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Plain Python. If an output is never printed anywhere, it inserts the line that prints it. If a clock is declared but never made to tick, it inserts the few lines that make it tick.</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There is exactly one correct answer to both of those, so a script is better than a model: faster, free, and it does the same thing every time.</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what it inserts, and how it marks its own work</a:t>
            </a:r>
            <a:endParaRPr lang="en-US" sz="1150" dirty="0"/>
          </a:p>
        </p:txBody>
      </p:sp>
      <p:sp>
        <p:nvSpPr>
          <p:cNvPr id="27" name="Text 25"/>
          <p:cNvSpPr txBox="1"/>
          <p:nvPr/>
        </p:nvSpPr>
        <p:spPr>
          <a:xfrm>
            <a:off x="914400" y="4114800"/>
            <a:ext cx="6126480" cy="2121408"/>
          </a:xfrm>
          <a:prstGeom prst="rect">
            <a:avLst/>
          </a:prstGeom>
          <a:noFill/>
          <a:ln/>
        </p:spPr>
        <p:txBody>
          <a:bodyPr wrap="square" lIns="0" tIns="0" rIns="0" bIns="0" rtlCol="0" anchor="t"/>
          <a:lstStyle/>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[standardised]</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$monitor("out = %b", out);</a:t>
            </a:r>
            <a:endParaRPr lang="en-US" sz="1400" dirty="0"/>
          </a:p>
          <a:p>
            <a:pPr indent="0" marL="0">
              <a:lnSpc>
                <a:spcPct val="128000"/>
              </a:lnSpc>
              <a:buNone/>
            </a:pP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it skips anything already marked</a:t>
            </a:r>
            <a:endParaRPr lang="en-US" sz="1400" dirty="0"/>
          </a:p>
        </p:txBody>
      </p:sp>
      <p:sp>
        <p:nvSpPr>
          <p:cNvPr id="28" name="Shape 26"/>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7"/>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8"/>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3100" b="1" dirty="0">
                <a:solidFill>
                  <a:srgbClr val="0B0B0B"/>
                </a:solidFill>
                <a:latin typeface="Cambria" pitchFamily="34" charset="0"/>
                <a:ea typeface="Cambria" pitchFamily="34" charset="-122"/>
                <a:cs typeface="Cambria" pitchFamily="34" charset="-120"/>
              </a:rPr>
              <a:t>6 / 188</a:t>
            </a:r>
            <a:endParaRPr lang="en-US" sz="3100" dirty="0"/>
          </a:p>
        </p:txBody>
      </p:sp>
      <p:sp>
        <p:nvSpPr>
          <p:cNvPr id="31" name="Text 29"/>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sequential runs where it had</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anything to fix</a:t>
            </a:r>
            <a:endParaRPr lang="en-US" sz="1250" dirty="0"/>
          </a:p>
        </p:txBody>
      </p:sp>
      <p:sp>
        <p:nvSpPr>
          <p:cNvPr id="32" name="Text 30"/>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AutoBench's version of this step was their single biggest win — worth 42 points. Ours does almost nothing.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9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2A78D6"/>
          </a:solidFill>
          <a:ln w="12700">
            <a:solidFill>
              <a:srgbClr val="2A78D6"/>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2A78D6"/>
                </a:solidFill>
                <a:latin typeface="Cambria" pitchFamily="34" charset="0"/>
                <a:ea typeface="Cambria" pitchFamily="34" charset="-122"/>
                <a:cs typeface="Cambria" pitchFamily="34" charset="-120"/>
              </a:rPr>
              <a:t>pyverilog_analysis</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2A78D6"/>
                </a:solidFill>
                <a:latin typeface="Calibri" pitchFamily="34" charset="0"/>
                <a:ea typeface="Calibri" pitchFamily="34" charset="-122"/>
                <a:cs typeface="Calibri" pitchFamily="34" charset="-120"/>
              </a:rPr>
              <a:t>Read the code without running it     ★ ours</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Parses the testbench and the circuit into a structure — not text — and runs six checks looking for mistakes. No simulation.</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Two of the six catch faults that nothing else can see: an output nobody checks, and a sequential output that is never printed. If the testbench stops looking, running it passes.</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a real finding — Prob150, where the AI invented a clock pin</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914400" y="4133088"/>
          <a:ext cx="6126480" cy="914400"/>
        </p:xfrm>
        <a:graphic>
          <a:graphicData uri="http://schemas.openxmlformats.org/drawingml/2006/table">
            <a:tbl>
              <a:tblPr/>
              <a:tblGrid>
                <a:gridCol w="3798418"/>
                <a:gridCol w="2328062"/>
              </a:tblGrid>
              <a:tr h="246888">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field</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error_type</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port_binding_mismatch</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affected_signal</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clk</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found by</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reading the code, before running</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28" name="Shape 25"/>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6"/>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7"/>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3100" b="1" dirty="0">
                <a:solidFill>
                  <a:srgbClr val="2A78D6"/>
                </a:solidFill>
                <a:latin typeface="Cambria" pitchFamily="34" charset="0"/>
                <a:ea typeface="Cambria" pitchFamily="34" charset="-122"/>
                <a:cs typeface="Cambria" pitchFamily="34" charset="-120"/>
              </a:rPr>
              <a:t>100%</a:t>
            </a:r>
            <a:endParaRPr lang="en-US" sz="3100" dirty="0"/>
          </a:p>
        </p:txBody>
      </p:sp>
      <p:sp>
        <p:nvSpPr>
          <p:cNvPr id="31" name="Text 28"/>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detection on every fault class</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it was built for</a:t>
            </a:r>
            <a:endParaRPr lang="en-US" sz="1250" dirty="0"/>
          </a:p>
        </p:txBody>
      </p:sp>
      <p:sp>
        <p:nvSpPr>
          <p:cNvPr id="32" name="Text 29"/>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Zero false alarms on clean testbenches. This is the core contribution.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10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2A78D6"/>
          </a:solidFill>
          <a:ln w="12700">
            <a:solidFill>
              <a:srgbClr val="2A78D6"/>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0B0B0B"/>
                </a:solidFill>
                <a:latin typeface="Cambria" pitchFamily="34" charset="0"/>
                <a:ea typeface="Cambria" pitchFamily="34" charset="-122"/>
                <a:cs typeface="Cambria" pitchFamily="34" charset="-120"/>
              </a:rPr>
              <a:t>error_reasoner</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7A7974"/>
                </a:solidFill>
                <a:latin typeface="Calibri" pitchFamily="34" charset="0"/>
                <a:ea typeface="Calibri" pitchFamily="34" charset="-122"/>
                <a:cs typeface="Calibri" pitchFamily="34" charset="-120"/>
              </a:rPr>
              <a:t>Turn findings into instructions</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Takes the machine-generated report from the previous step and turns it into something the AI can act on: which signal, what is wrong, what to do about it.</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A raw report says “unobserved output: q”. That is not an instruction. This turns it into “the output q is never printed — add a display statement after each check”.</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machine report in, instruction out</a:t>
            </a:r>
            <a:endParaRPr lang="en-US" sz="1150" dirty="0"/>
          </a:p>
        </p:txBody>
      </p:sp>
      <p:sp>
        <p:nvSpPr>
          <p:cNvPr id="27" name="Text 25"/>
          <p:cNvSpPr txBox="1"/>
          <p:nvPr/>
        </p:nvSpPr>
        <p:spPr>
          <a:xfrm>
            <a:off x="914400" y="4114800"/>
            <a:ext cx="6126480" cy="2121408"/>
          </a:xfrm>
          <a:prstGeom prst="rect">
            <a:avLst/>
          </a:prstGeom>
          <a:noFill/>
          <a:ln/>
        </p:spPr>
        <p:txBody>
          <a:bodyPr wrap="square" lIns="0" tIns="0" rIns="0" bIns="0" rtlCol="0" anchor="t"/>
          <a:lstStyle/>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unobserved_output: q</a:t>
            </a:r>
            <a:endParaRPr lang="en-US" sz="1400" dirty="0"/>
          </a:p>
          <a:p>
            <a:pPr indent="0" marL="0">
              <a:lnSpc>
                <a:spcPct val="128000"/>
              </a:lnSpc>
              <a:buNone/>
            </a:pP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a:t>
            </a:r>
            <a:endParaRPr lang="en-US" sz="1400" dirty="0"/>
          </a:p>
          <a:p>
            <a:pPr indent="0" marL="0">
              <a:lnSpc>
                <a:spcPct val="128000"/>
              </a:lnSpc>
              <a:buNone/>
            </a:pP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“the output q is never printed —</a:t>
            </a:r>
            <a:endParaRPr lang="en-US" sz="1400" dirty="0"/>
          </a:p>
          <a:p>
            <a:pPr indent="0" marL="0">
              <a:lnSpc>
                <a:spcPct val="128000"/>
              </a:lnSpc>
              <a:buNone/>
            </a:pPr>
            <a:r>
              <a:rPr lang="en-US" sz="1400" dirty="0">
                <a:solidFill>
                  <a:srgbClr val="0B0B0B"/>
                </a:solidFill>
                <a:latin typeface="Courier New" pitchFamily="34" charset="0"/>
                <a:ea typeface="Courier New" pitchFamily="34" charset="-122"/>
                <a:cs typeface="Courier New" pitchFamily="34" charset="-120"/>
              </a:rPr>
              <a:t> add a display after each check”</a:t>
            </a:r>
            <a:endParaRPr lang="en-US" sz="1400" dirty="0"/>
          </a:p>
        </p:txBody>
      </p:sp>
      <p:sp>
        <p:nvSpPr>
          <p:cNvPr id="28" name="Shape 26"/>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7"/>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8"/>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skipped when clean</a:t>
            </a:r>
            <a:endParaRPr lang="en-US" sz="2100" dirty="0"/>
          </a:p>
        </p:txBody>
      </p:sp>
      <p:sp>
        <p:nvSpPr>
          <p:cNvPr id="31" name="Text 29"/>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no AI call is made if the</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report found nothing</a:t>
            </a:r>
            <a:endParaRPr lang="en-US" sz="1250" dirty="0"/>
          </a:p>
        </p:txBody>
      </p:sp>
      <p:sp>
        <p:nvSpPr>
          <p:cNvPr id="32" name="Text 30"/>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Since the reports were almost always clean, this made the static-only configuration cheaper than doing nothing at all.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11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2A78D6"/>
          </a:solidFill>
          <a:ln w="12700">
            <a:solidFill>
              <a:srgbClr val="2A78D6"/>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0B0B0B"/>
                </a:solidFill>
                <a:latin typeface="Cambria" pitchFamily="34" charset="0"/>
                <a:ea typeface="Cambria" pitchFamily="34" charset="-122"/>
                <a:cs typeface="Cambria" pitchFamily="34" charset="-120"/>
              </a:rPr>
              <a:t>repair</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7A7974"/>
                </a:solidFill>
                <a:latin typeface="Calibri" pitchFamily="34" charset="0"/>
                <a:ea typeface="Calibri" pitchFamily="34" charset="-122"/>
                <a:cs typeface="Calibri" pitchFamily="34" charset="-120"/>
              </a:rPr>
              <a:t>Try again, knowing what went wrong</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Rewrites the testbench given an error report. Three things can trigger it: our checker found something, the compiler refused the file, or it ran and got the wrong answers. Capped at three attempts.</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A diagnosis is only worth having if something acts on it.</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the one repair our checker ever triggered, iteration by iteration</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14400" y="4133088"/>
          <a:ext cx="6126480" cy="914400"/>
        </p:xfrm>
        <a:graphic>
          <a:graphicData uri="http://schemas.openxmlformats.org/drawingml/2006/table">
            <a:tbl>
              <a:tblPr/>
              <a:tblGrid>
                <a:gridCol w="3798418"/>
                <a:gridCol w="2328062"/>
              </a:tblGrid>
              <a:tr h="246888">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attempt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what the checker saw</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clean</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clk and reset not connected</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clean  — the repair worked</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the problem came back</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28" name="Shape 25"/>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6"/>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7"/>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3100" b="1" dirty="0">
                <a:solidFill>
                  <a:srgbClr val="0B0B0B"/>
                </a:solidFill>
                <a:latin typeface="Cambria" pitchFamily="34" charset="0"/>
                <a:ea typeface="Cambria" pitchFamily="34" charset="-122"/>
                <a:cs typeface="Cambria" pitchFamily="34" charset="-120"/>
              </a:rPr>
              <a:t>26 / 102</a:t>
            </a:r>
            <a:endParaRPr lang="en-US" sz="3100" dirty="0"/>
          </a:p>
        </p:txBody>
      </p:sp>
      <p:sp>
        <p:nvSpPr>
          <p:cNvPr id="31" name="Text 28"/>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repair attempts that ended</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in a working testbench</a:t>
            </a:r>
            <a:endParaRPr lang="en-US" sz="1250" dirty="0"/>
          </a:p>
        </p:txBody>
      </p:sp>
      <p:sp>
        <p:nvSpPr>
          <p:cNvPr id="32" name="Text 29"/>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About one in four. Repairing a testbench from an error message is harder than it sounds.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12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2A78D6"/>
          </a:solidFill>
          <a:ln w="12700">
            <a:solidFill>
              <a:srgbClr val="2A78D6"/>
            </a:solidFill>
            <a:prstDash val="solid"/>
          </a:ln>
        </p:spPr>
      </p:sp>
      <p:sp>
        <p:nvSpPr>
          <p:cNvPr id="15" name="Shape 13"/>
          <p:cNvSpPr/>
          <p:nvPr/>
        </p:nvSpPr>
        <p:spPr>
          <a:xfrm>
            <a:off x="11393424" y="237744"/>
            <a:ext cx="155448" cy="155448"/>
          </a:xfrm>
          <a:prstGeom prst="roundRect">
            <a:avLst>
              <a:gd name="adj" fmla="val 29412"/>
            </a:avLst>
          </a:prstGeom>
          <a:solidFill>
            <a:srgbClr val="DEDDD8"/>
          </a:solidFill>
          <a:ln w="12700">
            <a:solidFill>
              <a:srgbClr val="DEDDD8"/>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2A78D6"/>
                </a:solidFill>
                <a:latin typeface="Cambria" pitchFamily="34" charset="0"/>
                <a:ea typeface="Cambria" pitchFamily="34" charset="-122"/>
                <a:cs typeface="Cambria" pitchFamily="34" charset="-120"/>
              </a:rPr>
              <a:t>regenerate</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2A78D6"/>
                </a:solidFill>
                <a:latin typeface="Calibri" pitchFamily="34" charset="0"/>
                <a:ea typeface="Calibri" pitchFamily="34" charset="-122"/>
                <a:cs typeface="Calibri" pitchFamily="34" charset="-120"/>
              </a:rPr>
              <a:t>Try again, told nothing — the control     ★ ours</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Rewrites the testbench from the original description, with no error report, no findings, and no compiler output. Deliberately blind.</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If our version beats the plain one, there are two explanations: the feedback worked, or the AI simply got a second try. This step isolates the second try, so we can tell them apart.</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the control against the plain version, over 44 circuits</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914400" y="4133088"/>
          <a:ext cx="6126480" cy="914400"/>
        </p:xfrm>
        <a:graphic>
          <a:graphicData uri="http://schemas.openxmlformats.org/drawingml/2006/table">
            <a:tbl>
              <a:tblPr/>
              <a:tblGrid>
                <a:gridCol w="3798418"/>
                <a:gridCol w="2328062"/>
              </a:tblGrid>
              <a:tr h="246888">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setting</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worked</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baseline — one attempt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12 of 44</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retry_only — a blind second attempt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13 of 44</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difference</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 circuit  ·  p = 1.000</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28" name="Shape 25"/>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6"/>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7"/>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2100" b="1" dirty="0">
                <a:solidFill>
                  <a:srgbClr val="2A78D6"/>
                </a:solidFill>
                <a:latin typeface="Cambria" pitchFamily="34" charset="0"/>
                <a:ea typeface="Cambria" pitchFamily="34" charset="-122"/>
                <a:cs typeface="Cambria" pitchFamily="34" charset="-120"/>
              </a:rPr>
              <a:t>worth nothing</a:t>
            </a:r>
            <a:endParaRPr lang="en-US" sz="2100" dirty="0"/>
          </a:p>
        </p:txBody>
      </p:sp>
      <p:sp>
        <p:nvSpPr>
          <p:cNvPr id="31" name="Text 28"/>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a blind second attempt did not</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beat doing nothing at all</a:t>
            </a:r>
            <a:endParaRPr lang="en-US" sz="1250" dirty="0"/>
          </a:p>
        </p:txBody>
      </p:sp>
      <p:sp>
        <p:nvSpPr>
          <p:cNvPr id="32" name="Text 29"/>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Which means any real improvement has to come from the diagnosis, not from the extra attempt.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PIPELINE  ·  STEP 13 OF 13</a:t>
            </a:r>
            <a:endParaRPr lang="en-US" sz="1100" dirty="0"/>
          </a:p>
        </p:txBody>
      </p:sp>
      <p:sp>
        <p:nvSpPr>
          <p:cNvPr id="3" name="Shape 1"/>
          <p:cNvSpPr/>
          <p:nvPr/>
        </p:nvSpPr>
        <p:spPr>
          <a:xfrm>
            <a:off x="8705088" y="237744"/>
            <a:ext cx="155448" cy="155448"/>
          </a:xfrm>
          <a:prstGeom prst="roundRect">
            <a:avLst>
              <a:gd name="adj" fmla="val 29412"/>
            </a:avLst>
          </a:prstGeom>
          <a:solidFill>
            <a:srgbClr val="DEDDD8"/>
          </a:solidFill>
          <a:ln w="12700">
            <a:solidFill>
              <a:srgbClr val="DEDDD8"/>
            </a:solidFill>
            <a:prstDash val="solid"/>
          </a:ln>
        </p:spPr>
      </p:sp>
      <p:sp>
        <p:nvSpPr>
          <p:cNvPr id="4" name="Shape 2"/>
          <p:cNvSpPr/>
          <p:nvPr/>
        </p:nvSpPr>
        <p:spPr>
          <a:xfrm>
            <a:off x="8929116" y="237744"/>
            <a:ext cx="155448" cy="155448"/>
          </a:xfrm>
          <a:prstGeom prst="roundRect">
            <a:avLst>
              <a:gd name="adj" fmla="val 29412"/>
            </a:avLst>
          </a:prstGeom>
          <a:solidFill>
            <a:srgbClr val="DEDDD8"/>
          </a:solidFill>
          <a:ln w="12700">
            <a:solidFill>
              <a:srgbClr val="DEDDD8"/>
            </a:solidFill>
            <a:prstDash val="solid"/>
          </a:ln>
        </p:spPr>
      </p:sp>
      <p:sp>
        <p:nvSpPr>
          <p:cNvPr id="5" name="Shape 3"/>
          <p:cNvSpPr/>
          <p:nvPr/>
        </p:nvSpPr>
        <p:spPr>
          <a:xfrm>
            <a:off x="9153144" y="237744"/>
            <a:ext cx="155448" cy="155448"/>
          </a:xfrm>
          <a:prstGeom prst="roundRect">
            <a:avLst>
              <a:gd name="adj" fmla="val 29412"/>
            </a:avLst>
          </a:prstGeom>
          <a:solidFill>
            <a:srgbClr val="DEDDD8"/>
          </a:solidFill>
          <a:ln w="12700">
            <a:solidFill>
              <a:srgbClr val="DEDDD8"/>
            </a:solidFill>
            <a:prstDash val="solid"/>
          </a:ln>
        </p:spPr>
      </p:sp>
      <p:sp>
        <p:nvSpPr>
          <p:cNvPr id="6" name="Shape 4"/>
          <p:cNvSpPr/>
          <p:nvPr/>
        </p:nvSpPr>
        <p:spPr>
          <a:xfrm>
            <a:off x="9377172" y="237744"/>
            <a:ext cx="155448" cy="155448"/>
          </a:xfrm>
          <a:prstGeom prst="roundRect">
            <a:avLst>
              <a:gd name="adj" fmla="val 29412"/>
            </a:avLst>
          </a:prstGeom>
          <a:solidFill>
            <a:srgbClr val="DEDDD8"/>
          </a:solidFill>
          <a:ln w="12700">
            <a:solidFill>
              <a:srgbClr val="DEDDD8"/>
            </a:solidFill>
            <a:prstDash val="solid"/>
          </a:ln>
        </p:spPr>
      </p:sp>
      <p:sp>
        <p:nvSpPr>
          <p:cNvPr id="7" name="Shape 5"/>
          <p:cNvSpPr/>
          <p:nvPr/>
        </p:nvSpPr>
        <p:spPr>
          <a:xfrm>
            <a:off x="9601200" y="237744"/>
            <a:ext cx="155448" cy="155448"/>
          </a:xfrm>
          <a:prstGeom prst="roundRect">
            <a:avLst>
              <a:gd name="adj" fmla="val 29412"/>
            </a:avLst>
          </a:prstGeom>
          <a:solidFill>
            <a:srgbClr val="DEDDD8"/>
          </a:solidFill>
          <a:ln w="12700">
            <a:solidFill>
              <a:srgbClr val="DEDDD8"/>
            </a:solidFill>
            <a:prstDash val="solid"/>
          </a:ln>
        </p:spPr>
      </p:sp>
      <p:sp>
        <p:nvSpPr>
          <p:cNvPr id="8" name="Shape 6"/>
          <p:cNvSpPr/>
          <p:nvPr/>
        </p:nvSpPr>
        <p:spPr>
          <a:xfrm>
            <a:off x="9825228" y="237744"/>
            <a:ext cx="155448" cy="155448"/>
          </a:xfrm>
          <a:prstGeom prst="roundRect">
            <a:avLst>
              <a:gd name="adj" fmla="val 29412"/>
            </a:avLst>
          </a:prstGeom>
          <a:solidFill>
            <a:srgbClr val="DEDDD8"/>
          </a:solidFill>
          <a:ln w="12700">
            <a:solidFill>
              <a:srgbClr val="DEDDD8"/>
            </a:solidFill>
            <a:prstDash val="solid"/>
          </a:ln>
        </p:spPr>
      </p:sp>
      <p:sp>
        <p:nvSpPr>
          <p:cNvPr id="9" name="Shape 7"/>
          <p:cNvSpPr/>
          <p:nvPr/>
        </p:nvSpPr>
        <p:spPr>
          <a:xfrm>
            <a:off x="10049256" y="237744"/>
            <a:ext cx="155448" cy="155448"/>
          </a:xfrm>
          <a:prstGeom prst="roundRect">
            <a:avLst>
              <a:gd name="adj" fmla="val 29412"/>
            </a:avLst>
          </a:prstGeom>
          <a:solidFill>
            <a:srgbClr val="DEDDD8"/>
          </a:solidFill>
          <a:ln w="12700">
            <a:solidFill>
              <a:srgbClr val="DEDDD8"/>
            </a:solidFill>
            <a:prstDash val="solid"/>
          </a:ln>
        </p:spPr>
      </p:sp>
      <p:sp>
        <p:nvSpPr>
          <p:cNvPr id="10" name="Shape 8"/>
          <p:cNvSpPr/>
          <p:nvPr/>
        </p:nvSpPr>
        <p:spPr>
          <a:xfrm>
            <a:off x="10273284" y="237744"/>
            <a:ext cx="155448" cy="155448"/>
          </a:xfrm>
          <a:prstGeom prst="roundRect">
            <a:avLst>
              <a:gd name="adj" fmla="val 29412"/>
            </a:avLst>
          </a:prstGeom>
          <a:solidFill>
            <a:srgbClr val="DEDDD8"/>
          </a:solidFill>
          <a:ln w="12700">
            <a:solidFill>
              <a:srgbClr val="DEDDD8"/>
            </a:solidFill>
            <a:prstDash val="solid"/>
          </a:ln>
        </p:spPr>
      </p:sp>
      <p:sp>
        <p:nvSpPr>
          <p:cNvPr id="11" name="Shape 9"/>
          <p:cNvSpPr/>
          <p:nvPr/>
        </p:nvSpPr>
        <p:spPr>
          <a:xfrm>
            <a:off x="10497312" y="237744"/>
            <a:ext cx="155448" cy="155448"/>
          </a:xfrm>
          <a:prstGeom prst="roundRect">
            <a:avLst>
              <a:gd name="adj" fmla="val 29412"/>
            </a:avLst>
          </a:prstGeom>
          <a:solidFill>
            <a:srgbClr val="DEDDD8"/>
          </a:solidFill>
          <a:ln w="12700">
            <a:solidFill>
              <a:srgbClr val="DEDDD8"/>
            </a:solidFill>
            <a:prstDash val="solid"/>
          </a:ln>
        </p:spPr>
      </p:sp>
      <p:sp>
        <p:nvSpPr>
          <p:cNvPr id="12" name="Shape 10"/>
          <p:cNvSpPr/>
          <p:nvPr/>
        </p:nvSpPr>
        <p:spPr>
          <a:xfrm>
            <a:off x="10721340" y="237744"/>
            <a:ext cx="155448" cy="155448"/>
          </a:xfrm>
          <a:prstGeom prst="roundRect">
            <a:avLst>
              <a:gd name="adj" fmla="val 29412"/>
            </a:avLst>
          </a:prstGeom>
          <a:solidFill>
            <a:srgbClr val="DEDDD8"/>
          </a:solidFill>
          <a:ln w="12700">
            <a:solidFill>
              <a:srgbClr val="DEDDD8"/>
            </a:solidFill>
            <a:prstDash val="solid"/>
          </a:ln>
        </p:spPr>
      </p:sp>
      <p:sp>
        <p:nvSpPr>
          <p:cNvPr id="13" name="Shape 11"/>
          <p:cNvSpPr/>
          <p:nvPr/>
        </p:nvSpPr>
        <p:spPr>
          <a:xfrm>
            <a:off x="10945368" y="237744"/>
            <a:ext cx="155448" cy="155448"/>
          </a:xfrm>
          <a:prstGeom prst="roundRect">
            <a:avLst>
              <a:gd name="adj" fmla="val 29412"/>
            </a:avLst>
          </a:prstGeom>
          <a:solidFill>
            <a:srgbClr val="DEDDD8"/>
          </a:solidFill>
          <a:ln w="12700">
            <a:solidFill>
              <a:srgbClr val="DEDDD8"/>
            </a:solidFill>
            <a:prstDash val="solid"/>
          </a:ln>
        </p:spPr>
      </p:sp>
      <p:sp>
        <p:nvSpPr>
          <p:cNvPr id="14" name="Shape 12"/>
          <p:cNvSpPr/>
          <p:nvPr/>
        </p:nvSpPr>
        <p:spPr>
          <a:xfrm>
            <a:off x="11169396" y="237744"/>
            <a:ext cx="155448" cy="155448"/>
          </a:xfrm>
          <a:prstGeom prst="roundRect">
            <a:avLst>
              <a:gd name="adj" fmla="val 29412"/>
            </a:avLst>
          </a:prstGeom>
          <a:solidFill>
            <a:srgbClr val="DEDDD8"/>
          </a:solidFill>
          <a:ln w="12700">
            <a:solidFill>
              <a:srgbClr val="DEDDD8"/>
            </a:solidFill>
            <a:prstDash val="solid"/>
          </a:ln>
        </p:spPr>
      </p:sp>
      <p:sp>
        <p:nvSpPr>
          <p:cNvPr id="15" name="Shape 13"/>
          <p:cNvSpPr/>
          <p:nvPr/>
        </p:nvSpPr>
        <p:spPr>
          <a:xfrm>
            <a:off x="11393424" y="237744"/>
            <a:ext cx="155448" cy="155448"/>
          </a:xfrm>
          <a:prstGeom prst="roundRect">
            <a:avLst>
              <a:gd name="adj" fmla="val 29412"/>
            </a:avLst>
          </a:prstGeom>
          <a:solidFill>
            <a:srgbClr val="2A78D6"/>
          </a:solidFill>
          <a:ln w="12700">
            <a:solidFill>
              <a:srgbClr val="2A78D6"/>
            </a:solidFill>
            <a:prstDash val="solid"/>
          </a:ln>
        </p:spPr>
      </p:sp>
      <p:sp>
        <p:nvSpPr>
          <p:cNvPr id="16" name="Text 14"/>
          <p:cNvSpPr txBox="1"/>
          <p:nvPr/>
        </p:nvSpPr>
        <p:spPr>
          <a:xfrm>
            <a:off x="640080" y="475488"/>
            <a:ext cx="6766560" cy="502920"/>
          </a:xfrm>
          <a:prstGeom prst="rect">
            <a:avLst/>
          </a:prstGeom>
          <a:noFill/>
          <a:ln/>
        </p:spPr>
        <p:txBody>
          <a:bodyPr wrap="square" lIns="0" tIns="0" rIns="0" bIns="0" rtlCol="0" anchor="ctr"/>
          <a:lstStyle/>
          <a:p>
            <a:pPr indent="0" marL="0">
              <a:buNone/>
            </a:pPr>
            <a:r>
              <a:rPr lang="en-US" sz="2900" b="1" dirty="0">
                <a:solidFill>
                  <a:srgbClr val="0B0B0B"/>
                </a:solidFill>
                <a:latin typeface="Cambria" pitchFamily="34" charset="0"/>
                <a:ea typeface="Cambria" pitchFamily="34" charset="-122"/>
                <a:cs typeface="Cambria" pitchFamily="34" charset="-120"/>
              </a:rPr>
              <a:t>evaluate</a:t>
            </a:r>
            <a:endParaRPr lang="en-US" sz="2900" dirty="0"/>
          </a:p>
        </p:txBody>
      </p:sp>
      <p:sp>
        <p:nvSpPr>
          <p:cNvPr id="17" name="Text 15"/>
          <p:cNvSpPr txBox="1"/>
          <p:nvPr/>
        </p:nvSpPr>
        <p:spPr>
          <a:xfrm>
            <a:off x="640080" y="987552"/>
            <a:ext cx="7863840" cy="347472"/>
          </a:xfrm>
          <a:prstGeom prst="rect">
            <a:avLst/>
          </a:prstGeom>
          <a:noFill/>
          <a:ln/>
        </p:spPr>
        <p:txBody>
          <a:bodyPr wrap="square" lIns="0" tIns="0" rIns="0" bIns="0" rtlCol="0" anchor="ctr"/>
          <a:lstStyle/>
          <a:p>
            <a:pPr indent="0" marL="0">
              <a:buNone/>
            </a:pPr>
            <a:r>
              <a:rPr lang="en-US" sz="1600" dirty="0">
                <a:solidFill>
                  <a:srgbClr val="7A7974"/>
                </a:solidFill>
                <a:latin typeface="Calibri" pitchFamily="34" charset="0"/>
                <a:ea typeface="Calibri" pitchFamily="34" charset="-122"/>
                <a:cs typeface="Calibri" pitchFamily="34" charset="-120"/>
              </a:rPr>
              <a:t>Mark it</a:t>
            </a:r>
            <a:endParaRPr lang="en-US" sz="1600" dirty="0"/>
          </a:p>
        </p:txBody>
      </p:sp>
      <p:sp>
        <p:nvSpPr>
          <p:cNvPr id="18" name="Shape 16"/>
          <p:cNvSpPr/>
          <p:nvPr/>
        </p:nvSpPr>
        <p:spPr>
          <a:xfrm>
            <a:off x="640080"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9" name="Text 17"/>
          <p:cNvSpPr txBox="1"/>
          <p:nvPr/>
        </p:nvSpPr>
        <p:spPr>
          <a:xfrm>
            <a:off x="859536"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it does</a:t>
            </a:r>
            <a:endParaRPr lang="en-US" sz="1200" dirty="0"/>
          </a:p>
        </p:txBody>
      </p:sp>
      <p:sp>
        <p:nvSpPr>
          <p:cNvPr id="20" name="Text 18"/>
          <p:cNvSpPr txBox="1"/>
          <p:nvPr/>
        </p:nvSpPr>
        <p:spPr>
          <a:xfrm>
            <a:off x="859536"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Three tests in order. Does it compile? Does it pass against the known-correct circuit? And does it catch five deliberately broken copies of that circuit?</a:t>
            </a:r>
            <a:endParaRPr lang="en-US" sz="1350" dirty="0"/>
          </a:p>
        </p:txBody>
      </p:sp>
      <p:sp>
        <p:nvSpPr>
          <p:cNvPr id="21" name="Shape 19"/>
          <p:cNvSpPr/>
          <p:nvPr/>
        </p:nvSpPr>
        <p:spPr>
          <a:xfrm>
            <a:off x="6277356" y="1517904"/>
            <a:ext cx="5271516" cy="1572768"/>
          </a:xfrm>
          <a:prstGeom prst="roundRect">
            <a:avLst>
              <a:gd name="adj" fmla="val 465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2" name="Text 20"/>
          <p:cNvSpPr txBox="1"/>
          <p:nvPr/>
        </p:nvSpPr>
        <p:spPr>
          <a:xfrm>
            <a:off x="6496812" y="1645920"/>
            <a:ext cx="4832604"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Why we need it</a:t>
            </a:r>
            <a:endParaRPr lang="en-US" sz="1200" dirty="0"/>
          </a:p>
        </p:txBody>
      </p:sp>
      <p:sp>
        <p:nvSpPr>
          <p:cNvPr id="23" name="Text 21"/>
          <p:cNvSpPr txBox="1"/>
          <p:nvPr/>
        </p:nvSpPr>
        <p:spPr>
          <a:xfrm>
            <a:off x="6496812" y="1938528"/>
            <a:ext cx="4832604" cy="1078992"/>
          </a:xfrm>
          <a:prstGeom prst="rect">
            <a:avLst/>
          </a:prstGeom>
          <a:noFill/>
          <a:ln/>
        </p:spPr>
        <p:txBody>
          <a:bodyPr wrap="square" lIns="0" tIns="0" rIns="0" bIns="0" rtlCol="0" anchor="t"/>
          <a:lstStyle/>
          <a:p>
            <a:pPr indent="0" marL="0">
              <a:lnSpc>
                <a:spcPct val="114000"/>
              </a:lnSpc>
              <a:buNone/>
            </a:pPr>
            <a:r>
              <a:rPr lang="en-US" sz="1350" dirty="0">
                <a:solidFill>
                  <a:srgbClr val="0B0B0B"/>
                </a:solidFill>
                <a:latin typeface="Calibri" pitchFamily="34" charset="0"/>
                <a:ea typeface="Calibri" pitchFamily="34" charset="-122"/>
                <a:cs typeface="Calibri" pitchFamily="34" charset="-120"/>
              </a:rPr>
              <a:t>Ground truth. Everything reported in this talk comes out of this step, along with the cost and timing of every AI call.</a:t>
            </a:r>
            <a:endParaRPr lang="en-US" sz="1350" dirty="0"/>
          </a:p>
        </p:txBody>
      </p:sp>
      <p:sp>
        <p:nvSpPr>
          <p:cNvPr id="24" name="Shape 22"/>
          <p:cNvSpPr/>
          <p:nvPr/>
        </p:nvSpPr>
        <p:spPr>
          <a:xfrm>
            <a:off x="640080" y="3383280"/>
            <a:ext cx="6675120"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3511296"/>
            <a:ext cx="6236208"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Example</a:t>
            </a:r>
            <a:endParaRPr lang="en-US" sz="1200" dirty="0"/>
          </a:p>
        </p:txBody>
      </p:sp>
      <p:sp>
        <p:nvSpPr>
          <p:cNvPr id="26" name="Text 24"/>
          <p:cNvSpPr txBox="1"/>
          <p:nvPr/>
        </p:nvSpPr>
        <p:spPr>
          <a:xfrm>
            <a:off x="859536" y="3767328"/>
            <a:ext cx="6236208" cy="274320"/>
          </a:xfrm>
          <a:prstGeom prst="rect">
            <a:avLst/>
          </a:prstGeom>
          <a:noFill/>
          <a:ln/>
        </p:spPr>
        <p:txBody>
          <a:bodyPr wrap="square" lIns="0" tIns="0" rIns="0" bIns="0" rtlCol="0" anchor="ctr"/>
          <a:lstStyle/>
          <a:p>
            <a:pPr indent="0" marL="0">
              <a:buNone/>
            </a:pPr>
            <a:r>
              <a:rPr lang="en-US" sz="1150" i="1" dirty="0">
                <a:solidFill>
                  <a:srgbClr val="7A7974"/>
                </a:solidFill>
                <a:latin typeface="Calibri" pitchFamily="34" charset="0"/>
                <a:ea typeface="Calibri" pitchFamily="34" charset="-122"/>
                <a:cs typeface="Calibri" pitchFamily="34" charset="-120"/>
              </a:rPr>
              <a:t>one run's scorecard — counter_4bit</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914400" y="4133088"/>
          <a:ext cx="6126480" cy="914400"/>
        </p:xfrm>
        <a:graphic>
          <a:graphicData uri="http://schemas.openxmlformats.org/drawingml/2006/table">
            <a:tbl>
              <a:tblPr/>
              <a:tblGrid>
                <a:gridCol w="3798418"/>
                <a:gridCol w="2328062"/>
              </a:tblGrid>
              <a:tr h="246888">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test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E7E6E1"/>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Eval0  — compiles?</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Eval1  — works on the real circuit?</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8 of 11 scenarios</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24688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Eval2  — catches broken copies?</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not reached</a:t>
                      </a:r>
                      <a:endParaRPr lang="en-US" sz="1250" dirty="0">
                        <a:latin typeface="Calibri" charset="0"/>
                        <a:ea typeface="Calibri" charset="0"/>
                        <a:cs typeface="Calibri" charset="0"/>
                      </a:endParaRPr>
                    </a:p>
                  </a:txBody>
                  <a:tcPr marL="50800" marR="50800" marT="50800" marB="508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28" name="Shape 25"/>
          <p:cNvSpPr/>
          <p:nvPr/>
        </p:nvSpPr>
        <p:spPr>
          <a:xfrm>
            <a:off x="7680960" y="3383280"/>
            <a:ext cx="3867912" cy="3035808"/>
          </a:xfrm>
          <a:prstGeom prst="roundRect">
            <a:avLst>
              <a:gd name="adj" fmla="val 2410"/>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9" name="Text 26"/>
          <p:cNvSpPr txBox="1"/>
          <p:nvPr/>
        </p:nvSpPr>
        <p:spPr>
          <a:xfrm>
            <a:off x="7900416" y="3511296"/>
            <a:ext cx="3429000" cy="256032"/>
          </a:xfrm>
          <a:prstGeom prst="rect">
            <a:avLst/>
          </a:prstGeom>
          <a:noFill/>
          <a:ln/>
        </p:spPr>
        <p:txBody>
          <a:bodyPr wrap="square" lIns="0" tIns="0" rIns="0" bIns="0" rtlCol="0" anchor="ctr"/>
          <a:lstStyle/>
          <a:p>
            <a:pPr indent="0" marL="0">
              <a:buNone/>
            </a:pPr>
            <a:r>
              <a:rPr lang="en-US" sz="1200" b="1" spc="120" kern="0" dirty="0">
                <a:solidFill>
                  <a:srgbClr val="7A7974"/>
                </a:solidFill>
                <a:latin typeface="Calibri" pitchFamily="34" charset="0"/>
                <a:ea typeface="Calibri" pitchFamily="34" charset="-122"/>
                <a:cs typeface="Calibri" pitchFamily="34" charset="-120"/>
              </a:rPr>
              <a:t>What came out of it</a:t>
            </a:r>
            <a:endParaRPr lang="en-US" sz="1200" dirty="0"/>
          </a:p>
        </p:txBody>
      </p:sp>
      <p:sp>
        <p:nvSpPr>
          <p:cNvPr id="30" name="Text 27"/>
          <p:cNvSpPr txBox="1"/>
          <p:nvPr/>
        </p:nvSpPr>
        <p:spPr>
          <a:xfrm>
            <a:off x="7900416" y="3858768"/>
            <a:ext cx="3429000" cy="640080"/>
          </a:xfrm>
          <a:prstGeom prst="rect">
            <a:avLst/>
          </a:prstGeom>
          <a:noFill/>
          <a:ln/>
        </p:spPr>
        <p:txBody>
          <a:bodyPr wrap="square" lIns="0" tIns="0" rIns="0" bIns="0"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92.5 / 31.4 / 95</a:t>
            </a:r>
            <a:endParaRPr lang="en-US" sz="2100" dirty="0"/>
          </a:p>
        </p:txBody>
      </p:sp>
      <p:sp>
        <p:nvSpPr>
          <p:cNvPr id="31" name="Text 28"/>
          <p:cNvSpPr txBox="1"/>
          <p:nvPr/>
        </p:nvSpPr>
        <p:spPr>
          <a:xfrm>
            <a:off x="7900416" y="4535424"/>
            <a:ext cx="3429000" cy="640080"/>
          </a:xfrm>
          <a:prstGeom prst="rect">
            <a:avLst/>
          </a:prstGeom>
          <a:noFill/>
          <a:ln/>
        </p:spPr>
        <p:txBody>
          <a:bodyPr wrap="square" lIns="0" tIns="0" rIns="0" bIns="0" rtlCol="0" anchor="t"/>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compiles  ·  works  ·  catches</a:t>
            </a:r>
            <a:endParaRPr lang="en-US" sz="1250" dirty="0"/>
          </a:p>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broken copies   (%)</a:t>
            </a:r>
            <a:endParaRPr lang="en-US" sz="1250" dirty="0"/>
          </a:p>
        </p:txBody>
      </p:sp>
      <p:sp>
        <p:nvSpPr>
          <p:cNvPr id="32" name="Text 29"/>
          <p:cNvSpPr txBox="1"/>
          <p:nvPr/>
        </p:nvSpPr>
        <p:spPr>
          <a:xfrm>
            <a:off x="7900416" y="5257800"/>
            <a:ext cx="3429000" cy="1051560"/>
          </a:xfrm>
          <a:prstGeom prst="rect">
            <a:avLst/>
          </a:prstGeom>
          <a:noFill/>
          <a:ln/>
        </p:spPr>
        <p:txBody>
          <a:bodyPr wrap="square" lIns="0" tIns="0" rIns="0" bIns="0" rtlCol="0" anchor="t"/>
          <a:lstStyle/>
          <a:p>
            <a:pPr indent="0" marL="0">
              <a:lnSpc>
                <a:spcPct val="116000"/>
              </a:lnSpc>
              <a:buNone/>
            </a:pPr>
            <a:r>
              <a:rPr lang="en-US" sz="1300" dirty="0">
                <a:solidFill>
                  <a:srgbClr val="52514E"/>
                </a:solidFill>
                <a:latin typeface="Calibri" pitchFamily="34" charset="0"/>
                <a:ea typeface="Calibri" pitchFamily="34" charset="-122"/>
                <a:cs typeface="Calibri" pitchFamily="34" charset="-120"/>
              </a:rPr>
              <a:t>The last number is flattering and we treat it as a limitation, not a result.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RESULTS  ·  1 OF 6</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Does the checker actually work?</a:t>
            </a:r>
            <a:endParaRPr lang="en-US" sz="3000" dirty="0"/>
          </a:p>
        </p:txBody>
      </p:sp>
      <p:sp>
        <p:nvSpPr>
          <p:cNvPr id="4" name="Text 2"/>
          <p:cNvSpPr txBox="1"/>
          <p:nvPr/>
        </p:nvSpPr>
        <p:spPr>
          <a:xfrm>
            <a:off x="640080" y="1005840"/>
            <a:ext cx="10908792" cy="365760"/>
          </a:xfrm>
          <a:prstGeom prst="rect">
            <a:avLst/>
          </a:prstGeom>
          <a:noFill/>
          <a:ln/>
        </p:spPr>
        <p:txBody>
          <a:bodyPr wrap="square" lIns="0" tIns="0" rIns="0" bIns="0" rtlCol="0" anchor="ctr"/>
          <a:lstStyle/>
          <a:p>
            <a:pPr indent="0" marL="0">
              <a:buNone/>
            </a:pPr>
            <a:r>
              <a:rPr lang="en-US" sz="1500" dirty="0">
                <a:solidFill>
                  <a:srgbClr val="7A7974"/>
                </a:solidFill>
                <a:latin typeface="Calibri" pitchFamily="34" charset="0"/>
                <a:ea typeface="Calibri" pitchFamily="34" charset="-122"/>
                <a:cs typeface="Calibri" pitchFamily="34" charset="-120"/>
              </a:rPr>
              <a:t>We broke 215 testbenches in known ways and scored three things against them</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4572000"/>
                <a:gridCol w="1143000"/>
                <a:gridCol w="1691640"/>
                <a:gridCol w="1691640"/>
                <a:gridCol w="1810512"/>
              </a:tblGrid>
              <a:tr h="310896">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The mistake we injected</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How many</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Our checker</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The compiler</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Running it</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 pin renamed so it does not exist</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finds all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finds all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 pin left unconnected</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finds all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finds 98%</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an input never given a value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finds all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finds 97%</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 signal of the wrong width</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finds all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finds 82%</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an output nobody ever checks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finds all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 clock that never ticks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finds all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finds 17%</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i="1" dirty="0">
                          <a:solidFill>
                            <a:srgbClr val="7A7974"/>
                          </a:solidFill>
                          <a:latin typeface="Calibri" pitchFamily="34" charset="0"/>
                          <a:ea typeface="Calibri" pitchFamily="34" charset="-122"/>
                          <a:cs typeface="Calibri" pitchFamily="34" charset="-120"/>
                        </a:rPr>
                        <a:t>two same-width signals swapped   (control)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78%</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i="1" dirty="0">
                          <a:solidFill>
                            <a:srgbClr val="7A7974"/>
                          </a:solidFill>
                          <a:latin typeface="Calibri" pitchFamily="34" charset="0"/>
                          <a:ea typeface="Calibri" pitchFamily="34" charset="-122"/>
                          <a:cs typeface="Calibri" pitchFamily="34" charset="-120"/>
                        </a:rPr>
                        <a:t>broken clock synchronisation   (control)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none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7A7974"/>
                          </a:solidFill>
                          <a:latin typeface="Calibri" pitchFamily="34" charset="0"/>
                          <a:ea typeface="Calibri" pitchFamily="34" charset="-122"/>
                          <a:cs typeface="Calibri" pitchFamily="34" charset="-120"/>
                        </a:rPr>
                        <a:t>finds 80%</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5779008"/>
            <a:ext cx="10908792" cy="713232"/>
          </a:xfrm>
          <a:prstGeom prst="roundRect">
            <a:avLst>
              <a:gd name="adj" fmla="val 10256"/>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7" name="Text 4"/>
          <p:cNvSpPr txBox="1"/>
          <p:nvPr/>
        </p:nvSpPr>
        <p:spPr>
          <a:xfrm>
            <a:off x="859536" y="5852160"/>
            <a:ext cx="10469880" cy="56692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The bold row is the one that matters: if the testbench stops checking an output, running it PASSES — nothing else can see that. The last two rows are controls, built to be impossible to spot from structure.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RESULTS  ·  2 OF 6</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The three scores, and how they compare</a:t>
            </a:r>
            <a:endParaRPr lang="en-US" sz="3000" dirty="0"/>
          </a:p>
        </p:txBody>
      </p:sp>
      <p:sp>
        <p:nvSpPr>
          <p:cNvPr id="4" name="Text 2"/>
          <p:cNvSpPr txBox="1"/>
          <p:nvPr/>
        </p:nvSpPr>
        <p:spPr>
          <a:xfrm>
            <a:off x="640080" y="1005840"/>
            <a:ext cx="10908792" cy="365760"/>
          </a:xfrm>
          <a:prstGeom prst="rect">
            <a:avLst/>
          </a:prstGeom>
          <a:noFill/>
          <a:ln/>
        </p:spPr>
        <p:txBody>
          <a:bodyPr wrap="square" lIns="0" tIns="0" rIns="0" bIns="0" rtlCol="0" anchor="ctr"/>
          <a:lstStyle/>
          <a:p>
            <a:pPr indent="0" marL="0">
              <a:buNone/>
            </a:pPr>
            <a:r>
              <a:rPr lang="en-US" sz="1500" dirty="0">
                <a:solidFill>
                  <a:srgbClr val="7A7974"/>
                </a:solidFill>
                <a:latin typeface="Calibri" pitchFamily="34" charset="0"/>
                <a:ea typeface="Calibri" pitchFamily="34" charset="-122"/>
                <a:cs typeface="Calibri" pitchFamily="34" charset="-120"/>
              </a:rPr>
              <a:t>Ours across 280 runs, against AutoBench's published figures</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1188720"/>
                <a:gridCol w="3977640"/>
                <a:gridCol w="1371600"/>
                <a:gridCol w="2468880"/>
                <a:gridCol w="1901952"/>
              </a:tblGrid>
              <a:tr h="310896">
                <a:tc>
                  <a:txBody>
                    <a:bodyPr/>
                    <a:lstStyle/>
                    <a:p>
                      <a:pPr indent="0" marL="0">
                        <a:buNone/>
                      </a:pP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What it asks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Ours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AutoBench</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Read it as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r>
              <a:tr h="310896">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Eval0</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does the testbench compile?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92.5%</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95.7%</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level — 98.7% on our strong model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Eval1</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does it pass against the real circuit?</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31.4%</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51.5%   ·   37.1% clocked</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comparable — ours are mostly clocked</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Eval2</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does it catch deliberately broken copies?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95%</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44.8%</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NOT comparable — different rule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52514E"/>
                          </a:solidFill>
                          <a:latin typeface="Calibri" pitchFamily="34" charset="0"/>
                          <a:ea typeface="Calibri" pitchFamily="34" charset="-122"/>
                          <a:cs typeface="Calibri" pitchFamily="34" charset="-120"/>
                        </a:rPr>
                        <a:t>Eval2</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…scored under AutoBench's own rule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26.0% clocked</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comparable — no ranking at n=20</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663440"/>
            <a:ext cx="5225796" cy="1737360"/>
          </a:xfrm>
          <a:prstGeom prst="roundRect">
            <a:avLst>
              <a:gd name="adj" fmla="val 421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7" name="Text 4"/>
          <p:cNvSpPr txBox="1"/>
          <p:nvPr/>
        </p:nvSpPr>
        <p:spPr>
          <a:xfrm>
            <a:off x="877824" y="4809744"/>
            <a:ext cx="4768596" cy="292608"/>
          </a:xfrm>
          <a:prstGeom prst="rect">
            <a:avLst/>
          </a:prstGeom>
          <a:noFill/>
          <a:ln/>
        </p:spPr>
        <p:txBody>
          <a:bodyPr wrap="square" lIns="0" tIns="0" rIns="0" bIns="0" rtlCol="0" anchor="ctr"/>
          <a:lstStyle/>
          <a:p>
            <a:pPr indent="0" marL="0">
              <a:buNone/>
            </a:pPr>
            <a:r>
              <a:rPr lang="en-US" sz="1300" b="1" spc="110" kern="0" dirty="0">
                <a:solidFill>
                  <a:srgbClr val="EB6834"/>
                </a:solidFill>
                <a:latin typeface="Calibri" pitchFamily="34" charset="0"/>
                <a:ea typeface="Calibri" pitchFamily="34" charset="-122"/>
                <a:cs typeface="Calibri" pitchFamily="34" charset="-120"/>
              </a:rPr>
              <a:t>Why our Eval2 is not a win</a:t>
            </a:r>
            <a:endParaRPr lang="en-US" sz="1300" dirty="0"/>
          </a:p>
        </p:txBody>
      </p:sp>
      <p:sp>
        <p:nvSpPr>
          <p:cNvPr id="8" name="Text 5"/>
          <p:cNvSpPr txBox="1"/>
          <p:nvPr/>
        </p:nvSpPr>
        <p:spPr>
          <a:xfrm>
            <a:off x="877824" y="5120640"/>
            <a:ext cx="4750308" cy="1188720"/>
          </a:xfrm>
          <a:prstGeom prst="rect">
            <a:avLst/>
          </a:prstGeom>
          <a:noFill/>
          <a:ln/>
        </p:spPr>
        <p:txBody>
          <a:bodyPr wrap="square" lIns="0" tIns="0" rIns="0" bIns="0" rtlCol="0" anchor="t"/>
          <a:lstStyle/>
          <a:p>
            <a:pPr indent="0" marL="0">
              <a:lnSpc>
                <a:spcPct val="118000"/>
              </a:lnSpc>
              <a:buNone/>
            </a:pPr>
            <a:r>
              <a:rPr lang="en-US" sz="1300" dirty="0">
                <a:solidFill>
                  <a:srgbClr val="52514E"/>
                </a:solidFill>
                <a:latin typeface="Calibri" pitchFamily="34" charset="0"/>
                <a:ea typeface="Calibri" pitchFamily="34" charset="-122"/>
                <a:cs typeface="Calibri" pitchFamily="34" charset="-120"/>
              </a:rPr>
              <a:t>95% is a ceiling — our own test circuits are too small for a bug to hide in. We checked: better broken copies moved the score one point, bigger circuits moved it forty-four. So it measures our choice of circuits, not our testbenches.</a:t>
            </a:r>
            <a:endParaRPr lang="en-US" sz="1300" dirty="0"/>
          </a:p>
        </p:txBody>
      </p:sp>
      <p:sp>
        <p:nvSpPr>
          <p:cNvPr id="9" name="Shape 6"/>
          <p:cNvSpPr/>
          <p:nvPr/>
        </p:nvSpPr>
        <p:spPr>
          <a:xfrm>
            <a:off x="6323076" y="4663440"/>
            <a:ext cx="5225796" cy="1737360"/>
          </a:xfrm>
          <a:prstGeom prst="roundRect">
            <a:avLst>
              <a:gd name="adj" fmla="val 421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0" name="Text 7"/>
          <p:cNvSpPr txBox="1"/>
          <p:nvPr/>
        </p:nvSpPr>
        <p:spPr>
          <a:xfrm>
            <a:off x="6560820" y="4809744"/>
            <a:ext cx="4768596" cy="292608"/>
          </a:xfrm>
          <a:prstGeom prst="rect">
            <a:avLst/>
          </a:prstGeom>
          <a:noFill/>
          <a:ln/>
        </p:spPr>
        <p:txBody>
          <a:bodyPr wrap="square" lIns="0" tIns="0" rIns="0" bIns="0" rtlCol="0" anchor="ctr"/>
          <a:lstStyle/>
          <a:p>
            <a:pPr indent="0" marL="0">
              <a:buNone/>
            </a:pPr>
            <a:r>
              <a:rPr lang="en-US" sz="1300" b="1" spc="110" kern="0" dirty="0">
                <a:solidFill>
                  <a:srgbClr val="2A78D6"/>
                </a:solidFill>
                <a:latin typeface="Calibri" pitchFamily="34" charset="0"/>
                <a:ea typeface="Calibri" pitchFamily="34" charset="-122"/>
                <a:cs typeface="Calibri" pitchFamily="34" charset="-120"/>
              </a:rPr>
              <a:t>Why the rest is a fair comparison</a:t>
            </a:r>
            <a:endParaRPr lang="en-US" sz="1300" dirty="0"/>
          </a:p>
        </p:txBody>
      </p:sp>
      <p:sp>
        <p:nvSpPr>
          <p:cNvPr id="11" name="Text 8"/>
          <p:cNvSpPr txBox="1"/>
          <p:nvPr/>
        </p:nvSpPr>
        <p:spPr>
          <a:xfrm>
            <a:off x="6560820" y="5120640"/>
            <a:ext cx="4750308" cy="1188720"/>
          </a:xfrm>
          <a:prstGeom prst="rect">
            <a:avLst/>
          </a:prstGeom>
          <a:noFill/>
          <a:ln/>
        </p:spPr>
        <p:txBody>
          <a:bodyPr wrap="square" lIns="0" tIns="0" rIns="0" bIns="0" rtlCol="0" anchor="t"/>
          <a:lstStyle/>
          <a:p>
            <a:pPr indent="0" marL="0">
              <a:lnSpc>
                <a:spcPct val="118000"/>
              </a:lnSpc>
              <a:buNone/>
            </a:pPr>
            <a:r>
              <a:rPr lang="en-US" sz="1300" dirty="0">
                <a:solidFill>
                  <a:srgbClr val="52514E"/>
                </a:solidFill>
                <a:latin typeface="Calibri" pitchFamily="34" charset="0"/>
                <a:ea typeface="Calibri" pitchFamily="34" charset="-122"/>
                <a:cs typeface="Calibri" pitchFamily="34" charset="-120"/>
              </a:rPr>
              <a:t>Our 20 benchmark circuits are the hardest fifth of theirs, and three quarters are clocked — the hard case. Where the measures line up we are in the same range, with a newer model, on harder circuits.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RESULTS  ·  3 OF 6</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Five settings, compared</a:t>
            </a:r>
            <a:endParaRPr lang="en-US" sz="3000" dirty="0"/>
          </a:p>
        </p:txBody>
      </p:sp>
      <p:sp>
        <p:nvSpPr>
          <p:cNvPr id="4" name="Text 2"/>
          <p:cNvSpPr txBox="1"/>
          <p:nvPr/>
        </p:nvSpPr>
        <p:spPr>
          <a:xfrm>
            <a:off x="640080" y="1005840"/>
            <a:ext cx="10908792" cy="365760"/>
          </a:xfrm>
          <a:prstGeom prst="rect">
            <a:avLst/>
          </a:prstGeom>
          <a:noFill/>
          <a:ln/>
        </p:spPr>
        <p:txBody>
          <a:bodyPr wrap="square" lIns="0" tIns="0" rIns="0" bIns="0" rtlCol="0" anchor="ctr"/>
          <a:lstStyle/>
          <a:p>
            <a:pPr indent="0" marL="0">
              <a:buNone/>
            </a:pPr>
            <a:r>
              <a:rPr lang="en-US" sz="1500" dirty="0">
                <a:solidFill>
                  <a:srgbClr val="7A7974"/>
                </a:solidFill>
                <a:latin typeface="Calibri" pitchFamily="34" charset="0"/>
                <a:ea typeface="Calibri" pitchFamily="34" charset="-122"/>
                <a:cs typeface="Calibri" pitchFamily="34" charset="-120"/>
              </a:rPr>
              <a:t>Same pipeline every time — the only thing that changes is when it may try again</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2377440"/>
                <a:gridCol w="6217920"/>
                <a:gridCol w="2313432"/>
              </a:tblGrid>
              <a:tr h="310896">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What it is allowed to do</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Circuits that worked</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pyverilog_only</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try again if our checker complained</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9  of 44</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nothing — one attempt only</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12  of 44</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retry_only</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try again, told nothing at all     ← the control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13  of 44</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compiler_only</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try again if it did not compile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15  of 44</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hybrid</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try again for any of those reasons     ← ours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18  of 44</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343400"/>
            <a:ext cx="5225796" cy="1874520"/>
          </a:xfrm>
          <a:prstGeom prst="roundRect">
            <a:avLst>
              <a:gd name="adj" fmla="val 3902"/>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7" name="Text 4"/>
          <p:cNvSpPr txBox="1"/>
          <p:nvPr/>
        </p:nvSpPr>
        <p:spPr>
          <a:xfrm>
            <a:off x="877824" y="4489704"/>
            <a:ext cx="4768596" cy="292608"/>
          </a:xfrm>
          <a:prstGeom prst="rect">
            <a:avLst/>
          </a:prstGeom>
          <a:noFill/>
          <a:ln/>
        </p:spPr>
        <p:txBody>
          <a:bodyPr wrap="square" lIns="0" tIns="0" rIns="0" bIns="0" rtlCol="0" anchor="ctr"/>
          <a:lstStyle/>
          <a:p>
            <a:pPr indent="0" marL="0">
              <a:buNone/>
            </a:pPr>
            <a:r>
              <a:rPr lang="en-US" sz="1300" b="1" spc="110" kern="0" dirty="0">
                <a:solidFill>
                  <a:srgbClr val="7A7974"/>
                </a:solidFill>
                <a:latin typeface="Calibri" pitchFamily="34" charset="0"/>
                <a:ea typeface="Calibri" pitchFamily="34" charset="-122"/>
                <a:cs typeface="Calibri" pitchFamily="34" charset="-120"/>
              </a:rPr>
              <a:t>The three comparisons</a:t>
            </a:r>
            <a:endParaRPr lang="en-US" sz="1300" dirty="0"/>
          </a:p>
        </p:txBody>
      </p:sp>
      <p:sp>
        <p:nvSpPr>
          <p:cNvPr id="8" name="Text 5"/>
          <p:cNvSpPr txBox="1"/>
          <p:nvPr/>
        </p:nvSpPr>
        <p:spPr>
          <a:xfrm>
            <a:off x="877824" y="4818888"/>
            <a:ext cx="4750308" cy="1371600"/>
          </a:xfrm>
          <a:prstGeom prst="rect">
            <a:avLst/>
          </a:prstGeom>
          <a:noFill/>
          <a:ln/>
        </p:spPr>
        <p:txBody>
          <a:bodyPr wrap="square" lIns="0" tIns="0" rIns="0" bIns="0" rtlCol="0" anchor="t"/>
          <a:lstStyle/>
          <a:p>
            <a:pPr indent="0" marL="0">
              <a:lnSpc>
                <a:spcPct val="140000"/>
              </a:lnSpc>
              <a:buNone/>
            </a:pPr>
            <a:r>
              <a:rPr lang="en-US" sz="1400" b="1" dirty="0">
                <a:solidFill>
                  <a:srgbClr val="0B0B0B"/>
                </a:solidFill>
                <a:latin typeface="Calibri" pitchFamily="34" charset="0"/>
                <a:ea typeface="Calibri" pitchFamily="34" charset="-122"/>
                <a:cs typeface="Calibri" pitchFamily="34" charset="-120"/>
              </a:rPr>
              <a:t>ours 18  vs  baseline 12</a:t>
            </a:r>
            <a:pPr indent="0" marL="0">
              <a:lnSpc>
                <a:spcPct val="140000"/>
              </a:lnSpc>
              <a:buNone/>
            </a:pPr>
            <a:r>
              <a:rPr lang="en-US" sz="1400" dirty="0">
                <a:solidFill>
                  <a:srgbClr val="52514E"/>
                </a:solidFill>
                <a:latin typeface="Calibri" pitchFamily="34" charset="0"/>
                <a:ea typeface="Calibri" pitchFamily="34" charset="-122"/>
                <a:cs typeface="Calibri" pitchFamily="34" charset="-120"/>
              </a:rPr>
              <a:t>   +6 — looks like a clear win
</a:t>
            </a:r>
            <a:pPr indent="0" marL="0">
              <a:lnSpc>
                <a:spcPct val="140000"/>
              </a:lnSpc>
              <a:buNone/>
            </a:pPr>
            <a:r>
              <a:rPr lang="en-US" sz="1400" b="1" dirty="0">
                <a:solidFill>
                  <a:srgbClr val="0B0B0B"/>
                </a:solidFill>
                <a:latin typeface="Calibri" pitchFamily="34" charset="0"/>
                <a:ea typeface="Calibri" pitchFamily="34" charset="-122"/>
                <a:cs typeface="Calibri" pitchFamily="34" charset="-120"/>
              </a:rPr>
              <a:t>ours 18  vs  the control 13</a:t>
            </a:r>
            <a:pPr indent="0" marL="0">
              <a:lnSpc>
                <a:spcPct val="140000"/>
              </a:lnSpc>
              <a:buNone/>
            </a:pPr>
            <a:r>
              <a:rPr lang="en-US" sz="1400" dirty="0">
                <a:solidFill>
                  <a:srgbClr val="52514E"/>
                </a:solidFill>
                <a:latin typeface="Calibri" pitchFamily="34" charset="0"/>
                <a:ea typeface="Calibri" pitchFamily="34" charset="-122"/>
                <a:cs typeface="Calibri" pitchFamily="34" charset="-120"/>
              </a:rPr>
              <a:t>   +5 — the fair test
</a:t>
            </a:r>
            <a:pPr indent="0" marL="0">
              <a:lnSpc>
                <a:spcPct val="140000"/>
              </a:lnSpc>
              <a:buNone/>
            </a:pPr>
            <a:r>
              <a:rPr lang="en-US" sz="1400" b="1" dirty="0">
                <a:solidFill>
                  <a:srgbClr val="EB6834"/>
                </a:solidFill>
                <a:latin typeface="Calibri" pitchFamily="34" charset="0"/>
                <a:ea typeface="Calibri" pitchFamily="34" charset="-122"/>
                <a:cs typeface="Calibri" pitchFamily="34" charset="-120"/>
              </a:rPr>
              <a:t>pyverilog_only 9  vs  baseline 12</a:t>
            </a:r>
            <a:pPr indent="0" marL="0">
              <a:lnSpc>
                <a:spcPct val="140000"/>
              </a:lnSpc>
              <a:buNone/>
            </a:pPr>
            <a:r>
              <a:rPr lang="en-US" sz="1400" dirty="0">
                <a:solidFill>
                  <a:srgbClr val="52514E"/>
                </a:solidFill>
                <a:latin typeface="Calibri" pitchFamily="34" charset="0"/>
                <a:ea typeface="Calibri" pitchFamily="34" charset="-122"/>
                <a:cs typeface="Calibri" pitchFamily="34" charset="-120"/>
              </a:rPr>
              <a:t>   −3 — and these two ran the same logic</a:t>
            </a:r>
            <a:endParaRPr lang="en-US" sz="1400" dirty="0"/>
          </a:p>
        </p:txBody>
      </p:sp>
      <p:sp>
        <p:nvSpPr>
          <p:cNvPr id="9" name="Shape 6"/>
          <p:cNvSpPr/>
          <p:nvPr/>
        </p:nvSpPr>
        <p:spPr>
          <a:xfrm>
            <a:off x="6323076" y="4343400"/>
            <a:ext cx="5225796" cy="1874520"/>
          </a:xfrm>
          <a:prstGeom prst="roundRect">
            <a:avLst>
              <a:gd name="adj" fmla="val 3902"/>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0" name="Text 7"/>
          <p:cNvSpPr txBox="1"/>
          <p:nvPr/>
        </p:nvSpPr>
        <p:spPr>
          <a:xfrm>
            <a:off x="6560820" y="4489704"/>
            <a:ext cx="4768596" cy="292608"/>
          </a:xfrm>
          <a:prstGeom prst="rect">
            <a:avLst/>
          </a:prstGeom>
          <a:noFill/>
          <a:ln/>
        </p:spPr>
        <p:txBody>
          <a:bodyPr wrap="square" lIns="0" tIns="0" rIns="0" bIns="0" rtlCol="0" anchor="ctr"/>
          <a:lstStyle/>
          <a:p>
            <a:pPr indent="0" marL="0">
              <a:buNone/>
            </a:pPr>
            <a:r>
              <a:rPr lang="en-US" sz="1300" b="1" spc="110" kern="0" dirty="0">
                <a:solidFill>
                  <a:srgbClr val="7A7974"/>
                </a:solidFill>
                <a:latin typeface="Calibri" pitchFamily="34" charset="0"/>
                <a:ea typeface="Calibri" pitchFamily="34" charset="-122"/>
                <a:cs typeface="Calibri" pitchFamily="34" charset="-120"/>
              </a:rPr>
              <a:t>What that means</a:t>
            </a:r>
            <a:endParaRPr lang="en-US" sz="1300" dirty="0"/>
          </a:p>
        </p:txBody>
      </p:sp>
      <p:sp>
        <p:nvSpPr>
          <p:cNvPr id="11" name="Text 8"/>
          <p:cNvSpPr txBox="1"/>
          <p:nvPr/>
        </p:nvSpPr>
        <p:spPr>
          <a:xfrm>
            <a:off x="6560820" y="4818888"/>
            <a:ext cx="4750308" cy="1371600"/>
          </a:xfrm>
          <a:prstGeom prst="rect">
            <a:avLst/>
          </a:prstGeom>
          <a:noFill/>
          <a:ln/>
        </p:spPr>
        <p:txBody>
          <a:bodyPr wrap="square" lIns="0" tIns="0" rIns="0" bIns="0" rtlCol="0" anchor="t"/>
          <a:lstStyle/>
          <a:p>
            <a:pPr indent="0" marL="0">
              <a:lnSpc>
                <a:spcPct val="120000"/>
              </a:lnSpc>
              <a:buNone/>
            </a:pPr>
            <a:r>
              <a:rPr lang="en-US" sz="1400" b="1" dirty="0">
                <a:solidFill>
                  <a:srgbClr val="0B0B0B"/>
                </a:solidFill>
                <a:latin typeface="Calibri" pitchFamily="34" charset="0"/>
                <a:ea typeface="Calibri" pitchFamily="34" charset="-122"/>
                <a:cs typeface="Calibri" pitchFamily="34" charset="-120"/>
              </a:rPr>
              <a:t>The bottom pair never actually repaired anything, so they ran the same logic — and still landed three circuits apart. Three circuits of difference happens by luck alone.</a:t>
            </a:r>
            <a:endParaRPr lang="en-US" sz="1400" dirty="0"/>
          </a:p>
          <a:p>
            <a:pPr indent="0" marL="0">
              <a:lnSpc>
                <a:spcPct val="120000"/>
              </a:lnSpc>
              <a:buNone/>
            </a:pPr>
            <a:endParaRPr lang="en-US" sz="1400" dirty="0"/>
          </a:p>
          <a:p>
            <a:pPr indent="0" marL="0">
              <a:lnSpc>
                <a:spcPct val="120000"/>
              </a:lnSpc>
              <a:buNone/>
            </a:pPr>
            <a:r>
              <a:rPr lang="en-US" sz="1400" b="1" dirty="0">
                <a:solidFill>
                  <a:srgbClr val="0B0B0B"/>
                </a:solidFill>
                <a:latin typeface="Calibri" pitchFamily="34" charset="0"/>
                <a:ea typeface="Calibri" pitchFamily="34" charset="-122"/>
                <a:cs typeface="Calibri" pitchFamily="34" charset="-120"/>
              </a:rPr>
              <a:t>So a five-circuit lead is not a result. We report it as not significant.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RESULTS  ·  4 OF 6</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actually triggered every repair</a:t>
            </a:r>
            <a:endParaRPr lang="en-US" sz="3000" dirty="0"/>
          </a:p>
        </p:txBody>
      </p:sp>
      <p:sp>
        <p:nvSpPr>
          <p:cNvPr id="4" name="Text 2"/>
          <p:cNvSpPr txBox="1"/>
          <p:nvPr/>
        </p:nvSpPr>
        <p:spPr>
          <a:xfrm>
            <a:off x="640080" y="1005840"/>
            <a:ext cx="10908792" cy="365760"/>
          </a:xfrm>
          <a:prstGeom prst="rect">
            <a:avLst/>
          </a:prstGeom>
          <a:noFill/>
          <a:ln/>
        </p:spPr>
        <p:txBody>
          <a:bodyPr wrap="square" lIns="0" tIns="0" rIns="0" bIns="0" rtlCol="0" anchor="ctr"/>
          <a:lstStyle/>
          <a:p>
            <a:pPr indent="0" marL="0">
              <a:buNone/>
            </a:pPr>
            <a:r>
              <a:rPr lang="en-US" sz="1500" dirty="0">
                <a:solidFill>
                  <a:srgbClr val="7A7974"/>
                </a:solidFill>
                <a:latin typeface="Calibri" pitchFamily="34" charset="0"/>
                <a:ea typeface="Calibri" pitchFamily="34" charset="-122"/>
                <a:cs typeface="Calibri" pitchFamily="34" charset="-120"/>
              </a:rPr>
              <a:t>Every rewrite the pipeline performed, across all 280 runs</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7863840" cy="914400"/>
        </p:xfrm>
        <a:graphic>
          <a:graphicData uri="http://schemas.openxmlformats.org/drawingml/2006/table">
            <a:tbl>
              <a:tblPr/>
              <a:tblGrid>
                <a:gridCol w="5943600"/>
                <a:gridCol w="1920240"/>
              </a:tblGrid>
              <a:tr h="310896">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What caused the rewrite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Times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Simulation — it ran and got the wrong answers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79</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Blind retry — no information at all (the control)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64</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Compiler errors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Our static checker</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3749040"/>
            <a:ext cx="7863840" cy="1371600"/>
          </a:xfrm>
          <a:prstGeom prst="roundRect">
            <a:avLst>
              <a:gd name="adj" fmla="val 5333"/>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7" name="Text 4"/>
          <p:cNvSpPr txBox="1"/>
          <p:nvPr/>
        </p:nvSpPr>
        <p:spPr>
          <a:xfrm>
            <a:off x="877824" y="3931920"/>
            <a:ext cx="7406640" cy="1005840"/>
          </a:xfrm>
          <a:prstGeom prst="rect">
            <a:avLst/>
          </a:prstGeom>
          <a:noFill/>
          <a:ln/>
        </p:spPr>
        <p:txBody>
          <a:bodyPr wrap="square" lIns="0" tIns="0" rIns="0" bIns="0" rtlCol="0" anchor="t"/>
          <a:lstStyle/>
          <a:p>
            <a:pPr indent="0" marL="0">
              <a:buNone/>
            </a:pPr>
            <a:r>
              <a:rPr lang="en-US" sz="1500" b="1" dirty="0">
                <a:solidFill>
                  <a:srgbClr val="0B0B0B"/>
                </a:solidFill>
                <a:latin typeface="Calibri" pitchFamily="34" charset="0"/>
                <a:ea typeface="Calibri" pitchFamily="34" charset="-122"/>
                <a:cs typeface="Calibri" pitchFamily="34" charset="-120"/>
              </a:rPr>
              <a:t>And the setting that isolates our checker on its own repaired zero times in 44 runs. It never found anything to act on.</a:t>
            </a:r>
            <a:endParaRPr lang="en-US" sz="1500" dirty="0"/>
          </a:p>
        </p:txBody>
      </p:sp>
      <p:sp>
        <p:nvSpPr>
          <p:cNvPr id="8" name="Shape 5"/>
          <p:cNvSpPr/>
          <p:nvPr/>
        </p:nvSpPr>
        <p:spPr>
          <a:xfrm>
            <a:off x="8915400" y="1600200"/>
            <a:ext cx="2633472" cy="3520440"/>
          </a:xfrm>
          <a:prstGeom prst="roundRect">
            <a:avLst>
              <a:gd name="adj" fmla="val 2778"/>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9" name="Text 6"/>
          <p:cNvSpPr txBox="1"/>
          <p:nvPr/>
        </p:nvSpPr>
        <p:spPr>
          <a:xfrm>
            <a:off x="9153144" y="1783080"/>
            <a:ext cx="2176272" cy="365760"/>
          </a:xfrm>
          <a:prstGeom prst="rect">
            <a:avLst/>
          </a:prstGeom>
          <a:noFill/>
          <a:ln/>
        </p:spPr>
        <p:txBody>
          <a:bodyPr wrap="square" lIns="0" tIns="0" rIns="0" bIns="0" rtlCol="0" anchor="ctr"/>
          <a:lstStyle/>
          <a:p>
            <a:pPr indent="0" marL="0">
              <a:buNone/>
            </a:pPr>
            <a:r>
              <a:rPr lang="en-US" sz="1800" b="1" dirty="0">
                <a:solidFill>
                  <a:srgbClr val="2A78D6"/>
                </a:solidFill>
                <a:latin typeface="Cambria" pitchFamily="34" charset="0"/>
                <a:ea typeface="Cambria" pitchFamily="34" charset="-122"/>
                <a:cs typeface="Cambria" pitchFamily="34" charset="-120"/>
              </a:rPr>
              <a:t>Not a broken tool</a:t>
            </a:r>
            <a:endParaRPr lang="en-US" sz="1800" dirty="0"/>
          </a:p>
        </p:txBody>
      </p:sp>
      <p:sp>
        <p:nvSpPr>
          <p:cNvPr id="10" name="Text 7"/>
          <p:cNvSpPr txBox="1"/>
          <p:nvPr/>
        </p:nvSpPr>
        <p:spPr>
          <a:xfrm>
            <a:off x="9189720" y="2240280"/>
            <a:ext cx="2084832" cy="2743200"/>
          </a:xfrm>
          <a:prstGeom prst="rect">
            <a:avLst/>
          </a:prstGeom>
          <a:noFill/>
          <a:ln/>
        </p:spPr>
        <p:txBody>
          <a:bodyPr wrap="square" lIns="0" tIns="0" rIns="0" bIns="0" rtlCol="0" anchor="t"/>
          <a:lstStyle/>
          <a:p>
            <a:pPr indent="0" marL="0">
              <a:lnSpc>
                <a:spcPct val="120000"/>
              </a:lnSpc>
              <a:buNone/>
            </a:pPr>
            <a:r>
              <a:rPr lang="en-US" sz="1400" dirty="0">
                <a:solidFill>
                  <a:srgbClr val="52514E"/>
                </a:solidFill>
                <a:latin typeface="Calibri" pitchFamily="34" charset="0"/>
                <a:ea typeface="Calibri" pitchFamily="34" charset="-122"/>
                <a:cs typeface="Calibri" pitchFamily="34" charset="-120"/>
              </a:rPr>
              <a:t>The last slide showed it catches everything it was built for.</a:t>
            </a:r>
            <a:endParaRPr lang="en-US" sz="1400" dirty="0"/>
          </a:p>
          <a:p>
            <a:pPr indent="0" marL="0">
              <a:lnSpc>
                <a:spcPct val="120000"/>
              </a:lnSpc>
              <a:buNone/>
            </a:pPr>
            <a:endParaRPr lang="en-US" sz="1400" dirty="0"/>
          </a:p>
          <a:p>
            <a:pPr indent="0" marL="0">
              <a:lnSpc>
                <a:spcPct val="120000"/>
              </a:lnSpc>
              <a:buNone/>
            </a:pPr>
            <a:r>
              <a:rPr lang="en-US" sz="1400" dirty="0">
                <a:solidFill>
                  <a:srgbClr val="52514E"/>
                </a:solidFill>
                <a:latin typeface="Calibri" pitchFamily="34" charset="0"/>
                <a:ea typeface="Calibri" pitchFamily="34" charset="-122"/>
                <a:cs typeface="Calibri" pitchFamily="34" charset="-120"/>
              </a:rPr>
              <a:t>The mistakes it looks for have become rare.</a:t>
            </a:r>
            <a:endParaRPr lang="en-US" sz="1400" dirty="0"/>
          </a:p>
          <a:p>
            <a:pPr indent="0" marL="0">
              <a:lnSpc>
                <a:spcPct val="120000"/>
              </a:lnSpc>
              <a:buNone/>
            </a:pPr>
            <a:endParaRPr lang="en-US" sz="1400" dirty="0"/>
          </a:p>
          <a:p>
            <a:pPr indent="0" marL="0">
              <a:lnSpc>
                <a:spcPct val="120000"/>
              </a:lnSpc>
              <a:buNone/>
            </a:pPr>
            <a:r>
              <a:rPr lang="en-US" sz="1400" dirty="0">
                <a:solidFill>
                  <a:srgbClr val="52514E"/>
                </a:solidFill>
                <a:latin typeface="Calibri" pitchFamily="34" charset="0"/>
                <a:ea typeface="Calibri" pitchFamily="34" charset="-122"/>
                <a:cs typeface="Calibri" pitchFamily="34" charset="-120"/>
              </a:rPr>
              <a:t>Almost all the failures we see now are about meaning, not structure — the wiring is perfect and the expected answer is wrong.</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RESULTS  ·  5 OF 6</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Why the mistakes we look for disappeared</a:t>
            </a:r>
            <a:endParaRPr lang="en-US" sz="3000" dirty="0"/>
          </a:p>
        </p:txBody>
      </p:sp>
      <p:sp>
        <p:nvSpPr>
          <p:cNvPr id="4" name="Shape 2"/>
          <p:cNvSpPr/>
          <p:nvPr/>
        </p:nvSpPr>
        <p:spPr>
          <a:xfrm>
            <a:off x="640080" y="1234440"/>
            <a:ext cx="5225796" cy="1965960"/>
          </a:xfrm>
          <a:prstGeom prst="roundRect">
            <a:avLst>
              <a:gd name="adj" fmla="val 372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5" name="Text 3"/>
          <p:cNvSpPr txBox="1"/>
          <p:nvPr/>
        </p:nvSpPr>
        <p:spPr>
          <a:xfrm>
            <a:off x="877824" y="1399032"/>
            <a:ext cx="4768596" cy="329184"/>
          </a:xfrm>
          <a:prstGeom prst="rect">
            <a:avLst/>
          </a:prstGeom>
          <a:noFill/>
          <a:ln/>
        </p:spPr>
        <p:txBody>
          <a:bodyPr wrap="square" lIns="0" tIns="0" rIns="0" bIns="0" rtlCol="0" anchor="ctr"/>
          <a:lstStyle/>
          <a:p>
            <a:pPr indent="0" marL="0">
              <a:buNone/>
            </a:pPr>
            <a:r>
              <a:rPr lang="en-US" sz="1700" b="1" dirty="0">
                <a:solidFill>
                  <a:srgbClr val="7A7974"/>
                </a:solidFill>
                <a:latin typeface="Cambria" pitchFamily="34" charset="0"/>
                <a:ea typeface="Cambria" pitchFamily="34" charset="-122"/>
                <a:cs typeface="Cambria" pitchFamily="34" charset="-120"/>
              </a:rPr>
              <a:t>Structural mistakes  —  mostly gone</a:t>
            </a:r>
            <a:endParaRPr lang="en-US" sz="1700" dirty="0"/>
          </a:p>
        </p:txBody>
      </p:sp>
      <p:sp>
        <p:nvSpPr>
          <p:cNvPr id="6" name="Text 4"/>
          <p:cNvSpPr txBox="1"/>
          <p:nvPr/>
        </p:nvSpPr>
        <p:spPr>
          <a:xfrm>
            <a:off x="877824" y="1801368"/>
            <a:ext cx="4750308" cy="1280160"/>
          </a:xfrm>
          <a:prstGeom prst="rect">
            <a:avLst/>
          </a:prstGeom>
          <a:noFill/>
          <a:ln/>
        </p:spPr>
        <p:txBody>
          <a:bodyPr wrap="square" lIns="0" tIns="0" rIns="0" bIns="0" rtlCol="0" anchor="t"/>
          <a:lstStyle/>
          <a:p>
            <a:pPr indent="0" marL="0">
              <a:lnSpc>
                <a:spcPct val="118000"/>
              </a:lnSpc>
              <a:buNone/>
            </a:pPr>
            <a:r>
              <a:rPr lang="en-US" sz="1400" dirty="0">
                <a:solidFill>
                  <a:srgbClr val="52514E"/>
                </a:solidFill>
                <a:latin typeface="Calibri" pitchFamily="34" charset="0"/>
                <a:ea typeface="Calibri" pitchFamily="34" charset="-122"/>
                <a:cs typeface="Calibri" pitchFamily="34" charset="-120"/>
              </a:rPr>
              <a:t>A pin wired to the wrong name. A three-bit signal in a four-bit port. These are local, repetitive patterns — the same shapes appear in millions of code examples. Getting them right is pattern matching.</a:t>
            </a:r>
            <a:endParaRPr lang="en-US" sz="1400" dirty="0"/>
          </a:p>
        </p:txBody>
      </p:sp>
      <p:sp>
        <p:nvSpPr>
          <p:cNvPr id="7" name="Shape 5"/>
          <p:cNvSpPr/>
          <p:nvPr/>
        </p:nvSpPr>
        <p:spPr>
          <a:xfrm>
            <a:off x="6323076" y="1234440"/>
            <a:ext cx="5225796" cy="1965960"/>
          </a:xfrm>
          <a:prstGeom prst="roundRect">
            <a:avLst>
              <a:gd name="adj" fmla="val 3721"/>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8" name="Text 6"/>
          <p:cNvSpPr txBox="1"/>
          <p:nvPr/>
        </p:nvSpPr>
        <p:spPr>
          <a:xfrm>
            <a:off x="6560820" y="1399032"/>
            <a:ext cx="4768596" cy="329184"/>
          </a:xfrm>
          <a:prstGeom prst="rect">
            <a:avLst/>
          </a:prstGeom>
          <a:noFill/>
          <a:ln/>
        </p:spPr>
        <p:txBody>
          <a:bodyPr wrap="square" lIns="0" tIns="0" rIns="0" bIns="0" rtlCol="0" anchor="ctr"/>
          <a:lstStyle/>
          <a:p>
            <a:pPr indent="0" marL="0">
              <a:buNone/>
            </a:pPr>
            <a:r>
              <a:rPr lang="en-US" sz="1700" b="1" dirty="0">
                <a:solidFill>
                  <a:srgbClr val="2A78D6"/>
                </a:solidFill>
                <a:latin typeface="Cambria" pitchFamily="34" charset="0"/>
                <a:ea typeface="Cambria" pitchFamily="34" charset="-122"/>
                <a:cs typeface="Cambria" pitchFamily="34" charset="-120"/>
              </a:rPr>
              <a:t>Meaning mistakes  —  still there</a:t>
            </a:r>
            <a:endParaRPr lang="en-US" sz="1700" dirty="0"/>
          </a:p>
        </p:txBody>
      </p:sp>
      <p:sp>
        <p:nvSpPr>
          <p:cNvPr id="9" name="Text 7"/>
          <p:cNvSpPr txBox="1"/>
          <p:nvPr/>
        </p:nvSpPr>
        <p:spPr>
          <a:xfrm>
            <a:off x="6560820" y="1801368"/>
            <a:ext cx="4750308" cy="1280160"/>
          </a:xfrm>
          <a:prstGeom prst="rect">
            <a:avLst/>
          </a:prstGeom>
          <a:noFill/>
          <a:ln/>
        </p:spPr>
        <p:txBody>
          <a:bodyPr wrap="square" lIns="0" tIns="0" rIns="0" bIns="0" rtlCol="0" anchor="t"/>
          <a:lstStyle/>
          <a:p>
            <a:pPr indent="0" marL="0">
              <a:lnSpc>
                <a:spcPct val="118000"/>
              </a:lnSpc>
              <a:buNone/>
            </a:pPr>
            <a:r>
              <a:rPr lang="en-US" sz="1400" dirty="0">
                <a:solidFill>
                  <a:srgbClr val="52514E"/>
                </a:solidFill>
                <a:latin typeface="Calibri" pitchFamily="34" charset="0"/>
                <a:ea typeface="Calibri" pitchFamily="34" charset="-122"/>
                <a:cs typeface="Calibri" pitchFamily="34" charset="-120"/>
              </a:rPr>
              <a:t>Expecting the counter to read 7 when it should read 8. To get that right you have to work out what the circuit does over several clock cycles. That is reasoning about behaviour, not recall of a pattern.</a:t>
            </a:r>
            <a:endParaRPr lang="en-US" sz="1400" dirty="0"/>
          </a:p>
        </p:txBody>
      </p:sp>
      <p:sp>
        <p:nvSpPr>
          <p:cNvPr id="10" name="Text 8"/>
          <p:cNvSpPr txBox="1"/>
          <p:nvPr/>
        </p:nvSpPr>
        <p:spPr>
          <a:xfrm>
            <a:off x="640080" y="3383280"/>
            <a:ext cx="10908792" cy="402336"/>
          </a:xfrm>
          <a:prstGeom prst="rect">
            <a:avLst/>
          </a:prstGeom>
          <a:noFill/>
          <a:ln/>
        </p:spPr>
        <p:txBody>
          <a:bodyPr wrap="square" lIns="0" tIns="0" rIns="0" bIns="0" rtlCol="0" anchor="ctr"/>
          <a:lstStyle/>
          <a:p>
            <a:pPr algn="ctr" indent="0" marL="0">
              <a:buNone/>
            </a:pPr>
            <a:r>
              <a:rPr lang="en-US" sz="2100" b="1" dirty="0">
                <a:solidFill>
                  <a:srgbClr val="0B0B0B"/>
                </a:solidFill>
                <a:latin typeface="Cambria" pitchFamily="34" charset="0"/>
                <a:ea typeface="Cambria" pitchFamily="34" charset="-122"/>
                <a:cs typeface="Cambria" pitchFamily="34" charset="-120"/>
              </a:rPr>
              <a:t>Model progress solved the pattern half and left the reasoning half.</a:t>
            </a:r>
            <a:endParaRPr lang="en-US" sz="2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2103120" y="3867912"/>
          <a:ext cx="7982712" cy="914400"/>
        </p:xfrm>
        <a:graphic>
          <a:graphicData uri="http://schemas.openxmlformats.org/drawingml/2006/table">
            <a:tbl>
              <a:tblPr/>
              <a:tblGrid>
                <a:gridCol w="6492240"/>
                <a:gridCol w="1828800"/>
              </a:tblGrid>
              <a:tr h="310896">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Sequential compile rate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AutoBench, without their cleanup script  (2024)</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55.5%</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AutoBench, with it  — their single biggest win</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97.3%</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Ours, on the 182 runs where our script never fired</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90.7%</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Ours, strong model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98.7%</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2103120" y="6126480"/>
            <a:ext cx="7982712" cy="457200"/>
          </a:xfrm>
          <a:prstGeom prst="rect">
            <a:avLst/>
          </a:prstGeom>
          <a:noFill/>
          <a:ln/>
        </p:spPr>
        <p:txBody>
          <a:bodyPr wrap="square" lIns="0" tIns="0" rIns="0" bIns="0" rtlCol="0" anchor="ctr"/>
          <a:lstStyle/>
          <a:p>
            <a:pPr algn="ctr" indent="0" marL="0">
              <a:buNone/>
            </a:pPr>
            <a:r>
              <a:rPr lang="en-US" sz="1400" b="1" dirty="0">
                <a:solidFill>
                  <a:srgbClr val="2A78D6"/>
                </a:solidFill>
                <a:latin typeface="Calibri" pitchFamily="34" charset="0"/>
                <a:ea typeface="Calibri" pitchFamily="34" charset="-122"/>
                <a:cs typeface="Calibri" pitchFamily="34" charset="-120"/>
              </a:rPr>
              <a:t>A pipeline whose cleanup step does nothing compiles 35 points better than a 2024 pipeline without one. It is the models, not us.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RESULTS  ·  6 OF 6</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it costs, and whether it is worth it</a:t>
            </a:r>
            <a:endParaRPr lang="en-US" sz="3000" dirty="0"/>
          </a:p>
        </p:txBody>
      </p:sp>
      <p:sp>
        <p:nvSpPr>
          <p:cNvPr id="4" name="Text 2"/>
          <p:cNvSpPr txBox="1"/>
          <p:nvPr/>
        </p:nvSpPr>
        <p:spPr>
          <a:xfrm>
            <a:off x="640080" y="1005840"/>
            <a:ext cx="10908792" cy="365760"/>
          </a:xfrm>
          <a:prstGeom prst="rect">
            <a:avLst/>
          </a:prstGeom>
          <a:noFill/>
          <a:ln/>
        </p:spPr>
        <p:txBody>
          <a:bodyPr wrap="square" lIns="0" tIns="0" rIns="0" bIns="0" rtlCol="0" anchor="ctr"/>
          <a:lstStyle/>
          <a:p>
            <a:pPr indent="0" marL="0">
              <a:buNone/>
            </a:pPr>
            <a:r>
              <a:rPr lang="en-US" sz="1500" dirty="0">
                <a:solidFill>
                  <a:srgbClr val="7A7974"/>
                </a:solidFill>
                <a:latin typeface="Calibri" pitchFamily="34" charset="0"/>
                <a:ea typeface="Calibri" pitchFamily="34" charset="-122"/>
                <a:cs typeface="Calibri" pitchFamily="34" charset="-120"/>
              </a:rPr>
              <a:t>RQ4 — mean per run, pooled over 220 runs</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2377440"/>
                <a:gridCol w="2743200"/>
                <a:gridCol w="1097280"/>
                <a:gridCol w="1371600"/>
                <a:gridCol w="3319272"/>
              </a:tblGrid>
              <a:tr h="310896">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Cost vs baseline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Time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Worked</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1F1ED"/>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pyverilog_only</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40 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20.5%</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costs nothing, gains nothing</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42 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27.3%</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the floor</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compiler_only</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43 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34.1%</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best value — 7 points for 6%</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retry_only</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+29%</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55 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29.5%</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the control</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hybrid  (ours)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61 s</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40.9%</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best score, worst cost, not significant</a:t>
                      </a:r>
                      <a:endParaRPr lang="en-US" sz="1400" dirty="0">
                        <a:latin typeface="Calibri" charset="0"/>
                        <a:ea typeface="Calibri" charset="0"/>
                        <a:cs typeface="Calibri" charset="0"/>
                      </a:endParaRPr>
                    </a:p>
                  </a:txBody>
                  <a:tcPr marL="76200" marR="76200" marT="76200" marB="76200" anchor="ctr">
                    <a:lnL w="12700" cap="flat" cmpd="sng" algn="ctr">
                      <a:solidFill>
                        <a:srgbClr val="E2E1DC"/>
                      </a:solidFill>
                      <a:prstDash val="solid"/>
                      <a:round/>
                      <a:headEnd type="none" w="med" len="med"/>
                      <a:tailEnd type="none" w="med" len="med"/>
                    </a:lnL>
                    <a:lnR w="12700" cap="flat" cmpd="sng" algn="ctr">
                      <a:solidFill>
                        <a:srgbClr val="E2E1DC"/>
                      </a:solidFill>
                      <a:prstDash val="solid"/>
                      <a:round/>
                      <a:headEnd type="none" w="med" len="med"/>
                      <a:tailEnd type="none" w="med" len="med"/>
                    </a:lnR>
                    <a:lnT w="12700" cap="flat" cmpd="sng" algn="ctr">
                      <a:solidFill>
                        <a:srgbClr val="E2E1DC"/>
                      </a:solidFill>
                      <a:prstDash val="solid"/>
                      <a:round/>
                      <a:headEnd type="none" w="med" len="med"/>
                      <a:tailEnd type="none" w="med" len="med"/>
                    </a:lnT>
                    <a:lnB w="12700" cap="flat" cmpd="sng" algn="ctr">
                      <a:solidFill>
                        <a:srgbClr val="E2E1DC"/>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480560"/>
            <a:ext cx="3483864" cy="1508760"/>
          </a:xfrm>
          <a:prstGeom prst="roundRect">
            <a:avLst>
              <a:gd name="adj" fmla="val 4848"/>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7" name="Text 4"/>
          <p:cNvSpPr txBox="1"/>
          <p:nvPr/>
        </p:nvSpPr>
        <p:spPr>
          <a:xfrm>
            <a:off x="896112" y="4681728"/>
            <a:ext cx="2971800" cy="841248"/>
          </a:xfrm>
          <a:prstGeom prst="rect">
            <a:avLst/>
          </a:prstGeom>
          <a:noFill/>
          <a:ln/>
        </p:spPr>
        <p:txBody>
          <a:bodyPr wrap="square" lIns="0" tIns="0" rIns="0" bIns="0" rtlCol="0" anchor="ctr"/>
          <a:lstStyle/>
          <a:p>
            <a:pPr indent="0" marL="0">
              <a:buNone/>
            </a:pPr>
            <a:r>
              <a:rPr lang="en-US" sz="3200" b="1" dirty="0">
                <a:solidFill>
                  <a:srgbClr val="2A78D6"/>
                </a:solidFill>
                <a:latin typeface="Cambria" pitchFamily="34" charset="0"/>
                <a:ea typeface="Cambria" pitchFamily="34" charset="-122"/>
                <a:cs typeface="Cambria" pitchFamily="34" charset="-120"/>
              </a:rPr>
              <a:t>~$16.50</a:t>
            </a:r>
            <a:endParaRPr lang="en-US" sz="3200" dirty="0"/>
          </a:p>
        </p:txBody>
      </p:sp>
      <p:sp>
        <p:nvSpPr>
          <p:cNvPr id="8" name="Text 5"/>
          <p:cNvSpPr txBox="1"/>
          <p:nvPr/>
        </p:nvSpPr>
        <p:spPr>
          <a:xfrm>
            <a:off x="896112" y="5486400"/>
            <a:ext cx="2971800" cy="56692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every experiment in the</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project, end to end</a:t>
            </a:r>
            <a:endParaRPr lang="en-US" sz="1300" dirty="0"/>
          </a:p>
        </p:txBody>
      </p:sp>
      <p:sp>
        <p:nvSpPr>
          <p:cNvPr id="9" name="Shape 6"/>
          <p:cNvSpPr/>
          <p:nvPr/>
        </p:nvSpPr>
        <p:spPr>
          <a:xfrm>
            <a:off x="4352544" y="4480560"/>
            <a:ext cx="3483864" cy="1508760"/>
          </a:xfrm>
          <a:prstGeom prst="roundRect">
            <a:avLst>
              <a:gd name="adj" fmla="val 4848"/>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0" name="Text 7"/>
          <p:cNvSpPr txBox="1"/>
          <p:nvPr/>
        </p:nvSpPr>
        <p:spPr>
          <a:xfrm>
            <a:off x="4608576" y="4681728"/>
            <a:ext cx="2971800" cy="841248"/>
          </a:xfrm>
          <a:prstGeom prst="rect">
            <a:avLst/>
          </a:prstGeom>
          <a:noFill/>
          <a:ln/>
        </p:spPr>
        <p:txBody>
          <a:bodyPr wrap="square" lIns="0" tIns="0" rIns="0" bIns="0" rtlCol="0" anchor="ctr"/>
          <a:lstStyle/>
          <a:p>
            <a:pPr indent="0" marL="0">
              <a:buNone/>
            </a:pPr>
            <a:r>
              <a:rPr lang="en-US" sz="3200" b="1" dirty="0">
                <a:solidFill>
                  <a:srgbClr val="0B0B0B"/>
                </a:solidFill>
                <a:latin typeface="Cambria" pitchFamily="34" charset="0"/>
                <a:ea typeface="Cambria" pitchFamily="34" charset="-122"/>
                <a:cs typeface="Cambria" pitchFamily="34" charset="-120"/>
              </a:rPr>
              <a:t>~$0.10</a:t>
            </a:r>
            <a:endParaRPr lang="en-US" sz="3200" dirty="0"/>
          </a:p>
        </p:txBody>
      </p:sp>
      <p:sp>
        <p:nvSpPr>
          <p:cNvPr id="11" name="Text 8"/>
          <p:cNvSpPr txBox="1"/>
          <p:nvPr/>
        </p:nvSpPr>
        <p:spPr>
          <a:xfrm>
            <a:off x="4608576" y="5486400"/>
            <a:ext cx="2971800" cy="56692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per generated testbench</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at the strong tier</a:t>
            </a:r>
            <a:endParaRPr lang="en-US" sz="1300" dirty="0"/>
          </a:p>
        </p:txBody>
      </p:sp>
      <p:sp>
        <p:nvSpPr>
          <p:cNvPr id="12" name="Shape 9"/>
          <p:cNvSpPr/>
          <p:nvPr/>
        </p:nvSpPr>
        <p:spPr>
          <a:xfrm>
            <a:off x="8065008" y="4480560"/>
            <a:ext cx="3483864" cy="1508760"/>
          </a:xfrm>
          <a:prstGeom prst="roundRect">
            <a:avLst>
              <a:gd name="adj" fmla="val 4848"/>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3" name="Text 10"/>
          <p:cNvSpPr txBox="1"/>
          <p:nvPr/>
        </p:nvSpPr>
        <p:spPr>
          <a:xfrm>
            <a:off x="8321040" y="4681728"/>
            <a:ext cx="2971800" cy="841248"/>
          </a:xfrm>
          <a:prstGeom prst="rect">
            <a:avLst/>
          </a:prstGeom>
          <a:noFill/>
          <a:ln/>
        </p:spPr>
        <p:txBody>
          <a:bodyPr wrap="square" lIns="0" tIns="0" rIns="0" bIns="0" rtlCol="0" anchor="ctr"/>
          <a:lstStyle/>
          <a:p>
            <a:pPr indent="0" marL="0">
              <a:buNone/>
            </a:pPr>
            <a:r>
              <a:rPr lang="en-US" sz="3200" b="1" dirty="0">
                <a:solidFill>
                  <a:srgbClr val="0B0B0B"/>
                </a:solidFill>
                <a:latin typeface="Cambria" pitchFamily="34" charset="0"/>
                <a:ea typeface="Cambria" pitchFamily="34" charset="-122"/>
                <a:cs typeface="Cambria" pitchFamily="34" charset="-120"/>
              </a:rPr>
              <a:t>~4 h</a:t>
            </a:r>
            <a:endParaRPr lang="en-US" sz="3200" dirty="0"/>
          </a:p>
        </p:txBody>
      </p:sp>
      <p:sp>
        <p:nvSpPr>
          <p:cNvPr id="14" name="Text 11"/>
          <p:cNvSpPr txBox="1"/>
          <p:nvPr/>
        </p:nvSpPr>
        <p:spPr>
          <a:xfrm>
            <a:off x="8321040" y="5486400"/>
            <a:ext cx="2971800" cy="56692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total compute across</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all 280 runs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7A7974"/>
                </a:solidFill>
                <a:latin typeface="Calibri" pitchFamily="34" charset="0"/>
                <a:ea typeface="Calibri" pitchFamily="34" charset="-122"/>
                <a:cs typeface="Calibri" pitchFamily="34" charset="-120"/>
              </a:rPr>
              <a:t>THE ANSWERS</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Back to the four questions</a:t>
            </a:r>
            <a:endParaRPr lang="en-US" sz="3000" dirty="0"/>
          </a:p>
        </p:txBody>
      </p:sp>
      <p:sp>
        <p:nvSpPr>
          <p:cNvPr id="4" name="Shape 2"/>
          <p:cNvSpPr/>
          <p:nvPr/>
        </p:nvSpPr>
        <p:spPr>
          <a:xfrm>
            <a:off x="640080" y="1234440"/>
            <a:ext cx="10908792" cy="960120"/>
          </a:xfrm>
          <a:prstGeom prst="roundRect">
            <a:avLst>
              <a:gd name="adj" fmla="val 7619"/>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5" name="Text 3"/>
          <p:cNvSpPr txBox="1"/>
          <p:nvPr/>
        </p:nvSpPr>
        <p:spPr>
          <a:xfrm>
            <a:off x="896112" y="1481328"/>
            <a:ext cx="868680"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RQ1</a:t>
            </a:r>
            <a:endParaRPr lang="en-US" sz="2200" dirty="0"/>
          </a:p>
        </p:txBody>
      </p:sp>
      <p:sp>
        <p:nvSpPr>
          <p:cNvPr id="6" name="Text 4"/>
          <p:cNvSpPr txBox="1"/>
          <p:nvPr/>
        </p:nvSpPr>
        <p:spPr>
          <a:xfrm>
            <a:off x="1783080" y="1371600"/>
            <a:ext cx="4480560" cy="685800"/>
          </a:xfrm>
          <a:prstGeom prst="rect">
            <a:avLst/>
          </a:prstGeom>
          <a:noFill/>
          <a:ln/>
        </p:spPr>
        <p:txBody>
          <a:bodyPr wrap="square" lIns="0" tIns="0" rIns="0" bIns="0" rtlCol="0" anchor="ctr"/>
          <a:lstStyle/>
          <a:p>
            <a:pPr indent="0" marL="0">
              <a:lnSpc>
                <a:spcPct val="110000"/>
              </a:lnSpc>
              <a:buNone/>
            </a:pPr>
            <a:r>
              <a:rPr lang="en-US" sz="1300" dirty="0">
                <a:solidFill>
                  <a:srgbClr val="7A7974"/>
                </a:solidFill>
                <a:latin typeface="Calibri" pitchFamily="34" charset="0"/>
                <a:ea typeface="Calibri" pitchFamily="34" charset="-122"/>
                <a:cs typeface="Calibri" pitchFamily="34" charset="-120"/>
              </a:rPr>
              <a:t>What mistakes, and which are findable without running?</a:t>
            </a:r>
            <a:endParaRPr lang="en-US" sz="1300" dirty="0"/>
          </a:p>
        </p:txBody>
      </p:sp>
      <p:sp>
        <p:nvSpPr>
          <p:cNvPr id="7" name="Text 5"/>
          <p:cNvSpPr txBox="1"/>
          <p:nvPr/>
        </p:nvSpPr>
        <p:spPr>
          <a:xfrm>
            <a:off x="6400800" y="1371600"/>
            <a:ext cx="3840480" cy="685800"/>
          </a:xfrm>
          <a:prstGeom prst="rect">
            <a:avLst/>
          </a:prstGeom>
          <a:noFill/>
          <a:ln/>
        </p:spPr>
        <p:txBody>
          <a:bodyPr wrap="square" lIns="0" tIns="0" rIns="0" bIns="0" rtlCol="0" anchor="ctr"/>
          <a:lstStyle/>
          <a:p>
            <a:pPr indent="0" marL="0">
              <a:lnSpc>
                <a:spcPct val="110000"/>
              </a:lnSpc>
              <a:buNone/>
            </a:pPr>
            <a:r>
              <a:rPr lang="en-US" sz="1400" b="1" dirty="0">
                <a:solidFill>
                  <a:srgbClr val="0B0B0B"/>
                </a:solidFill>
                <a:latin typeface="Calibri" pitchFamily="34" charset="0"/>
                <a:ea typeface="Calibri" pitchFamily="34" charset="-122"/>
                <a:cs typeface="Calibri" pitchFamily="34" charset="-120"/>
              </a:rPr>
              <a:t>Six kinds. 87% of real failures are about meaning, not structure.</a:t>
            </a:r>
            <a:endParaRPr lang="en-US" sz="1400" dirty="0"/>
          </a:p>
        </p:txBody>
      </p:sp>
      <p:sp>
        <p:nvSpPr>
          <p:cNvPr id="8" name="Text 6"/>
          <p:cNvSpPr txBox="1"/>
          <p:nvPr/>
        </p:nvSpPr>
        <p:spPr>
          <a:xfrm>
            <a:off x="9811512" y="1371600"/>
            <a:ext cx="1508760" cy="685800"/>
          </a:xfrm>
          <a:prstGeom prst="rect">
            <a:avLst/>
          </a:prstGeom>
          <a:noFill/>
          <a:ln/>
        </p:spPr>
        <p:txBody>
          <a:bodyPr wrap="square" lIns="0" tIns="0" rIns="0" bIns="0" rtlCol="0" anchor="ctr"/>
          <a:lstStyle/>
          <a:p>
            <a:pPr indent="0" marL="0">
              <a:buNone/>
            </a:pPr>
            <a:r>
              <a:rPr lang="en-US" sz="1200" i="1" dirty="0">
                <a:solidFill>
                  <a:srgbClr val="7A7974"/>
                </a:solidFill>
                <a:latin typeface="Calibri" pitchFamily="34" charset="0"/>
                <a:ea typeface="Calibri" pitchFamily="34" charset="-122"/>
                <a:cs typeface="Calibri" pitchFamily="34" charset="-120"/>
              </a:rPr>
              <a:t>answered</a:t>
            </a:r>
            <a:endParaRPr lang="en-US" sz="1200" dirty="0"/>
          </a:p>
        </p:txBody>
      </p:sp>
      <p:sp>
        <p:nvSpPr>
          <p:cNvPr id="9" name="Shape 7"/>
          <p:cNvSpPr/>
          <p:nvPr/>
        </p:nvSpPr>
        <p:spPr>
          <a:xfrm>
            <a:off x="640080" y="2331720"/>
            <a:ext cx="10908792" cy="960120"/>
          </a:xfrm>
          <a:prstGeom prst="roundRect">
            <a:avLst>
              <a:gd name="adj" fmla="val 7619"/>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0" name="Text 8"/>
          <p:cNvSpPr txBox="1"/>
          <p:nvPr/>
        </p:nvSpPr>
        <p:spPr>
          <a:xfrm>
            <a:off x="896112" y="2578608"/>
            <a:ext cx="868680"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RQ2</a:t>
            </a:r>
            <a:endParaRPr lang="en-US" sz="2200" dirty="0"/>
          </a:p>
        </p:txBody>
      </p:sp>
      <p:sp>
        <p:nvSpPr>
          <p:cNvPr id="11" name="Text 9"/>
          <p:cNvSpPr txBox="1"/>
          <p:nvPr/>
        </p:nvSpPr>
        <p:spPr>
          <a:xfrm>
            <a:off x="1783080" y="2468880"/>
            <a:ext cx="4480560" cy="685800"/>
          </a:xfrm>
          <a:prstGeom prst="rect">
            <a:avLst/>
          </a:prstGeom>
          <a:noFill/>
          <a:ln/>
        </p:spPr>
        <p:txBody>
          <a:bodyPr wrap="square" lIns="0" tIns="0" rIns="0" bIns="0" rtlCol="0" anchor="ctr"/>
          <a:lstStyle/>
          <a:p>
            <a:pPr indent="0" marL="0">
              <a:lnSpc>
                <a:spcPct val="110000"/>
              </a:lnSpc>
              <a:buNone/>
            </a:pPr>
            <a:r>
              <a:rPr lang="en-US" sz="1300" dirty="0">
                <a:solidFill>
                  <a:srgbClr val="7A7974"/>
                </a:solidFill>
                <a:latin typeface="Calibri" pitchFamily="34" charset="0"/>
                <a:ea typeface="Calibri" pitchFamily="34" charset="-122"/>
                <a:cs typeface="Calibri" pitchFamily="34" charset="-120"/>
              </a:rPr>
              <a:t>How far can reading the code narrow them down?</a:t>
            </a:r>
            <a:endParaRPr lang="en-US" sz="1300" dirty="0"/>
          </a:p>
        </p:txBody>
      </p:sp>
      <p:sp>
        <p:nvSpPr>
          <p:cNvPr id="12" name="Text 10"/>
          <p:cNvSpPr txBox="1"/>
          <p:nvPr/>
        </p:nvSpPr>
        <p:spPr>
          <a:xfrm>
            <a:off x="6400800" y="2468880"/>
            <a:ext cx="3840480" cy="685800"/>
          </a:xfrm>
          <a:prstGeom prst="rect">
            <a:avLst/>
          </a:prstGeom>
          <a:noFill/>
          <a:ln/>
        </p:spPr>
        <p:txBody>
          <a:bodyPr wrap="square" lIns="0" tIns="0" rIns="0" bIns="0" rtlCol="0" anchor="ctr"/>
          <a:lstStyle/>
          <a:p>
            <a:pPr indent="0" marL="0">
              <a:lnSpc>
                <a:spcPct val="110000"/>
              </a:lnSpc>
              <a:buNone/>
            </a:pPr>
            <a:r>
              <a:rPr lang="en-US" sz="1400" b="1" dirty="0">
                <a:solidFill>
                  <a:srgbClr val="0B0B0B"/>
                </a:solidFill>
                <a:latin typeface="Calibri" pitchFamily="34" charset="0"/>
                <a:ea typeface="Calibri" pitchFamily="34" charset="-122"/>
                <a:cs typeface="Calibri" pitchFamily="34" charset="-120"/>
              </a:rPr>
              <a:t>Completely, for what it targets — every class, no false alarms.</a:t>
            </a:r>
            <a:endParaRPr lang="en-US" sz="1400" dirty="0"/>
          </a:p>
        </p:txBody>
      </p:sp>
      <p:sp>
        <p:nvSpPr>
          <p:cNvPr id="13" name="Text 11"/>
          <p:cNvSpPr txBox="1"/>
          <p:nvPr/>
        </p:nvSpPr>
        <p:spPr>
          <a:xfrm>
            <a:off x="9811512" y="2468880"/>
            <a:ext cx="1508760" cy="685800"/>
          </a:xfrm>
          <a:prstGeom prst="rect">
            <a:avLst/>
          </a:prstGeom>
          <a:noFill/>
          <a:ln/>
        </p:spPr>
        <p:txBody>
          <a:bodyPr wrap="square" lIns="0" tIns="0" rIns="0" bIns="0" rtlCol="0" anchor="ctr"/>
          <a:lstStyle/>
          <a:p>
            <a:pPr indent="0" marL="0">
              <a:buNone/>
            </a:pPr>
            <a:r>
              <a:rPr lang="en-US" sz="1200" i="1" dirty="0">
                <a:solidFill>
                  <a:srgbClr val="7A7974"/>
                </a:solidFill>
                <a:latin typeface="Calibri" pitchFamily="34" charset="0"/>
                <a:ea typeface="Calibri" pitchFamily="34" charset="-122"/>
                <a:cs typeface="Calibri" pitchFamily="34" charset="-120"/>
              </a:rPr>
              <a:t>answered</a:t>
            </a:r>
            <a:endParaRPr lang="en-US" sz="1200" dirty="0"/>
          </a:p>
        </p:txBody>
      </p:sp>
      <p:sp>
        <p:nvSpPr>
          <p:cNvPr id="14" name="Shape 12"/>
          <p:cNvSpPr/>
          <p:nvPr/>
        </p:nvSpPr>
        <p:spPr>
          <a:xfrm>
            <a:off x="640080" y="3429000"/>
            <a:ext cx="10908792" cy="960120"/>
          </a:xfrm>
          <a:prstGeom prst="roundRect">
            <a:avLst>
              <a:gd name="adj" fmla="val 7619"/>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15" name="Text 13"/>
          <p:cNvSpPr txBox="1"/>
          <p:nvPr/>
        </p:nvSpPr>
        <p:spPr>
          <a:xfrm>
            <a:off x="896112" y="3675888"/>
            <a:ext cx="868680"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RQ3</a:t>
            </a:r>
            <a:endParaRPr lang="en-US" sz="2200" dirty="0"/>
          </a:p>
        </p:txBody>
      </p:sp>
      <p:sp>
        <p:nvSpPr>
          <p:cNvPr id="16" name="Text 14"/>
          <p:cNvSpPr txBox="1"/>
          <p:nvPr/>
        </p:nvSpPr>
        <p:spPr>
          <a:xfrm>
            <a:off x="1783080" y="3566160"/>
            <a:ext cx="4480560" cy="685800"/>
          </a:xfrm>
          <a:prstGeom prst="rect">
            <a:avLst/>
          </a:prstGeom>
          <a:noFill/>
          <a:ln/>
        </p:spPr>
        <p:txBody>
          <a:bodyPr wrap="square" lIns="0" tIns="0" rIns="0" bIns="0" rtlCol="0" anchor="ctr"/>
          <a:lstStyle/>
          <a:p>
            <a:pPr indent="0" marL="0">
              <a:lnSpc>
                <a:spcPct val="110000"/>
              </a:lnSpc>
              <a:buNone/>
            </a:pPr>
            <a:r>
              <a:rPr lang="en-US" sz="1300" dirty="0">
                <a:solidFill>
                  <a:srgbClr val="7A7974"/>
                </a:solidFill>
                <a:latin typeface="Calibri" pitchFamily="34" charset="0"/>
                <a:ea typeface="Calibri" pitchFamily="34" charset="-122"/>
                <a:cs typeface="Calibri" pitchFamily="34" charset="-120"/>
              </a:rPr>
              <a:t>Can the AI repair itself from that diagnosis?</a:t>
            </a:r>
            <a:endParaRPr lang="en-US" sz="1300" dirty="0"/>
          </a:p>
        </p:txBody>
      </p:sp>
      <p:sp>
        <p:nvSpPr>
          <p:cNvPr id="17" name="Text 15"/>
          <p:cNvSpPr txBox="1"/>
          <p:nvPr/>
        </p:nvSpPr>
        <p:spPr>
          <a:xfrm>
            <a:off x="6400800" y="3566160"/>
            <a:ext cx="3840480" cy="685800"/>
          </a:xfrm>
          <a:prstGeom prst="rect">
            <a:avLst/>
          </a:prstGeom>
          <a:noFill/>
          <a:ln/>
        </p:spPr>
        <p:txBody>
          <a:bodyPr wrap="square" lIns="0" tIns="0" rIns="0" bIns="0" rtlCol="0" anchor="ctr"/>
          <a:lstStyle/>
          <a:p>
            <a:pPr indent="0" marL="0">
              <a:lnSpc>
                <a:spcPct val="110000"/>
              </a:lnSpc>
              <a:buNone/>
            </a:pPr>
            <a:r>
              <a:rPr lang="en-US" sz="1400" b="1" dirty="0">
                <a:solidFill>
                  <a:srgbClr val="0B0B0B"/>
                </a:solidFill>
                <a:latin typeface="Calibri" pitchFamily="34" charset="0"/>
                <a:ea typeface="Calibri" pitchFamily="34" charset="-122"/>
                <a:cs typeface="Calibri" pitchFamily="34" charset="-120"/>
              </a:rPr>
              <a:t>Rarely — the diagnosis almost never fires. Simulation does the work.</a:t>
            </a:r>
            <a:endParaRPr lang="en-US" sz="1400" dirty="0"/>
          </a:p>
        </p:txBody>
      </p:sp>
      <p:sp>
        <p:nvSpPr>
          <p:cNvPr id="18" name="Text 16"/>
          <p:cNvSpPr txBox="1"/>
          <p:nvPr/>
        </p:nvSpPr>
        <p:spPr>
          <a:xfrm>
            <a:off x="9811512" y="3566160"/>
            <a:ext cx="1508760" cy="685800"/>
          </a:xfrm>
          <a:prstGeom prst="rect">
            <a:avLst/>
          </a:prstGeom>
          <a:noFill/>
          <a:ln/>
        </p:spPr>
        <p:txBody>
          <a:bodyPr wrap="square" lIns="0" tIns="0" rIns="0" bIns="0" rtlCol="0" anchor="ctr"/>
          <a:lstStyle/>
          <a:p>
            <a:pPr indent="0" marL="0">
              <a:buNone/>
            </a:pPr>
            <a:r>
              <a:rPr lang="en-US" sz="1200" i="1" dirty="0">
                <a:solidFill>
                  <a:srgbClr val="EB6834"/>
                </a:solidFill>
                <a:latin typeface="Calibri" pitchFamily="34" charset="0"/>
                <a:ea typeface="Calibri" pitchFamily="34" charset="-122"/>
                <a:cs typeface="Calibri" pitchFamily="34" charset="-120"/>
              </a:rPr>
              <a:t>answered, negative</a:t>
            </a:r>
            <a:endParaRPr lang="en-US" sz="1200" dirty="0"/>
          </a:p>
        </p:txBody>
      </p:sp>
      <p:sp>
        <p:nvSpPr>
          <p:cNvPr id="19" name="Shape 17"/>
          <p:cNvSpPr/>
          <p:nvPr/>
        </p:nvSpPr>
        <p:spPr>
          <a:xfrm>
            <a:off x="640080" y="4526280"/>
            <a:ext cx="10908792" cy="960120"/>
          </a:xfrm>
          <a:prstGeom prst="roundRect">
            <a:avLst>
              <a:gd name="adj" fmla="val 7619"/>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0" name="Text 18"/>
          <p:cNvSpPr txBox="1"/>
          <p:nvPr/>
        </p:nvSpPr>
        <p:spPr>
          <a:xfrm>
            <a:off x="896112" y="4773168"/>
            <a:ext cx="868680"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RQ4</a:t>
            </a:r>
            <a:endParaRPr lang="en-US" sz="2200" dirty="0"/>
          </a:p>
        </p:txBody>
      </p:sp>
      <p:sp>
        <p:nvSpPr>
          <p:cNvPr id="21" name="Text 19"/>
          <p:cNvSpPr txBox="1"/>
          <p:nvPr/>
        </p:nvSpPr>
        <p:spPr>
          <a:xfrm>
            <a:off x="1783080" y="4663440"/>
            <a:ext cx="4480560" cy="685800"/>
          </a:xfrm>
          <a:prstGeom prst="rect">
            <a:avLst/>
          </a:prstGeom>
          <a:noFill/>
          <a:ln/>
        </p:spPr>
        <p:txBody>
          <a:bodyPr wrap="square" lIns="0" tIns="0" rIns="0" bIns="0" rtlCol="0" anchor="ctr"/>
          <a:lstStyle/>
          <a:p>
            <a:pPr indent="0" marL="0">
              <a:lnSpc>
                <a:spcPct val="110000"/>
              </a:lnSpc>
              <a:buNone/>
            </a:pPr>
            <a:r>
              <a:rPr lang="en-US" sz="1300" dirty="0">
                <a:solidFill>
                  <a:srgbClr val="7A7974"/>
                </a:solidFill>
                <a:latin typeface="Calibri" pitchFamily="34" charset="0"/>
                <a:ea typeface="Calibri" pitchFamily="34" charset="-122"/>
                <a:cs typeface="Calibri" pitchFamily="34" charset="-120"/>
              </a:rPr>
              <a:t>What does it cost, and is it worth it?</a:t>
            </a:r>
            <a:endParaRPr lang="en-US" sz="1300" dirty="0"/>
          </a:p>
        </p:txBody>
      </p:sp>
      <p:sp>
        <p:nvSpPr>
          <p:cNvPr id="22" name="Text 20"/>
          <p:cNvSpPr txBox="1"/>
          <p:nvPr/>
        </p:nvSpPr>
        <p:spPr>
          <a:xfrm>
            <a:off x="6400800" y="4663440"/>
            <a:ext cx="3840480" cy="685800"/>
          </a:xfrm>
          <a:prstGeom prst="rect">
            <a:avLst/>
          </a:prstGeom>
          <a:noFill/>
          <a:ln/>
        </p:spPr>
        <p:txBody>
          <a:bodyPr wrap="square" lIns="0" tIns="0" rIns="0" bIns="0" rtlCol="0" anchor="ctr"/>
          <a:lstStyle/>
          <a:p>
            <a:pPr indent="0" marL="0">
              <a:lnSpc>
                <a:spcPct val="110000"/>
              </a:lnSpc>
              <a:buNone/>
            </a:pPr>
            <a:r>
              <a:rPr lang="en-US" sz="1400" b="1" dirty="0">
                <a:solidFill>
                  <a:srgbClr val="0B0B0B"/>
                </a:solidFill>
                <a:latin typeface="Calibri" pitchFamily="34" charset="0"/>
                <a:ea typeface="Calibri" pitchFamily="34" charset="-122"/>
                <a:cs typeface="Calibri" pitchFamily="34" charset="-120"/>
              </a:rPr>
              <a:t>Our layer is nearly free. Compiler feedback is the best value.</a:t>
            </a:r>
            <a:endParaRPr lang="en-US" sz="1400" dirty="0"/>
          </a:p>
        </p:txBody>
      </p:sp>
      <p:sp>
        <p:nvSpPr>
          <p:cNvPr id="23" name="Text 21"/>
          <p:cNvSpPr txBox="1"/>
          <p:nvPr/>
        </p:nvSpPr>
        <p:spPr>
          <a:xfrm>
            <a:off x="9811512" y="4663440"/>
            <a:ext cx="1508760" cy="685800"/>
          </a:xfrm>
          <a:prstGeom prst="rect">
            <a:avLst/>
          </a:prstGeom>
          <a:noFill/>
          <a:ln/>
        </p:spPr>
        <p:txBody>
          <a:bodyPr wrap="square" lIns="0" tIns="0" rIns="0" bIns="0" rtlCol="0" anchor="ctr"/>
          <a:lstStyle/>
          <a:p>
            <a:pPr indent="0" marL="0">
              <a:buNone/>
            </a:pPr>
            <a:r>
              <a:rPr lang="en-US" sz="1200" i="1" dirty="0">
                <a:solidFill>
                  <a:srgbClr val="7A7974"/>
                </a:solidFill>
                <a:latin typeface="Calibri" pitchFamily="34" charset="0"/>
                <a:ea typeface="Calibri" pitchFamily="34" charset="-122"/>
                <a:cs typeface="Calibri" pitchFamily="34" charset="-120"/>
              </a:rPr>
              <a:t>answered</a:t>
            </a:r>
            <a:endParaRPr lang="en-US" sz="1200" dirty="0"/>
          </a:p>
        </p:txBody>
      </p:sp>
      <p:sp>
        <p:nvSpPr>
          <p:cNvPr id="24" name="Shape 22"/>
          <p:cNvSpPr/>
          <p:nvPr/>
        </p:nvSpPr>
        <p:spPr>
          <a:xfrm>
            <a:off x="640080" y="5779008"/>
            <a:ext cx="10908792" cy="713232"/>
          </a:xfrm>
          <a:prstGeom prst="roundRect">
            <a:avLst>
              <a:gd name="adj" fmla="val 10256"/>
            </a:avLst>
          </a:prstGeom>
          <a:solidFill>
            <a:srgbClr val="F1F1ED"/>
          </a:solidFill>
          <a:ln w="12700">
            <a:solidFill>
              <a:srgbClr val="F1F1ED"/>
            </a:solidFill>
            <a:prstDash val="solid"/>
          </a:ln>
          <a:effectLst>
            <a:outerShdw sx="100000" sy="100000" kx="0" ky="0" algn="bl" rotWithShape="0" blurRad="76200" dist="381" dir="5400000">
              <a:srgbClr val="000000">
                <a:alpha val="7000"/>
              </a:srgbClr>
            </a:outerShdw>
          </a:effectLst>
        </p:spPr>
      </p:sp>
      <p:sp>
        <p:nvSpPr>
          <p:cNvPr id="25" name="Text 23"/>
          <p:cNvSpPr txBox="1"/>
          <p:nvPr/>
        </p:nvSpPr>
        <p:spPr>
          <a:xfrm>
            <a:off x="859536" y="5852160"/>
            <a:ext cx="10469880" cy="566928"/>
          </a:xfrm>
          <a:prstGeom prst="rect">
            <a:avLst/>
          </a:prstGeom>
          <a:noFill/>
          <a:ln/>
        </p:spPr>
        <p:txBody>
          <a:bodyPr wrap="square" lIns="0" tIns="0" rIns="0" bIns="0" rtlCol="0" anchor="ctr"/>
          <a:lstStyle/>
          <a:p>
            <a:pPr indent="0" marL="0">
              <a:buNone/>
            </a:pPr>
            <a:r>
              <a:rPr lang="en-US" sz="1500" b="1" dirty="0">
                <a:solidFill>
                  <a:srgbClr val="2A78D6"/>
                </a:solidFill>
                <a:latin typeface="Calibri" pitchFamily="34" charset="0"/>
                <a:ea typeface="Calibri" pitchFamily="34" charset="-122"/>
                <a:cs typeface="Calibri" pitchFamily="34" charset="-120"/>
              </a:rPr>
              <a:t>All four answered. One of them negatively — and that is the one worth reporting.</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2203A"/>
        </a:solidFill>
      </p:bgPr>
    </p:bg>
    <p:spTree>
      <p:nvGrpSpPr>
        <p:cNvPr id="1" name=""/>
        <p:cNvGrpSpPr/>
        <p:nvPr/>
      </p:nvGrpSpPr>
      <p:grpSpPr>
        <a:xfrm>
          <a:off x="0" y="0"/>
          <a:ext cx="0" cy="0"/>
          <a:chOff x="0" y="0"/>
          <a:chExt cx="0" cy="0"/>
        </a:xfrm>
      </p:grpSpPr>
      <p:sp>
        <p:nvSpPr>
          <p:cNvPr id="2" name="Text 0"/>
          <p:cNvSpPr txBox="1"/>
          <p:nvPr/>
        </p:nvSpPr>
        <p:spPr>
          <a:xfrm>
            <a:off x="640080" y="182880"/>
            <a:ext cx="10908792" cy="274320"/>
          </a:xfrm>
          <a:prstGeom prst="rect">
            <a:avLst/>
          </a:prstGeom>
          <a:noFill/>
          <a:ln/>
        </p:spPr>
        <p:txBody>
          <a:bodyPr wrap="square" lIns="0" tIns="0" rIns="0" bIns="0" rtlCol="0" anchor="ctr"/>
          <a:lstStyle/>
          <a:p>
            <a:pPr indent="0" marL="0">
              <a:buNone/>
            </a:pPr>
            <a:r>
              <a:rPr lang="en-US" sz="1100" b="1" spc="160" kern="0" dirty="0">
                <a:solidFill>
                  <a:srgbClr val="6E88B4"/>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640080" y="402336"/>
            <a:ext cx="10908792"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this project contributes</a:t>
            </a:r>
            <a:endParaRPr lang="en-US" sz="3000" dirty="0"/>
          </a:p>
        </p:txBody>
      </p:sp>
      <p:sp>
        <p:nvSpPr>
          <p:cNvPr id="4" name="Text 2"/>
          <p:cNvSpPr txBox="1"/>
          <p:nvPr/>
        </p:nvSpPr>
        <p:spPr>
          <a:xfrm>
            <a:off x="640080" y="1234440"/>
            <a:ext cx="411480" cy="411480"/>
          </a:xfrm>
          <a:prstGeom prst="rect">
            <a:avLst/>
          </a:prstGeom>
          <a:noFill/>
          <a:ln/>
        </p:spPr>
        <p:txBody>
          <a:bodyPr wrap="square" lIns="0" tIns="0" rIns="0" bIns="0" rtlCol="0" anchor="ctr"/>
          <a:lstStyle/>
          <a:p>
            <a:pPr indent="0" marL="0">
              <a:buNone/>
            </a:pPr>
            <a:r>
              <a:rPr lang="en-US" sz="2200" b="1" dirty="0">
                <a:solidFill>
                  <a:srgbClr val="6FA8E8"/>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051560" y="1234440"/>
            <a:ext cx="4837176" cy="40233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working pipeline</a:t>
            </a:r>
            <a:endParaRPr lang="en-US" sz="1600" dirty="0"/>
          </a:p>
        </p:txBody>
      </p:sp>
      <p:sp>
        <p:nvSpPr>
          <p:cNvPr id="6" name="Text 4"/>
          <p:cNvSpPr txBox="1"/>
          <p:nvPr/>
        </p:nvSpPr>
        <p:spPr>
          <a:xfrm>
            <a:off x="1051560" y="1655064"/>
            <a:ext cx="4791456" cy="822960"/>
          </a:xfrm>
          <a:prstGeom prst="rect">
            <a:avLst/>
          </a:prstGeom>
          <a:noFill/>
          <a:ln/>
        </p:spPr>
        <p:txBody>
          <a:bodyPr wrap="square" lIns="0" tIns="0" rIns="0" bIns="0" rtlCol="0" anchor="ctr"/>
          <a:lstStyle/>
          <a:p>
            <a:pPr indent="0" marL="0">
              <a:lnSpc>
                <a:spcPct val="110000"/>
              </a:lnSpc>
              <a:buNone/>
            </a:pPr>
            <a:r>
              <a:rPr lang="en-US" sz="1300" dirty="0">
                <a:solidFill>
                  <a:srgbClr val="A8B6CE"/>
                </a:solidFill>
                <a:latin typeface="Calibri" pitchFamily="34" charset="0"/>
                <a:ea typeface="Calibri" pitchFamily="34" charset="-122"/>
                <a:cs typeface="Calibri" pitchFamily="34" charset="-120"/>
              </a:rPr>
              <a:t>Thirteen steps, five configurations, 280 runs, every call recorded. Open source.</a:t>
            </a:r>
            <a:endParaRPr lang="en-US" sz="1300" dirty="0"/>
          </a:p>
        </p:txBody>
      </p:sp>
      <p:sp>
        <p:nvSpPr>
          <p:cNvPr id="7" name="Text 5"/>
          <p:cNvSpPr txBox="1"/>
          <p:nvPr/>
        </p:nvSpPr>
        <p:spPr>
          <a:xfrm>
            <a:off x="6300216" y="1234440"/>
            <a:ext cx="411480" cy="411480"/>
          </a:xfrm>
          <a:prstGeom prst="rect">
            <a:avLst/>
          </a:prstGeom>
          <a:noFill/>
          <a:ln/>
        </p:spPr>
        <p:txBody>
          <a:bodyPr wrap="square" lIns="0" tIns="0" rIns="0" bIns="0" rtlCol="0" anchor="ctr"/>
          <a:lstStyle/>
          <a:p>
            <a:pPr indent="0" marL="0">
              <a:buNone/>
            </a:pPr>
            <a:r>
              <a:rPr lang="en-US" sz="2200" b="1" dirty="0">
                <a:solidFill>
                  <a:srgbClr val="6FA8E8"/>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6711696" y="1234440"/>
            <a:ext cx="4837176" cy="40233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checker we measured</a:t>
            </a:r>
            <a:endParaRPr lang="en-US" sz="1600" dirty="0"/>
          </a:p>
        </p:txBody>
      </p:sp>
      <p:sp>
        <p:nvSpPr>
          <p:cNvPr id="9" name="Text 7"/>
          <p:cNvSpPr txBox="1"/>
          <p:nvPr/>
        </p:nvSpPr>
        <p:spPr>
          <a:xfrm>
            <a:off x="6711696" y="1655064"/>
            <a:ext cx="4791456" cy="822960"/>
          </a:xfrm>
          <a:prstGeom prst="rect">
            <a:avLst/>
          </a:prstGeom>
          <a:noFill/>
          <a:ln/>
        </p:spPr>
        <p:txBody>
          <a:bodyPr wrap="square" lIns="0" tIns="0" rIns="0" bIns="0" rtlCol="0" anchor="ctr"/>
          <a:lstStyle/>
          <a:p>
            <a:pPr indent="0" marL="0">
              <a:lnSpc>
                <a:spcPct val="110000"/>
              </a:lnSpc>
              <a:buNone/>
            </a:pPr>
            <a:r>
              <a:rPr lang="en-US" sz="1300" dirty="0">
                <a:solidFill>
                  <a:srgbClr val="A8B6CE"/>
                </a:solidFill>
                <a:latin typeface="Calibri" pitchFamily="34" charset="0"/>
                <a:ea typeface="Calibri" pitchFamily="34" charset="-122"/>
                <a:cs typeface="Calibri" pitchFamily="34" charset="-120"/>
              </a:rPr>
              <a:t>100% on every fault class in scope, no false alarms, and 30 faults nothing else could see.</a:t>
            </a:r>
            <a:endParaRPr lang="en-US" sz="1300" dirty="0"/>
          </a:p>
        </p:txBody>
      </p:sp>
      <p:sp>
        <p:nvSpPr>
          <p:cNvPr id="10" name="Text 8"/>
          <p:cNvSpPr txBox="1"/>
          <p:nvPr/>
        </p:nvSpPr>
        <p:spPr>
          <a:xfrm>
            <a:off x="640080" y="2651760"/>
            <a:ext cx="411480" cy="411480"/>
          </a:xfrm>
          <a:prstGeom prst="rect">
            <a:avLst/>
          </a:prstGeom>
          <a:noFill/>
          <a:ln/>
        </p:spPr>
        <p:txBody>
          <a:bodyPr wrap="square" lIns="0" tIns="0" rIns="0" bIns="0" rtlCol="0" anchor="ctr"/>
          <a:lstStyle/>
          <a:p>
            <a:pPr indent="0" marL="0">
              <a:buNone/>
            </a:pPr>
            <a:r>
              <a:rPr lang="en-US" sz="2200" b="1" dirty="0">
                <a:solidFill>
                  <a:srgbClr val="6FA8E8"/>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051560" y="2651760"/>
            <a:ext cx="4837176" cy="40233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control group the prior work has not got</a:t>
            </a:r>
            <a:endParaRPr lang="en-US" sz="1600" dirty="0"/>
          </a:p>
        </p:txBody>
      </p:sp>
      <p:sp>
        <p:nvSpPr>
          <p:cNvPr id="12" name="Text 10"/>
          <p:cNvSpPr txBox="1"/>
          <p:nvPr/>
        </p:nvSpPr>
        <p:spPr>
          <a:xfrm>
            <a:off x="1051560" y="3072384"/>
            <a:ext cx="4791456" cy="822960"/>
          </a:xfrm>
          <a:prstGeom prst="rect">
            <a:avLst/>
          </a:prstGeom>
          <a:noFill/>
          <a:ln/>
        </p:spPr>
        <p:txBody>
          <a:bodyPr wrap="square" lIns="0" tIns="0" rIns="0" bIns="0" rtlCol="0" anchor="ctr"/>
          <a:lstStyle/>
          <a:p>
            <a:pPr indent="0" marL="0">
              <a:lnSpc>
                <a:spcPct val="110000"/>
              </a:lnSpc>
              <a:buNone/>
            </a:pPr>
            <a:r>
              <a:rPr lang="en-US" sz="1300" dirty="0">
                <a:solidFill>
                  <a:srgbClr val="A8B6CE"/>
                </a:solidFill>
                <a:latin typeface="Calibri" pitchFamily="34" charset="0"/>
                <a:ea typeface="Calibri" pitchFamily="34" charset="-122"/>
                <a:cs typeface="Calibri" pitchFamily="34" charset="-120"/>
              </a:rPr>
              <a:t>Which changed our own conclusion — it caught us claiming more than we could show.</a:t>
            </a:r>
            <a:endParaRPr lang="en-US" sz="1300" dirty="0"/>
          </a:p>
        </p:txBody>
      </p:sp>
      <p:sp>
        <p:nvSpPr>
          <p:cNvPr id="13" name="Text 11"/>
          <p:cNvSpPr txBox="1"/>
          <p:nvPr/>
        </p:nvSpPr>
        <p:spPr>
          <a:xfrm>
            <a:off x="6300216" y="2651760"/>
            <a:ext cx="411480" cy="411480"/>
          </a:xfrm>
          <a:prstGeom prst="rect">
            <a:avLst/>
          </a:prstGeom>
          <a:noFill/>
          <a:ln/>
        </p:spPr>
        <p:txBody>
          <a:bodyPr wrap="square" lIns="0" tIns="0" rIns="0" bIns="0" rtlCol="0" anchor="ctr"/>
          <a:lstStyle/>
          <a:p>
            <a:pPr indent="0" marL="0">
              <a:buNone/>
            </a:pPr>
            <a:r>
              <a:rPr lang="en-US" sz="2200" b="1" dirty="0">
                <a:solidFill>
                  <a:srgbClr val="6FA8E8"/>
                </a:solidFill>
                <a:latin typeface="Cambria" pitchFamily="34" charset="0"/>
                <a:ea typeface="Cambria" pitchFamily="34" charset="-122"/>
                <a:cs typeface="Cambria" pitchFamily="34" charset="-120"/>
              </a:rPr>
              <a:t>4</a:t>
            </a:r>
            <a:endParaRPr lang="en-US" sz="2200" dirty="0"/>
          </a:p>
        </p:txBody>
      </p:sp>
      <p:sp>
        <p:nvSpPr>
          <p:cNvPr id="14" name="Text 12"/>
          <p:cNvSpPr txBox="1"/>
          <p:nvPr/>
        </p:nvSpPr>
        <p:spPr>
          <a:xfrm>
            <a:off x="6711696" y="2651760"/>
            <a:ext cx="4837176" cy="40233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finding about the field</a:t>
            </a:r>
            <a:endParaRPr lang="en-US" sz="1600" dirty="0"/>
          </a:p>
        </p:txBody>
      </p:sp>
      <p:sp>
        <p:nvSpPr>
          <p:cNvPr id="15" name="Text 13"/>
          <p:cNvSpPr txBox="1"/>
          <p:nvPr/>
        </p:nvSpPr>
        <p:spPr>
          <a:xfrm>
            <a:off x="6711696" y="3072384"/>
            <a:ext cx="4791456" cy="822960"/>
          </a:xfrm>
          <a:prstGeom prst="rect">
            <a:avLst/>
          </a:prstGeom>
          <a:noFill/>
          <a:ln/>
        </p:spPr>
        <p:txBody>
          <a:bodyPr wrap="square" lIns="0" tIns="0" rIns="0" bIns="0" rtlCol="0" anchor="ctr"/>
          <a:lstStyle/>
          <a:p>
            <a:pPr indent="0" marL="0">
              <a:lnSpc>
                <a:spcPct val="110000"/>
              </a:lnSpc>
              <a:buNone/>
            </a:pPr>
            <a:r>
              <a:rPr lang="en-US" sz="1300" dirty="0">
                <a:solidFill>
                  <a:srgbClr val="A8B6CE"/>
                </a:solidFill>
                <a:latin typeface="Calibri" pitchFamily="34" charset="0"/>
                <a:ea typeface="Calibri" pitchFamily="34" charset="-122"/>
                <a:cs typeface="Calibri" pitchFamily="34" charset="-120"/>
              </a:rPr>
              <a:t>The mistake behind prior work's biggest win has largely stopped happening.</a:t>
            </a:r>
            <a:endParaRPr lang="en-US" sz="1300" dirty="0"/>
          </a:p>
        </p:txBody>
      </p:sp>
      <p:sp>
        <p:nvSpPr>
          <p:cNvPr id="16" name="Shape 14"/>
          <p:cNvSpPr/>
          <p:nvPr/>
        </p:nvSpPr>
        <p:spPr>
          <a:xfrm>
            <a:off x="640080" y="5074920"/>
            <a:ext cx="10908792" cy="1005840"/>
          </a:xfrm>
          <a:prstGeom prst="roundRect">
            <a:avLst>
              <a:gd name="adj" fmla="val 7273"/>
            </a:avLst>
          </a:prstGeom>
          <a:solidFill>
            <a:srgbClr val="1D3055"/>
          </a:solidFill>
          <a:ln w="12700">
            <a:solidFill>
              <a:srgbClr val="2B4470"/>
            </a:solidFill>
            <a:prstDash val="solid"/>
          </a:ln>
        </p:spPr>
      </p:sp>
      <p:sp>
        <p:nvSpPr>
          <p:cNvPr id="17" name="Text 15"/>
          <p:cNvSpPr txBox="1"/>
          <p:nvPr/>
        </p:nvSpPr>
        <p:spPr>
          <a:xfrm>
            <a:off x="914400" y="5175504"/>
            <a:ext cx="10360152" cy="822960"/>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We built the tool, showed that it works, and showed that it is not needed much any more. Only the second half of that was a surprise.</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203A"/>
        </a:solidFill>
      </p:bgPr>
    </p:bg>
    <p:spTree>
      <p:nvGrpSpPr>
        <p:cNvPr id="1" name=""/>
        <p:cNvGrpSpPr/>
        <p:nvPr/>
      </p:nvGrpSpPr>
      <p:grpSpPr>
        <a:xfrm>
          <a:off x="0" y="0"/>
          <a:ext cx="0" cy="0"/>
          <a:chOff x="0" y="0"/>
          <a:chExt cx="0" cy="0"/>
        </a:xfrm>
      </p:grpSpPr>
      <p:sp>
        <p:nvSpPr>
          <p:cNvPr id="2" name="Text 0"/>
          <p:cNvSpPr txBox="1"/>
          <p:nvPr/>
        </p:nvSpPr>
        <p:spPr>
          <a:xfrm>
            <a:off x="640080" y="2194560"/>
            <a:ext cx="64008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640080" y="3108960"/>
            <a:ext cx="6858000" cy="457200"/>
          </a:xfrm>
          <a:prstGeom prst="rect">
            <a:avLst/>
          </a:prstGeom>
          <a:noFill/>
          <a:ln/>
        </p:spPr>
        <p:txBody>
          <a:bodyPr wrap="square" lIns="0" tIns="0" rIns="0" bIns="0" rtlCol="0" anchor="ctr"/>
          <a:lstStyle/>
          <a:p>
            <a:pPr indent="0" marL="0">
              <a:buNone/>
            </a:pPr>
            <a:r>
              <a:rPr lang="en-US" sz="1700" dirty="0">
                <a:solidFill>
                  <a:srgbClr val="8FB4E8"/>
                </a:solidFill>
                <a:latin typeface="Calibri" pitchFamily="34" charset="0"/>
                <a:ea typeface="Calibri" pitchFamily="34" charset="-122"/>
                <a:cs typeface="Calibri" pitchFamily="34" charset="-120"/>
              </a:rPr>
              <a:t>Happy to take questions.</a:t>
            </a:r>
            <a:endParaRPr lang="en-US" sz="1700" dirty="0"/>
          </a:p>
        </p:txBody>
      </p:sp>
      <p:sp>
        <p:nvSpPr>
          <p:cNvPr id="4" name="Text 2"/>
          <p:cNvSpPr txBox="1"/>
          <p:nvPr/>
        </p:nvSpPr>
        <p:spPr>
          <a:xfrm>
            <a:off x="640080" y="4114800"/>
            <a:ext cx="2468880" cy="841248"/>
          </a:xfrm>
          <a:prstGeom prst="rect">
            <a:avLst/>
          </a:prstGeom>
          <a:noFill/>
          <a:ln/>
        </p:spPr>
        <p:txBody>
          <a:bodyPr wrap="square" lIns="0" tIns="0" rIns="0" bIns="0" rtlCol="0" anchor="ctr"/>
          <a:lstStyle/>
          <a:p>
            <a:pPr indent="0" marL="0">
              <a:buNone/>
            </a:pPr>
            <a:r>
              <a:rPr lang="en-US" sz="3400" b="1" dirty="0">
                <a:solidFill>
                  <a:srgbClr val="6FA8E8"/>
                </a:solidFill>
                <a:latin typeface="Cambria" pitchFamily="34" charset="0"/>
                <a:ea typeface="Cambria" pitchFamily="34" charset="-122"/>
                <a:cs typeface="Cambria" pitchFamily="34" charset="-120"/>
              </a:rPr>
              <a:t>280</a:t>
            </a:r>
            <a:endParaRPr lang="en-US" sz="3400" dirty="0"/>
          </a:p>
        </p:txBody>
      </p:sp>
      <p:sp>
        <p:nvSpPr>
          <p:cNvPr id="5" name="Text 3"/>
          <p:cNvSpPr txBox="1"/>
          <p:nvPr/>
        </p:nvSpPr>
        <p:spPr>
          <a:xfrm>
            <a:off x="640080" y="4919472"/>
            <a:ext cx="2468880" cy="566928"/>
          </a:xfrm>
          <a:prstGeom prst="rect">
            <a:avLst/>
          </a:prstGeom>
          <a:noFill/>
          <a:ln/>
        </p:spPr>
        <p:txBody>
          <a:bodyPr wrap="square" lIns="0" tIns="0" rIns="0" bIns="0" rtlCol="0" anchor="ctr"/>
          <a:lstStyle/>
          <a:p>
            <a:pPr indent="0" marL="0">
              <a:buNone/>
            </a:pPr>
            <a:r>
              <a:rPr lang="en-US" sz="1300" dirty="0">
                <a:solidFill>
                  <a:srgbClr val="A8B6CE"/>
                </a:solidFill>
                <a:latin typeface="Calibri" pitchFamily="34" charset="0"/>
                <a:ea typeface="Calibri" pitchFamily="34" charset="-122"/>
                <a:cs typeface="Calibri" pitchFamily="34" charset="-120"/>
              </a:rPr>
              <a:t>runs, 4 sweeps</a:t>
            </a:r>
            <a:endParaRPr lang="en-US" sz="1300" dirty="0"/>
          </a:p>
        </p:txBody>
      </p:sp>
      <p:sp>
        <p:nvSpPr>
          <p:cNvPr id="6" name="Text 4"/>
          <p:cNvSpPr txBox="1"/>
          <p:nvPr/>
        </p:nvSpPr>
        <p:spPr>
          <a:xfrm>
            <a:off x="3291840" y="4114800"/>
            <a:ext cx="2468880" cy="841248"/>
          </a:xfrm>
          <a:prstGeom prst="rect">
            <a:avLst/>
          </a:prstGeom>
          <a:noFill/>
          <a:ln/>
        </p:spPr>
        <p:txBody>
          <a:bodyPr wrap="square" lIns="0" tIns="0" rIns="0" bIns="0" rtlCol="0" anchor="ctr"/>
          <a:lstStyle/>
          <a:p>
            <a:pPr indent="0" marL="0">
              <a:buNone/>
            </a:pPr>
            <a:r>
              <a:rPr lang="en-US" sz="3400" b="1" dirty="0">
                <a:solidFill>
                  <a:srgbClr val="6FA8E8"/>
                </a:solidFill>
                <a:latin typeface="Cambria" pitchFamily="34" charset="0"/>
                <a:ea typeface="Cambria" pitchFamily="34" charset="-122"/>
                <a:cs typeface="Cambria" pitchFamily="34" charset="-120"/>
              </a:rPr>
              <a:t>215</a:t>
            </a:r>
            <a:endParaRPr lang="en-US" sz="3400" dirty="0"/>
          </a:p>
        </p:txBody>
      </p:sp>
      <p:sp>
        <p:nvSpPr>
          <p:cNvPr id="7" name="Text 5"/>
          <p:cNvSpPr txBox="1"/>
          <p:nvPr/>
        </p:nvSpPr>
        <p:spPr>
          <a:xfrm>
            <a:off x="3291840" y="4919472"/>
            <a:ext cx="2468880" cy="566928"/>
          </a:xfrm>
          <a:prstGeom prst="rect">
            <a:avLst/>
          </a:prstGeom>
          <a:noFill/>
          <a:ln/>
        </p:spPr>
        <p:txBody>
          <a:bodyPr wrap="square" lIns="0" tIns="0" rIns="0" bIns="0" rtlCol="0" anchor="ctr"/>
          <a:lstStyle/>
          <a:p>
            <a:pPr indent="0" marL="0">
              <a:buNone/>
            </a:pPr>
            <a:r>
              <a:rPr lang="en-US" sz="1300" dirty="0">
                <a:solidFill>
                  <a:srgbClr val="A8B6CE"/>
                </a:solidFill>
                <a:latin typeface="Calibri" pitchFamily="34" charset="0"/>
                <a:ea typeface="Calibri" pitchFamily="34" charset="-122"/>
                <a:cs typeface="Calibri" pitchFamily="34" charset="-120"/>
              </a:rPr>
              <a:t>injected faults</a:t>
            </a:r>
            <a:endParaRPr lang="en-US" sz="1300" dirty="0"/>
          </a:p>
        </p:txBody>
      </p:sp>
      <p:sp>
        <p:nvSpPr>
          <p:cNvPr id="8" name="Text 6"/>
          <p:cNvSpPr txBox="1"/>
          <p:nvPr/>
        </p:nvSpPr>
        <p:spPr>
          <a:xfrm>
            <a:off x="5943600" y="4114800"/>
            <a:ext cx="2468880" cy="841248"/>
          </a:xfrm>
          <a:prstGeom prst="rect">
            <a:avLst/>
          </a:prstGeom>
          <a:noFill/>
          <a:ln/>
        </p:spPr>
        <p:txBody>
          <a:bodyPr wrap="square" lIns="0" tIns="0" rIns="0" bIns="0" rtlCol="0" anchor="ctr"/>
          <a:lstStyle/>
          <a:p>
            <a:pPr indent="0" marL="0">
              <a:buNone/>
            </a:pPr>
            <a:r>
              <a:rPr lang="en-US" sz="3400" b="1" dirty="0">
                <a:solidFill>
                  <a:srgbClr val="6FA8E8"/>
                </a:solidFill>
                <a:latin typeface="Cambria" pitchFamily="34" charset="0"/>
                <a:ea typeface="Cambria" pitchFamily="34" charset="-122"/>
                <a:cs typeface="Cambria" pitchFamily="34" charset="-120"/>
              </a:rPr>
              <a:t>~$16.50</a:t>
            </a:r>
            <a:endParaRPr lang="en-US" sz="3400" dirty="0"/>
          </a:p>
        </p:txBody>
      </p:sp>
      <p:sp>
        <p:nvSpPr>
          <p:cNvPr id="9" name="Text 7"/>
          <p:cNvSpPr txBox="1"/>
          <p:nvPr/>
        </p:nvSpPr>
        <p:spPr>
          <a:xfrm>
            <a:off x="5943600" y="4919472"/>
            <a:ext cx="2468880" cy="566928"/>
          </a:xfrm>
          <a:prstGeom prst="rect">
            <a:avLst/>
          </a:prstGeom>
          <a:noFill/>
          <a:ln/>
        </p:spPr>
        <p:txBody>
          <a:bodyPr wrap="square" lIns="0" tIns="0" rIns="0" bIns="0" rtlCol="0" anchor="ctr"/>
          <a:lstStyle/>
          <a:p>
            <a:pPr indent="0" marL="0">
              <a:buNone/>
            </a:pPr>
            <a:r>
              <a:rPr lang="en-US" sz="1300" dirty="0">
                <a:solidFill>
                  <a:srgbClr val="A8B6CE"/>
                </a:solidFill>
                <a:latin typeface="Calibri" pitchFamily="34" charset="0"/>
                <a:ea typeface="Calibri" pitchFamily="34" charset="-122"/>
                <a:cs typeface="Calibri" pitchFamily="34" charset="-120"/>
              </a:rPr>
              <a:t>total compute</a:t>
            </a:r>
            <a:endParaRPr lang="en-US" sz="1300" dirty="0"/>
          </a:p>
        </p:txBody>
      </p:sp>
      <p:sp>
        <p:nvSpPr>
          <p:cNvPr id="10" name="Text 8"/>
          <p:cNvSpPr txBox="1"/>
          <p:nvPr/>
        </p:nvSpPr>
        <p:spPr>
          <a:xfrm>
            <a:off x="8595360" y="4114800"/>
            <a:ext cx="2468880" cy="841248"/>
          </a:xfrm>
          <a:prstGeom prst="rect">
            <a:avLst/>
          </a:prstGeom>
          <a:noFill/>
          <a:ln/>
        </p:spPr>
        <p:txBody>
          <a:bodyPr wrap="square" lIns="0" tIns="0" rIns="0" bIns="0" rtlCol="0" anchor="ctr"/>
          <a:lstStyle/>
          <a:p>
            <a:pPr indent="0" marL="0">
              <a:buNone/>
            </a:pPr>
            <a:r>
              <a:rPr lang="en-US" sz="3400" b="1" dirty="0">
                <a:solidFill>
                  <a:srgbClr val="6FA8E8"/>
                </a:solidFill>
                <a:latin typeface="Cambria" pitchFamily="34" charset="0"/>
                <a:ea typeface="Cambria" pitchFamily="34" charset="-122"/>
                <a:cs typeface="Cambria" pitchFamily="34" charset="-120"/>
              </a:rPr>
              <a:t>48</a:t>
            </a:r>
            <a:endParaRPr lang="en-US" sz="3400" dirty="0"/>
          </a:p>
        </p:txBody>
      </p:sp>
      <p:sp>
        <p:nvSpPr>
          <p:cNvPr id="11" name="Text 9"/>
          <p:cNvSpPr txBox="1"/>
          <p:nvPr/>
        </p:nvSpPr>
        <p:spPr>
          <a:xfrm>
            <a:off x="8595360" y="4919472"/>
            <a:ext cx="2468880" cy="566928"/>
          </a:xfrm>
          <a:prstGeom prst="rect">
            <a:avLst/>
          </a:prstGeom>
          <a:noFill/>
          <a:ln/>
        </p:spPr>
        <p:txBody>
          <a:bodyPr wrap="square" lIns="0" tIns="0" rIns="0" bIns="0" rtlCol="0" anchor="ctr"/>
          <a:lstStyle/>
          <a:p>
            <a:pPr indent="0" marL="0">
              <a:buNone/>
            </a:pPr>
            <a:r>
              <a:rPr lang="en-US" sz="1300" dirty="0">
                <a:solidFill>
                  <a:srgbClr val="A8B6CE"/>
                </a:solidFill>
                <a:latin typeface="Calibri" pitchFamily="34" charset="0"/>
                <a:ea typeface="Calibri" pitchFamily="34" charset="-122"/>
                <a:cs typeface="Calibri" pitchFamily="34" charset="-120"/>
              </a:rPr>
              <a:t>pages of report</a:t>
            </a:r>
            <a:endParaRPr lang="en-US" sz="1300" dirty="0"/>
          </a:p>
        </p:txBody>
      </p:sp>
      <p:sp>
        <p:nvSpPr>
          <p:cNvPr id="12" name="Text 10"/>
          <p:cNvSpPr txBox="1"/>
          <p:nvPr/>
        </p:nvSpPr>
        <p:spPr>
          <a:xfrm>
            <a:off x="640080" y="5806440"/>
            <a:ext cx="6858000" cy="292608"/>
          </a:xfrm>
          <a:prstGeom prst="rect">
            <a:avLst/>
          </a:prstGeom>
          <a:noFill/>
          <a:ln/>
        </p:spPr>
        <p:txBody>
          <a:bodyPr wrap="square" lIns="0" tIns="0" rIns="0" bIns="0" rtlCol="0" anchor="ctr"/>
          <a:lstStyle/>
          <a:p>
            <a:pPr indent="0" marL="0">
              <a:buNone/>
            </a:pPr>
            <a:r>
              <a:rPr lang="en-US" sz="1400" b="1" dirty="0">
                <a:solidFill>
                  <a:srgbClr val="8FB4E8"/>
                </a:solidFill>
                <a:latin typeface="Calibri" pitchFamily="34" charset="0"/>
                <a:ea typeface="Calibri" pitchFamily="34" charset="-122"/>
                <a:cs typeface="Calibri" pitchFamily="34" charset="-120"/>
              </a:rPr>
              <a:t>github.com/Sawaiz-zip/agentic-verilog-testbench</a:t>
            </a:r>
            <a:endParaRPr lang="en-US" sz="1400" dirty="0"/>
          </a:p>
        </p:txBody>
      </p:sp>
      <p:sp>
        <p:nvSpPr>
          <p:cNvPr id="13" name="Text 11"/>
          <p:cNvSpPr txBox="1"/>
          <p:nvPr/>
        </p:nvSpPr>
        <p:spPr>
          <a:xfrm>
            <a:off x="640080" y="6117336"/>
            <a:ext cx="6858000" cy="292608"/>
          </a:xfrm>
          <a:prstGeom prst="rect">
            <a:avLst/>
          </a:prstGeom>
          <a:noFill/>
          <a:ln/>
        </p:spPr>
        <p:txBody>
          <a:bodyPr wrap="square" lIns="0" tIns="0" rIns="0" bIns="0" rtlCol="0" anchor="ctr"/>
          <a:lstStyle/>
          <a:p>
            <a:pPr indent="0" marL="0">
              <a:buNone/>
            </a:pPr>
            <a:r>
              <a:rPr lang="en-US" sz="1200" dirty="0">
                <a:solidFill>
                  <a:srgbClr val="A8B6CE"/>
                </a:solidFill>
                <a:latin typeface="Calibri" pitchFamily="34" charset="0"/>
                <a:ea typeface="Calibri" pitchFamily="34" charset="-122"/>
                <a:cs typeface="Calibri" pitchFamily="34" charset="-120"/>
              </a:rPr>
              <a:t>Every number in this talk traces back to the raw run records.</a:t>
            </a:r>
            <a:endParaRPr lang="en-US" sz="1200" dirty="0"/>
          </a:p>
        </p:txBody>
      </p:sp>
      <p:pic>
        <p:nvPicPr>
          <p:cNvPr id="14" name="Image 0" descr="/Users/sawaiznaveed/Ilmenau Uni/ResearchProject/docs/figures/shots/results-md.jpg">    </p:cNvPr>
          <p:cNvPicPr>
            <a:picLocks noChangeAspect="1"/>
          </p:cNvPicPr>
          <p:nvPr/>
        </p:nvPicPr>
        <p:blipFill>
          <a:blip r:embed="rId1"/>
          <a:stretch>
            <a:fillRect/>
          </a:stretch>
        </p:blipFill>
        <p:spPr>
          <a:xfrm>
            <a:off x="7772400" y="2103120"/>
            <a:ext cx="3776472" cy="18836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LLM-Driven Verilog Testbench Generation</dc:title>
  <dc:subject>PptxGenJS Presentation</dc:subject>
  <dc:creator>Muhammad Sawaiz Naveed</dc:creator>
  <cp:lastModifiedBy>Muhammad Sawaiz Naveed</cp:lastModifiedBy>
  <cp:revision>1</cp:revision>
  <dcterms:created xsi:type="dcterms:W3CDTF">2026-09-23T23:42:55Z</dcterms:created>
  <dcterms:modified xsi:type="dcterms:W3CDTF">2026-09-23T23:42:55Z</dcterms:modified>
</cp:coreProperties>
</file>