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Good morning. This project is about testing circuits — specifically, getting an AI to write the test programme, and then catching its mistakes before we run anything.
PLAN: I will show you the problem, then walk the pipeline node by node, then the results. About twenty minutes.
TIMING: if you are past 3 minutes when you leave slide 3, speed up the node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Verification is about sixty percent of the effort in chip design. AI can write these test programmes now, but they are often valid code that tests the wrong thing — and the only way to find out is to run a full simulation.
THEN THE BOX, SLOWLY: if a testbench stops checking one of the outputs, running it PASSES. It is not looking any more. So simulation can never find that particular mistake. That is the gap this project goes after.
This one sentence is the reason the whole project exists. Pause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builds directly on a 2024 paper called AutoBench. They built a six-stage AI pipeline that writes testbenches, and it works reasonably well.
Two things they do not do. First, they never actually read the Verilog they produce — their error detection is text search and compiler messages. Second, they have no control group, and I will come back to why that matters.
Those two gaps are exactly what this project adds.
IF ASKED why build on AutoBench: it is the closest prior work on this exact task and it uses the standard benchmark, so our numbers sit on the same ground as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whole thing. On the left is AutoBench's design; on the right is ours. Most of it is theirs and I want to be clear about that — the four highlighted boxes are what we added.
Do not read the boxes out. Point at the four blue ones, then move on. The next thirteen slides cover them one at a time.
TIMING: leave this slide by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step just sorts the circuit into one of two kinds. Does it remember anything, or not? A calculator does not — two plus three is five, always. A counter does — the answer depends on how many times you pressed the button.
This matters because everything downstream changes depending on the answer.
We use the cheap model here — it is a yes-or-no question from a paragraph of English, so paying for the expensive one would be waste.
IF ASKED how AutoBench does it: they get the AI to write a sample of the circuit and then text-search it for a clock. We just ask the model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first thing that is ours — AutoBench never generates the design, only the test.
Why do it? Two reasons. It is the realistic flow. And it keeps marking honest: if the AI could see the correct circuit while writing the test, it could just copy the answers. So the correct circuit stays locked away until the very end.
THE ISSUE, SAY IT HERE: there is a consequence. For most of the pipeline we are working with the AI's own version of the circuit, and only at marking do we swap in the real one. So two versions are in play. We measured how far apart they get — 273 of 280 match exactly. The seven that do not are all one circuit, where the AI added a clock and reset pin that the real design does not have.
IF PUSHED: that comparison is on the pin interface, not on behaviour — we did not run an equivalence check. And the one circuit where it went wrong is the same one that shows up later in the repair story, so it is a single known case, not a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turns the English description into a structured checklist — the pin names, the widths, the timing.
Why bother? Because later steps ask what pins exist dozens of times, and if you re-read English prose every time, the AI can answer slightly differently each time. Pin it down once and everything downstream agrees.
This one is straight out of AutoBench. Keep it quick — nothing interesting happened here and that is worth saying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the AI plans what to test, as a list of named situations. Reset clears the counter. It wraps at the maximum. And so on.
The names matter more than they look. They get printed in the output as PASS or FAIL next to the name, so when a run fails we know which behaviour broke — not just that something did. All our failure analysis depends on that.
We get about eight of these per run. Remember that number — it comes back.
IF ASKED about the eight: on a circuit with ten input bits there are over a thousand input combinations, so eight test cases is a thin sample. That is the honest explanation for why our mutant-detection score drops on the bigger benchmark circuits. It is in the report as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main event — the actual test programme, in Verilog. It feeds inputs in, watches what comes out, and prints PASS or FAIL for each of the scenarios from the previous step.
Nearly everything it writes compiles — 92.5%. But compiling is the easy part. Only about a third of them actually pass against the real circuit, and that gap is where the interesting part of this project lives.
We use the strong model here. Writing correct hardware code is genuinely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Alongside the testbench we also generate a small Python checker. These two run at the same time, in parallel, because neither needs the other's output — it saves wall-clock time.
IF ASKED how this differs from AutoBench: theirs is a bigger split. Their Verilog only drives the circuit and dumps everything into a text file, and their Python does all the judging. Ours is a self-checking testbench — the Verilog decides PASS or FAIL itself. Ours is simpler and closer to what engineers actually write. Theirs separates the stimulus from the checking, which in principle lets the checking be more thorough. We did not test which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does nothing — it is a waiting point. The two previous steps run in parallel, so something has to wait for both before we continue.
Move fast here. Fifteen seconds. It is on its own slide for completeness, not because it is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step is plain Python, no AI at all. It inserts a missing print statement, or starts a clock that was declared but never ticks. There is one correct answer to both, so a script beats a model — it is faster, free, and predictable.
THE INTERESTING BIT: AutoBench has the same idea, and for them it was the single biggest improvement in the whole paper — it took their sequential compile rate from 55 percent to 97. Forty-two points.
Ours fired six times in a hundred and eighty-eight runs. Almost nothing.
That is not because our version is worse. It is because the mistake it fixes has stopped happening — current models do not forget to print their outputs any more. I will show you the number that proves that later.
IF ASKED for the proof now: the 182 runs where our script never fired at all still compile at 90.7 percent, against AutoBench's 55.5 without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heart of the project. It reads the testbench and the circuit as structure rather than as text, and runs six checks — without running anything.
The six are things like: is a pin wired to the wrong name, does a signal width match the pin, is an input never given a value. Two of them are the important ones: is there an output nobody ever checks, and for clocked circuits, is there an output that is never printed.
Those two are the argument for the whole project, because nothing else can catch them. If the testbench stops checking an output, running it passes.
The next slide shows how well it works. Do not give the number here — save it.
IF ASKED about coverage: the parser could only read about 60 percent of the files. The rest use newer SystemVerilog syntax it does not support, and fall back to a second parser that only checks whether the file is valid. That is a real limitation and it is in the report.
IF ASKED whether we tuned the checks: we built seven and deleted one. It caught none of the faults it was built for and raised a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checker produces a machine report. This step turns it into an instruction the AI can actually act on — which signal, what is wrong, what to do.
One small design point worth mentioning: it skips the AI call entirely when the report is clean. Since our reports were almost always clean, that made the static-analysis-only setting cheaper to run than doing nothing at all.
Quick slide.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something is wrong, this step rewrites the testbench — and it is told what was wrong. Three things can trigger it: our checker, the compiler, or a failed run.
A hundred and two runs tried a repair. Twenty-six of them ended up working. About one in four.
TWO SAFEGUARDS worth naming: if the same error comes back twice we stop, because a fourth identical attempt will not suddenly work. And we keep the best version, not the last one — repair rewrites the whole file, so attempt three can be worse than attempt one. Without that, a setting that repairs more could score worse, which is not something an experiment can allow.
IF ASKED why three quarters fail: two patterns. Some regenerate a testbench that fails the exact same scenarios — the diagnosis was not acted on. Others produce a different error every single time until the budget runs out. Across fourteen multi-attempt runs, no error ever repeated. Prior work does not report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looks strange — it rewrites the testbench and is told nothing at all about what was wrong.
Here is why it exists. Suppose our full version beats the plain one. Two explanations fit equally well: the feedback found the problem, or the AI just got a second roll of the dice. You cannot tell those apart, because the plain version never gets a second try.
So we added one that gets the second try with no information. That isolates the dice roll.
And the result: a blind second attempt is worth nothing at all. Which is useful — it means any real improvement has to be coming from the diagnosis.
AutoBench has nothing like this, so their reported improvements cannot separate those two explanations. This is the clearest methodological thing we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Finally, marking. Three levels. Does it compile — 92.5 percent. Does it pass against the real circuit — 31 percent. And does it catch deliberately broken copies of the circuit — 95 percent.
BE UP FRONT ABOUT THE LAST ONE: that 95 looks great and we report it as a limitation rather than a result. Our own test circuits are small — a one-bit flip-flop has nowhere for a bug to hide, so almost any testbench catches everything. We checked this properly rather than assuming: we regenerated the broken copies with a better model and the score moved one point. We swapped in the bigger benchmark circuits and it moved forty-four. So it is the circuits, not the test.
IF ASKED how 31 percent compares: AutoBench report 37 percent on sequential circuits, and ours are mostly sequential and the hardest quintile of their benchmark. Same range.
IF ASKED whether our 95 beats their 44.8: it does not — they measure something different. Theirs counts a problem as passed only if the testbench agrees with a reference testbench on 80 percent of the broken copies. Under their rule we get 20 percent against their 26 on sequential circuits. No ranking either way at this sample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 test the checker we deliberately broke 215 testbenches in known ways, and scored three things against them: our checker, the compiler, and the simulator.
It caught 100 percent of every kind of fault it was built for, with no false alarms.
POINT AT THE BOXED ROW: this is the one that matters. Nineteen faults where the testbench stops checking an output. Our checker finds all of them. The compiler finds none. The simulator finds none — because the test passes.
The two greyed rows at the bottom are controls — faults we built to be undetectable by structure, like swapping two signals of the same width. Our checker scores zero on them, exactly as predicted. We included them so nobody has to take our word that the fault set was not stacked in our favour.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Across four sweeps we ran 280 of these. Nearly everything compiles — 92 percent. Under a third actually works against the real circuit.
I am not going to dress that number up. These are the hardest fifth of the benchmark and mostly clocked circuits, which are the hard case. The prior work reports 37 percent on clocked circuits, so we are in the same range as them.
IF ASKED about cost: about sixteen dollars and fifty cents in total, across every experiment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ran the same pipeline five different ways. The only thing that changes is when it is allowed to try again.
Our full version gets 18 circuits out of 44. The plain one gets 12. That is six circuits better and it looks like a clear win.
But the fair comparison is against the blind retry, which gets 13 — so five, not six.
AND NOW THE IMPORTANT BIT, POINT AT THE BRACKET: these two arms at the top ran effectively the same logic, because our checker never fired in that setting. They still came out three circuits apart. So three circuits of difference happens by chance alone.
A five-circuit lead against a three-circuit noise floor is not a significant result, and we report it as not significant rather than claiming the win.
Building that control arm is what caught our own overclaim. That is the part I am most confident about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central finding of the project, and I want to state it plainly.
Across 280 runs, our layer triggered exactly one repair. Simulation feedback triggered 79. The compiler triggered 10.
DO NOT APOLOGISE HERE. Deliver it as a discovery:
This is not a broken tool. The previous slide showed it catches 100 percent of what it is built for, with no false alarms. The mistakes it looks for have simply become rare in what current models produce. Almost all the failures we see now are about meaning rather than structure — the wiring is perfect and the expected answer is wrong — and no structural check can catch that.
We could only establish that because we measured the tool separately from the pipeline. Without that, this would just look like something that did not work.
IF ASKED whether our full version's lead proves the checker helps: no, and I would not claim it. That setting is also the only one that gets simulation feedback, which drove almost all the repairs. We cannot separate the two, and that 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So why did the mistakes disappear? Here is the evidence.
AutoBench's cleanup script — the same idea as ours — was their biggest single win. It took their compile rate from 55 percent to 97.
Ours fired six times in 188 runs. And here is the proof that it is the models and not us: the runs where our script never fired at all still compile at 90.7 percent, against their 55.5 without theirs.
So a pipeline whose cleanup step does nothing compiles 35 points better than a 2024 pipeline without one.
THE LINE TO LAND: a fix can stop being valuable because the thing it fixed stopped happening. Techniques in this field have a shelf life and nobody measures it. That is a finding about the field, not just about our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things this project contributes.
A working pipeline, open source, with every AI call recorded. A checker we actually measured rather than asserted. A control group the prior work does not have — which changed our own conclusion. And a finding about the field: the mistake behind prior work's biggest win has largely stopped happening.
READ THE BOTTOM LINE OUT: we built the tool, showed that it works, and showed that it is not needed much any more. Only the second half of that was a surprise.
IF ASKED whether the project succeeded: yes, and I would put it precisely. We set out to find whether you can localise testbench errors before simulation. You can — completely, for the faults it targets, including ones nothing else sees. But against current models there is not much left to find. We can say that with confidence rather than as a guess, because we validated the tool separately and ran a control group. A measured negative is worth more than an unmeasured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86868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86868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86868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classify</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188 / 92</a:t>
            </a:r>
            <a:endParaRPr lang="en-US" sz="3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sequential vs combinational,</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across 280 runs</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gen_dut</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273 / 280</a:t>
            </a:r>
            <a:endParaRPr lang="en-US" sz="3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of the circuits it wrote match</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the reference exactly</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extract_spec</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same as theirs</a:t>
            </a:r>
            <a:endParaRPr lang="en-US" sz="2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we copied this step from</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AutoBench directly</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gen_scenarios</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~8</a:t>
            </a:r>
            <a:endParaRPr lang="en-US" sz="3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test cases generated per run</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gen_driver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92.5%</a:t>
            </a:r>
            <a:endParaRPr lang="en-US" sz="3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of the testbenches it wrote</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compiled successfully</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gen_checker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second opinion, in Python</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Writes a small Python programme that can read the testbench's output and decide pass or fail independently.</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It separates deciding the verdict from producing the output — a second, independent way to judge the same run.</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runs in parallel</a:t>
            </a:r>
            <a:endParaRPr lang="en-US" sz="2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alongside the testbench —</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neither waits for the other</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Ours does less work than AutoBench's, because our testbench already judges itself.</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merge_generation</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Nothing at all. It is a waiting point.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0</a:t>
            </a:r>
            <a:endParaRPr lang="en-US" sz="3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AI calls — it is pure</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control flow</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standardise</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6 / 188</a:t>
            </a:r>
            <a:endParaRPr lang="en-US" sz="3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sequential runs where it had</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anything to fix</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AutoBench's version of this step was their single biggest win — worth 42 points. Ours does almost nothing.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pyverilog_analysis</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 simulation.</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Two of the six catch faults that nothing else can see: an output nobody checks, and a sequential output that is never printed. If the testbench stops looking, running it passes.</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100%</a:t>
            </a:r>
            <a:endParaRPr lang="en-US" sz="3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detection on every fault class</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it was built for</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Zero false alarms on clean testbenches. This is the core contribution.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error_reasoner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skipped when clean</a:t>
            </a:r>
            <a:endParaRPr lang="en-US" sz="2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no AI call is made if the</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report found nothing</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repair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A diagnosis is only worth having if something acts on it.</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26 / 102</a:t>
            </a:r>
            <a:endParaRPr lang="en-US" sz="3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repair attempts that ended</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in a working testbench</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regenerate</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worth nothing</a:t>
            </a:r>
            <a:endParaRPr lang="en-US" sz="2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 blind second attempt did not</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beat doing nothing at all</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evaluate</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57400"/>
            <a:ext cx="6382512" cy="109728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69080"/>
            <a:ext cx="6382512" cy="1828800"/>
          </a:xfrm>
          <a:prstGeom prst="rect">
            <a:avLst/>
          </a:prstGeom>
          <a:noFill/>
          <a:ln/>
        </p:spPr>
        <p:txBody>
          <a:bodyPr wrap="square" lIns="0" tIns="0" rIns="0" bIns="0" rtlCol="0" anchor="ctr"/>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92.5 / 31.4 / 95</a:t>
            </a:r>
            <a:endParaRPr lang="en-US" sz="2400" dirty="0"/>
          </a:p>
        </p:txBody>
      </p:sp>
      <p:sp>
        <p:nvSpPr>
          <p:cNvPr id="27" name="Text 25"/>
          <p:cNvSpPr txBox="1"/>
          <p:nvPr/>
        </p:nvSpPr>
        <p:spPr>
          <a:xfrm>
            <a:off x="8101584" y="2898648"/>
            <a:ext cx="3227832" cy="685800"/>
          </a:xfrm>
          <a:prstGeom prst="rect">
            <a:avLst/>
          </a:prstGeom>
          <a:noFill/>
          <a:ln/>
        </p:spPr>
        <p:txBody>
          <a:bodyPr wrap="square" lIns="0" tIns="0" rIns="0" bIns="0" rtlCol="0" anchor="ctr"/>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compiles  ·  works  ·  catches</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broken copies   (%)</a:t>
            </a:r>
            <a:endParaRPr lang="en-US" sz="1300" dirty="0"/>
          </a:p>
        </p:txBody>
      </p:sp>
      <p:sp>
        <p:nvSpPr>
          <p:cNvPr id="28" name="Text 26"/>
          <p:cNvSpPr txBox="1"/>
          <p:nvPr/>
        </p:nvSpPr>
        <p:spPr>
          <a:xfrm>
            <a:off x="8101584" y="3840480"/>
            <a:ext cx="3209544" cy="2103120"/>
          </a:xfrm>
          <a:prstGeom prst="rect">
            <a:avLst/>
          </a:prstGeom>
          <a:noFill/>
          <a:ln/>
        </p:spPr>
        <p:txBody>
          <a:bodyPr wrap="square" lIns="0" tIns="0" rIns="0" bIns="0" rtlCol="0" anchor="ctr"/>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pic>
        <p:nvPicPr>
          <p:cNvPr id="4" name="Image 0" descr="/Users/sawaiznaveed/Ilmenau Uni/ResearchProject/docs/figures/fig3-injection.png">    </p:cNvPr>
          <p:cNvPicPr>
            <a:picLocks noChangeAspect="1"/>
          </p:cNvPicPr>
          <p:nvPr/>
        </p:nvPicPr>
        <p:blipFill>
          <a:blip r:embed="rId1"/>
          <a:stretch>
            <a:fillRect/>
          </a:stretch>
        </p:blipFill>
        <p:spPr>
          <a:xfrm>
            <a:off x="429260" y="1188720"/>
            <a:ext cx="7828280" cy="5257800"/>
          </a:xfrm>
          <a:prstGeom prst="rect">
            <a:avLst/>
          </a:prstGeom>
        </p:spPr>
      </p:pic>
      <p:sp>
        <p:nvSpPr>
          <p:cNvPr id="5" name="Text 2"/>
          <p:cNvSpPr txBox="1"/>
          <p:nvPr/>
        </p:nvSpPr>
        <p:spPr>
          <a:xfrm>
            <a:off x="8595360" y="1371600"/>
            <a:ext cx="2953512" cy="841248"/>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100%</a:t>
            </a:r>
            <a:endParaRPr lang="en-US" sz="4000" dirty="0"/>
          </a:p>
        </p:txBody>
      </p:sp>
      <p:sp>
        <p:nvSpPr>
          <p:cNvPr id="6" name="Text 3"/>
          <p:cNvSpPr txBox="1"/>
          <p:nvPr/>
        </p:nvSpPr>
        <p:spPr>
          <a:xfrm>
            <a:off x="8595360" y="2176272"/>
            <a:ext cx="2953512"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of every fault class it</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was built for</a:t>
            </a:r>
            <a:endParaRPr lang="en-US" sz="1300" dirty="0"/>
          </a:p>
        </p:txBody>
      </p:sp>
      <p:sp>
        <p:nvSpPr>
          <p:cNvPr id="7" name="Text 4"/>
          <p:cNvSpPr txBox="1"/>
          <p:nvPr/>
        </p:nvSpPr>
        <p:spPr>
          <a:xfrm>
            <a:off x="8595360" y="2852928"/>
            <a:ext cx="2953512" cy="841248"/>
          </a:xfrm>
          <a:prstGeom prst="rect">
            <a:avLst/>
          </a:prstGeom>
          <a:noFill/>
          <a:ln/>
        </p:spPr>
        <p:txBody>
          <a:bodyPr wrap="square" lIns="0" tIns="0" rIns="0" bIns="0" rtlCol="0" anchor="ctr"/>
          <a:lstStyle/>
          <a:p>
            <a:pPr indent="0" marL="0">
              <a:buNone/>
            </a:pPr>
            <a:r>
              <a:rPr lang="en-US" sz="4000" b="1" dirty="0">
                <a:solidFill>
                  <a:srgbClr val="0B0B0B"/>
                </a:solidFill>
                <a:latin typeface="Cambria" pitchFamily="34" charset="0"/>
                <a:ea typeface="Cambria" pitchFamily="34" charset="-122"/>
                <a:cs typeface="Cambria" pitchFamily="34" charset="-120"/>
              </a:rPr>
              <a:t>0</a:t>
            </a:r>
            <a:endParaRPr lang="en-US" sz="4000" dirty="0"/>
          </a:p>
        </p:txBody>
      </p:sp>
      <p:sp>
        <p:nvSpPr>
          <p:cNvPr id="8" name="Text 5"/>
          <p:cNvSpPr txBox="1"/>
          <p:nvPr/>
        </p:nvSpPr>
        <p:spPr>
          <a:xfrm>
            <a:off x="8595360" y="3657600"/>
            <a:ext cx="2953512"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false alarms on</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clean testbenches</a:t>
            </a:r>
            <a:endParaRPr lang="en-US" sz="1300" dirty="0"/>
          </a:p>
        </p:txBody>
      </p:sp>
      <p:sp>
        <p:nvSpPr>
          <p:cNvPr id="9" name="Text 6"/>
          <p:cNvSpPr txBox="1"/>
          <p:nvPr/>
        </p:nvSpPr>
        <p:spPr>
          <a:xfrm>
            <a:off x="8595360" y="4334256"/>
            <a:ext cx="2953512" cy="841248"/>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30</a:t>
            </a:r>
            <a:endParaRPr lang="en-US" sz="4000" dirty="0"/>
          </a:p>
        </p:txBody>
      </p:sp>
      <p:sp>
        <p:nvSpPr>
          <p:cNvPr id="10" name="Text 7"/>
          <p:cNvSpPr txBox="1"/>
          <p:nvPr/>
        </p:nvSpPr>
        <p:spPr>
          <a:xfrm>
            <a:off x="8595360" y="5138928"/>
            <a:ext cx="2953512"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of the 33 faults nothing</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else could see</a:t>
            </a:r>
            <a:endParaRPr lang="en-US" sz="1300" dirty="0"/>
          </a:p>
        </p:txBody>
      </p:sp>
      <p:sp>
        <p:nvSpPr>
          <p:cNvPr id="11" name="Text 8"/>
          <p:cNvSpPr txBox="1"/>
          <p:nvPr/>
        </p:nvSpPr>
        <p:spPr>
          <a:xfrm>
            <a:off x="8595360" y="5760720"/>
            <a:ext cx="2953512" cy="86868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The two greyed rows are deliberately undetectable — we put them in so nobody has to take our word that the fault set was fair.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came out of 280 runs</a:t>
            </a:r>
            <a:endParaRPr lang="en-US" sz="3000" dirty="0"/>
          </a:p>
        </p:txBody>
      </p:sp>
      <p:pic>
        <p:nvPicPr>
          <p:cNvPr id="4" name="Image 0" descr="/Users/sawaiznaveed/Ilmenau Uni/ResearchProject/docs/figures/fig2-funnel.png">    </p:cNvPr>
          <p:cNvPicPr>
            <a:picLocks noChangeAspect="1"/>
          </p:cNvPicPr>
          <p:nvPr/>
        </p:nvPicPr>
        <p:blipFill>
          <a:blip r:embed="rId1"/>
          <a:stretch>
            <a:fillRect/>
          </a:stretch>
        </p:blipFill>
        <p:spPr>
          <a:xfrm>
            <a:off x="457200" y="1517904"/>
            <a:ext cx="7132320" cy="3090672"/>
          </a:xfrm>
          <a:prstGeom prst="rect">
            <a:avLst/>
          </a:prstGeom>
        </p:spPr>
      </p:pic>
      <p:sp>
        <p:nvSpPr>
          <p:cNvPr id="5" name="Text 2"/>
          <p:cNvSpPr txBox="1"/>
          <p:nvPr/>
        </p:nvSpPr>
        <p:spPr>
          <a:xfrm>
            <a:off x="7955280" y="1554480"/>
            <a:ext cx="3593592" cy="365760"/>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Read it honestly</a:t>
            </a:r>
            <a:endParaRPr lang="en-US" sz="1800" dirty="0"/>
          </a:p>
        </p:txBody>
      </p:sp>
      <p:sp>
        <p:nvSpPr>
          <p:cNvPr id="6" name="Text 3"/>
          <p:cNvSpPr txBox="1"/>
          <p:nvPr/>
        </p:nvSpPr>
        <p:spPr>
          <a:xfrm>
            <a:off x="7955280" y="2011680"/>
            <a:ext cx="3593592" cy="73060560"/>
          </a:xfrm>
          <a:prstGeom prst="rect">
            <a:avLst/>
          </a:prstGeom>
          <a:noFill/>
          <a:ln/>
        </p:spPr>
        <p:txBody>
          <a:bodyPr wrap="square" lIns="0" tIns="0" rIns="0" bIns="0" rtlCol="0" anchor="ctr"/>
          <a:lstStyle/>
          <a:p>
            <a:pPr indent="0" marL="0">
              <a:lnSpc>
                <a:spcPct val="122000"/>
              </a:lnSpc>
              <a:buNone/>
            </a:pPr>
            <a:r>
              <a:rPr lang="en-US" sz="1400" dirty="0">
                <a:solidFill>
                  <a:srgbClr val="52514E"/>
                </a:solidFill>
                <a:latin typeface="Calibri" pitchFamily="34" charset="0"/>
                <a:ea typeface="Calibri" pitchFamily="34" charset="-122"/>
                <a:cs typeface="Calibri" pitchFamily="34" charset="-120"/>
              </a:rPr>
              <a:t>Nearly everything compiles. Under a third actually works.</a:t>
            </a:r>
            <a:endParaRPr lang="en-US" sz="1400" dirty="0"/>
          </a:p>
          <a:p>
            <a:pPr indent="0" marL="0">
              <a:lnSpc>
                <a:spcPct val="122000"/>
              </a:lnSpc>
              <a:buNone/>
            </a:pPr>
            <a:endParaRPr lang="en-US" sz="1400" dirty="0"/>
          </a:p>
          <a:p>
            <a:pPr indent="0" marL="0">
              <a:lnSpc>
                <a:spcPct val="122000"/>
              </a:lnSpc>
              <a:buNone/>
            </a:pPr>
            <a:r>
              <a:rPr lang="en-US" sz="1400" dirty="0">
                <a:solidFill>
                  <a:srgbClr val="52514E"/>
                </a:solidFill>
                <a:latin typeface="Calibri" pitchFamily="34" charset="0"/>
                <a:ea typeface="Calibri" pitchFamily="34" charset="-122"/>
                <a:cs typeface="Calibri" pitchFamily="34" charset="-120"/>
              </a:rPr>
              <a:t>These are the hardest fifth of the benchmark and mostly clocked circuits — the prior work reports 37% on those, so we are in the same range.</a:t>
            </a:r>
            <a:endParaRPr lang="en-US" sz="1400" dirty="0"/>
          </a:p>
        </p:txBody>
      </p:sp>
      <p:sp>
        <p:nvSpPr>
          <p:cNvPr id="7" name="Shape 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Four sweeps, two different AI models, 32 circuits, about sixteen dollars of compute. Every number in this talk comes out of these runs.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pic>
        <p:nvPicPr>
          <p:cNvPr id="4" name="Image 0" descr="/Users/sawaiznaveed/Ilmenau Uni/ResearchProject/docs/figures/fig4-ablation.png">    </p:cNvPr>
          <p:cNvPicPr>
            <a:picLocks noChangeAspect="1"/>
          </p:cNvPicPr>
          <p:nvPr/>
        </p:nvPicPr>
        <p:blipFill>
          <a:blip r:embed="rId1"/>
          <a:stretch>
            <a:fillRect/>
          </a:stretch>
        </p:blipFill>
        <p:spPr>
          <a:xfrm>
            <a:off x="365760" y="1471168"/>
            <a:ext cx="7772400" cy="431800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What each one is</a:t>
            </a:r>
            <a:endParaRPr lang="en-US" sz="1800" dirty="0"/>
          </a:p>
        </p:txBody>
      </p:sp>
      <p:sp>
        <p:nvSpPr>
          <p:cNvPr id="6" name="Text 3"/>
          <p:cNvSpPr txBox="1"/>
          <p:nvPr/>
        </p:nvSpPr>
        <p:spPr>
          <a:xfrm>
            <a:off x="8412480" y="1828800"/>
            <a:ext cx="3136392" cy="224028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baseline — one attempt, no repair</a:t>
            </a:r>
            <a:endParaRPr lang="en-US" sz="1300" dirty="0"/>
          </a:p>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retry_only — a second attempt, told nothing</a:t>
            </a:r>
            <a:endParaRPr lang="en-US" sz="1300" dirty="0"/>
          </a:p>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compiler_only — repairs compile errors</a:t>
            </a:r>
            <a:endParaRPr lang="en-US" sz="1300" dirty="0"/>
          </a:p>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pyverilog_only — repairs what our checker finds</a:t>
            </a:r>
            <a:endParaRPr lang="en-US" sz="1300" dirty="0"/>
          </a:p>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hybrid — all of the above</a:t>
            </a:r>
            <a:endParaRPr lang="en-US" sz="1300" dirty="0"/>
          </a:p>
        </p:txBody>
      </p:sp>
      <p:sp>
        <p:nvSpPr>
          <p:cNvPr id="7" name="Shape 4"/>
          <p:cNvSpPr/>
          <p:nvPr/>
        </p:nvSpPr>
        <p:spPr>
          <a:xfrm>
            <a:off x="8412480" y="4389120"/>
            <a:ext cx="3136392" cy="1463040"/>
          </a:xfrm>
          <a:prstGeom prst="roundRect">
            <a:avLst>
              <a:gd name="adj" fmla="val 500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5"/>
          <p:cNvSpPr txBox="1"/>
          <p:nvPr/>
        </p:nvSpPr>
        <p:spPr>
          <a:xfrm>
            <a:off x="8631936" y="4553712"/>
            <a:ext cx="2697480" cy="1188720"/>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Our version leads — but the honest comparison is against the blind retry, not against doing nothing.</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pic>
        <p:nvPicPr>
          <p:cNvPr id="4" name="Image 0" descr="/Users/sawaiznaveed/Ilmenau Uni/ResearchProject/docs/figures/fig5-triggers.png">    </p:cNvPr>
          <p:cNvPicPr>
            <a:picLocks noChangeAspect="1"/>
          </p:cNvPicPr>
          <p:nvPr/>
        </p:nvPicPr>
        <p:blipFill>
          <a:blip r:embed="rId1"/>
          <a:stretch>
            <a:fillRect/>
          </a:stretch>
        </p:blipFill>
        <p:spPr>
          <a:xfrm>
            <a:off x="365760" y="1417672"/>
            <a:ext cx="7955280" cy="3794057"/>
          </a:xfrm>
          <a:prstGeom prst="rect">
            <a:avLst/>
          </a:prstGeom>
        </p:spPr>
      </p:pic>
      <p:sp>
        <p:nvSpPr>
          <p:cNvPr id="5" name="Shape 2"/>
          <p:cNvSpPr/>
          <p:nvPr/>
        </p:nvSpPr>
        <p:spPr>
          <a:xfrm>
            <a:off x="8595360" y="1325880"/>
            <a:ext cx="2953512" cy="4114800"/>
          </a:xfrm>
          <a:prstGeom prst="roundRect">
            <a:avLst>
              <a:gd name="adj" fmla="val 247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3"/>
          <p:cNvSpPr txBox="1"/>
          <p:nvPr/>
        </p:nvSpPr>
        <p:spPr>
          <a:xfrm>
            <a:off x="8833104" y="1517904"/>
            <a:ext cx="2496312" cy="402336"/>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7" name="Text 4"/>
          <p:cNvSpPr txBox="1"/>
          <p:nvPr/>
        </p:nvSpPr>
        <p:spPr>
          <a:xfrm>
            <a:off x="8869680" y="2011680"/>
            <a:ext cx="2404872" cy="3108960"/>
          </a:xfrm>
          <a:prstGeom prst="rect">
            <a:avLst/>
          </a:prstGeom>
          <a:noFill/>
          <a:ln/>
        </p:spPr>
        <p:txBody>
          <a:bodyPr wrap="square" lIns="0" tIns="0" rIns="0" bIns="0" rtlCol="0" anchor="ctr"/>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The previous slides showed it catches everything it was built for.
</a:t>
            </a:r>
            <a:pPr indent="0" marL="0">
              <a:lnSpc>
                <a:spcPct val="118000"/>
              </a:lnSpc>
              <a:buNone/>
            </a:pPr>
            <a:r>
              <a:rPr lang="en-US" sz="1400" b="1" dirty="0">
                <a:solidFill>
                  <a:srgbClr val="0B0B0B"/>
                </a:solidFill>
                <a:latin typeface="Calibri" pitchFamily="34" charset="0"/>
                <a:ea typeface="Calibri" pitchFamily="34" charset="-122"/>
                <a:cs typeface="Calibri" pitchFamily="34" charset="-120"/>
              </a:rPr>
              <a:t>The mistakes it looks for have become rare.
</a:t>
            </a:r>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 No structural check can catch that.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disappeared</a:t>
            </a:r>
            <a:endParaRPr lang="en-US" sz="3000" dirty="0"/>
          </a:p>
        </p:txBody>
      </p:sp>
      <p:pic>
        <p:nvPicPr>
          <p:cNvPr id="4" name="Image 0" descr="/Users/sawaiznaveed/Ilmenau Uni/ResearchProject/docs/figures/fig6-compile.png">    </p:cNvPr>
          <p:cNvPicPr>
            <a:picLocks noChangeAspect="1"/>
          </p:cNvPicPr>
          <p:nvPr/>
        </p:nvPicPr>
        <p:blipFill>
          <a:blip r:embed="rId1"/>
          <a:stretch>
            <a:fillRect/>
          </a:stretch>
        </p:blipFill>
        <p:spPr>
          <a:xfrm>
            <a:off x="365760" y="1264444"/>
            <a:ext cx="7863840" cy="4054792"/>
          </a:xfrm>
          <a:prstGeom prst="rect">
            <a:avLst/>
          </a:prstGeom>
        </p:spPr>
      </p:pic>
      <p:sp>
        <p:nvSpPr>
          <p:cNvPr id="5" name="Text 2"/>
          <p:cNvSpPr txBox="1"/>
          <p:nvPr/>
        </p:nvSpPr>
        <p:spPr>
          <a:xfrm>
            <a:off x="8503920" y="1463040"/>
            <a:ext cx="3044952" cy="365760"/>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The proof</a:t>
            </a:r>
            <a:endParaRPr lang="en-US" sz="1800" dirty="0"/>
          </a:p>
        </p:txBody>
      </p:sp>
      <p:sp>
        <p:nvSpPr>
          <p:cNvPr id="6" name="Text 3"/>
          <p:cNvSpPr txBox="1"/>
          <p:nvPr/>
        </p:nvSpPr>
        <p:spPr>
          <a:xfrm>
            <a:off x="8503920" y="1920240"/>
            <a:ext cx="3044952" cy="66842640"/>
          </a:xfrm>
          <a:prstGeom prst="rect">
            <a:avLst/>
          </a:prstGeom>
          <a:noFill/>
          <a:ln/>
        </p:spPr>
        <p:txBody>
          <a:bodyPr wrap="square" lIns="0" tIns="0" rIns="0" bIns="0" rtlCol="0" anchor="ctr"/>
          <a:lstStyle/>
          <a:p>
            <a:pPr indent="0" marL="0">
              <a:lnSpc>
                <a:spcPct val="122000"/>
              </a:lnSpc>
              <a:buNone/>
            </a:pPr>
            <a:r>
              <a:rPr lang="en-US" sz="1400" dirty="0">
                <a:solidFill>
                  <a:srgbClr val="52514E"/>
                </a:solidFill>
                <a:latin typeface="Calibri" pitchFamily="34" charset="0"/>
                <a:ea typeface="Calibri" pitchFamily="34" charset="-122"/>
                <a:cs typeface="Calibri" pitchFamily="34" charset="-120"/>
              </a:rPr>
              <a:t>AutoBench's cleanup script was worth 42 points to them in 2024.</a:t>
            </a:r>
            <a:endParaRPr lang="en-US" sz="1400" dirty="0"/>
          </a:p>
          <a:p>
            <a:pPr indent="0" marL="0">
              <a:lnSpc>
                <a:spcPct val="122000"/>
              </a:lnSpc>
              <a:buNone/>
            </a:pPr>
            <a:endParaRPr lang="en-US" sz="1400" dirty="0"/>
          </a:p>
          <a:p>
            <a:pPr indent="0" marL="0">
              <a:lnSpc>
                <a:spcPct val="122000"/>
              </a:lnSpc>
              <a:buNone/>
            </a:pPr>
            <a:r>
              <a:rPr lang="en-US" sz="1400" dirty="0">
                <a:solidFill>
                  <a:srgbClr val="52514E"/>
                </a:solidFill>
                <a:latin typeface="Calibri" pitchFamily="34" charset="0"/>
                <a:ea typeface="Calibri" pitchFamily="34" charset="-122"/>
                <a:cs typeface="Calibri" pitchFamily="34" charset="-120"/>
              </a:rPr>
              <a:t>Ours fired six times in 188 runs — and the runs it never touched still compile far better than theirs did without it.</a:t>
            </a:r>
            <a:endParaRPr lang="en-US" sz="1400" dirty="0"/>
          </a:p>
        </p:txBody>
      </p:sp>
      <p:sp>
        <p:nvSpPr>
          <p:cNvPr id="7" name="Shape 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fix can stop being valuable because the thing it fixed stopped happening. Techniques here have a shelf life, and nobody measures it.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2026-09-23T23:03:28Z</dcterms:created>
  <dcterms:modified xsi:type="dcterms:W3CDTF">2026-09-23T23:03:28Z</dcterms:modified>
</cp:coreProperties>
</file>